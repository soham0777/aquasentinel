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3" r:id="rId2"/>
  </p:sldMasterIdLst>
  <p:notesMasterIdLst>
    <p:notesMasterId r:id="rId24"/>
  </p:notesMasterIdLst>
  <p:sldIdLst>
    <p:sldId id="256"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embeddedFontLst>
    <p:embeddedFont>
      <p:font typeface="Quattrocento Sans" panose="020B0502050000020003"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j24r+YOePHDWe40I3q8M2sl/ZW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42D2ACD-31DC-41B1-94D3-554865B21F35}">
  <a:tblStyle styleId="{A42D2ACD-31DC-41B1-94D3-554865B21F3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2" autoAdjust="0"/>
    <p:restoredTop sz="94660"/>
  </p:normalViewPr>
  <p:slideViewPr>
    <p:cSldViewPr snapToGrid="0">
      <p:cViewPr varScale="1">
        <p:scale>
          <a:sx n="83" d="100"/>
          <a:sy n="83" d="100"/>
        </p:scale>
        <p:origin x="68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4.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5"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Share</c:v>
                </c:pt>
              </c:strCache>
            </c:strRef>
          </c:tx>
          <c:dPt>
            <c:idx val="0"/>
            <c:bubble3D val="0"/>
            <c:spPr>
              <a:solidFill>
                <a:srgbClr val="005686"/>
              </a:solidFill>
              <a:ln>
                <a:solidFill>
                  <a:srgbClr val="EAF3F8"/>
                </a:solidFill>
              </a:ln>
            </c:spPr>
            <c:extLst>
              <c:ext xmlns:c16="http://schemas.microsoft.com/office/drawing/2014/chart" uri="{C3380CC4-5D6E-409C-BE32-E72D297353CC}">
                <c16:uniqueId val="{00000001-B78C-430D-9108-FC0E730D9577}"/>
              </c:ext>
            </c:extLst>
          </c:dPt>
          <c:dPt>
            <c:idx val="1"/>
            <c:bubble3D val="0"/>
            <c:spPr>
              <a:solidFill>
                <a:srgbClr val="C9DBE7"/>
              </a:solidFill>
              <a:ln>
                <a:solidFill>
                  <a:srgbClr val="EAF3F8"/>
                </a:solidFill>
              </a:ln>
            </c:spPr>
            <c:extLst>
              <c:ext xmlns:c16="http://schemas.microsoft.com/office/drawing/2014/chart" uri="{C3380CC4-5D6E-409C-BE32-E72D297353CC}">
                <c16:uniqueId val="{00000003-B78C-430D-9108-FC0E730D9577}"/>
              </c:ext>
            </c:extLst>
          </c:dPt>
          <c:cat>
            <c:strRef>
              <c:f>Sheet1!$A$2:$A$3</c:f>
              <c:strCache>
                <c:ptCount val="2"/>
                <c:pt idx="0">
                  <c:v>Four probes</c:v>
                </c:pt>
                <c:pt idx="1">
                  <c:v>Everything else</c:v>
                </c:pt>
              </c:strCache>
            </c:strRef>
          </c:cat>
          <c:val>
            <c:numRef>
              <c:f>Sheet1!$B$2:$B$3</c:f>
              <c:numCache>
                <c:formatCode>General</c:formatCode>
                <c:ptCount val="2"/>
                <c:pt idx="0">
                  <c:v>68736</c:v>
                </c:pt>
                <c:pt idx="1">
                  <c:v>88756</c:v>
                </c:pt>
              </c:numCache>
            </c:numRef>
          </c:val>
          <c:extLst>
            <c:ext xmlns:c16="http://schemas.microsoft.com/office/drawing/2014/chart" uri="{C3380CC4-5D6E-409C-BE32-E72D297353CC}">
              <c16:uniqueId val="{00000004-B78C-430D-9108-FC0E730D9577}"/>
            </c:ext>
          </c:extLst>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Value</c:v>
                </c:pt>
              </c:strCache>
            </c:strRef>
          </c:tx>
          <c:spPr>
            <a:solidFill>
              <a:srgbClr val="005686"/>
            </a:solidFill>
          </c:spPr>
          <c:invertIfNegative val="1"/>
          <c:dPt>
            <c:idx val="0"/>
            <c:invertIfNegative val="1"/>
            <c:bubble3D val="0"/>
            <c:spPr>
              <a:solidFill>
                <a:srgbClr val="C9DBE7"/>
              </a:solidFill>
            </c:spPr>
            <c:extLst>
              <c:ext xmlns:c16="http://schemas.microsoft.com/office/drawing/2014/chart" uri="{C3380CC4-5D6E-409C-BE32-E72D297353CC}">
                <c16:uniqueId val="{00000001-DC66-43F6-B466-EA656804BC22}"/>
              </c:ext>
            </c:extLst>
          </c:dPt>
          <c:dPt>
            <c:idx val="1"/>
            <c:invertIfNegative val="1"/>
            <c:bubble3D val="0"/>
            <c:spPr>
              <a:solidFill>
                <a:srgbClr val="C9DBE7"/>
              </a:solidFill>
            </c:spPr>
            <c:extLst>
              <c:ext xmlns:c16="http://schemas.microsoft.com/office/drawing/2014/chart" uri="{C3380CC4-5D6E-409C-BE32-E72D297353CC}">
                <c16:uniqueId val="{00000003-DC66-43F6-B466-EA656804BC22}"/>
              </c:ext>
            </c:extLst>
          </c:dPt>
          <c:dPt>
            <c:idx val="2"/>
            <c:invertIfNegative val="1"/>
            <c:bubble3D val="0"/>
            <c:extLst>
              <c:ext xmlns:c16="http://schemas.microsoft.com/office/drawing/2014/chart" uri="{C3380CC4-5D6E-409C-BE32-E72D297353CC}">
                <c16:uniqueId val="{00000005-DC66-43F6-B466-EA656804BC22}"/>
              </c:ext>
            </c:extLst>
          </c:dPt>
          <c:dLbls>
            <c:numFmt formatCode="0.0#" sourceLinked="0"/>
            <c:spPr>
              <a:noFill/>
              <a:ln>
                <a:noFill/>
              </a:ln>
              <a:effectLst/>
            </c:spPr>
            <c:txPr>
              <a:bodyPr/>
              <a:lstStyle/>
              <a:p>
                <a:pPr>
                  <a:defRPr sz="1400" b="1">
                    <a:solidFill>
                      <a:srgbClr val="1E2B3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FEA, both ends fixed</c:v>
                </c:pt>
                <c:pt idx="1">
                  <c:v>Hand calc, ends pinned</c:v>
                </c:pt>
                <c:pt idx="2">
                  <c:v>Pinned + carriage moment</c:v>
                </c:pt>
              </c:strCache>
            </c:strRef>
          </c:cat>
          <c:val>
            <c:numRef>
              <c:f>Sheet1!$B$2:$B$4</c:f>
              <c:numCache>
                <c:formatCode>General</c:formatCode>
                <c:ptCount val="3"/>
                <c:pt idx="0">
                  <c:v>4.4000000000000004</c:v>
                </c:pt>
                <c:pt idx="1">
                  <c:v>3.1</c:v>
                </c:pt>
                <c:pt idx="2">
                  <c:v>2.66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C66-43F6-B466-EA656804BC22}"/>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9DBE7"/>
            </a:solidFill>
          </a:ln>
        </c:spPr>
        <c:txPr>
          <a:bodyPr/>
          <a:lstStyle/>
          <a:p>
            <a:pPr>
              <a:defRPr sz="1400">
                <a:solidFill>
                  <a:srgbClr val="1E2B36"/>
                </a:solidFill>
              </a:defRPr>
            </a:pPr>
            <a:endParaRPr lang="en-US"/>
          </a:p>
        </c:txPr>
        <c:crossAx val="-2113994440"/>
        <c:crosses val="autoZero"/>
        <c:auto val="1"/>
        <c:lblAlgn val="ctr"/>
        <c:lblOffset val="100"/>
        <c:noMultiLvlLbl val="0"/>
      </c:catAx>
      <c:valAx>
        <c:axId val="-2113994440"/>
        <c:scaling>
          <c:orientation val="minMax"/>
          <c:max val="5.5"/>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solidFill>
            <a:srgbClr val="1E2B3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Value</c:v>
                </c:pt>
              </c:strCache>
            </c:strRef>
          </c:tx>
          <c:spPr>
            <a:solidFill>
              <a:srgbClr val="005686"/>
            </a:solidFill>
          </c:spPr>
          <c:invertIfNegative val="1"/>
          <c:dLbls>
            <c:numFmt formatCode="0.00#" sourceLinked="0"/>
            <c:spPr>
              <a:noFill/>
              <a:ln>
                <a:noFill/>
              </a:ln>
              <a:effectLst/>
            </c:spPr>
            <c:txPr>
              <a:bodyPr/>
              <a:lstStyle/>
              <a:p>
                <a:pPr>
                  <a:defRPr sz="1300" b="1">
                    <a:solidFill>
                      <a:srgbClr val="1E2B3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Sensors (warm-up + read)</c:v>
                </c:pt>
                <c:pt idx="1">
                  <c:v>LTE uploads (hourly)</c:v>
                </c:pt>
                <c:pt idx="2">
                  <c:v>ESP32 active</c:v>
                </c:pt>
                <c:pt idx="3">
                  <c:v>Conversion losses</c:v>
                </c:pt>
                <c:pt idx="4">
                  <c:v>Standby floor</c:v>
                </c:pt>
                <c:pt idx="5">
                  <c:v>Wiper (4× a day)</c:v>
                </c:pt>
                <c:pt idx="6">
                  <c:v>Sampler (1 event a week)</c:v>
                </c:pt>
                <c:pt idx="7">
                  <c:v>Deep sleep</c:v>
                </c:pt>
                <c:pt idx="8">
                  <c:v>Beacon (assumed)</c:v>
                </c:pt>
              </c:strCache>
            </c:strRef>
          </c:cat>
          <c:val>
            <c:numRef>
              <c:f>Sheet1!$B$2:$B$10</c:f>
              <c:numCache>
                <c:formatCode>General</c:formatCode>
                <c:ptCount val="9"/>
                <c:pt idx="0">
                  <c:v>1.56</c:v>
                </c:pt>
                <c:pt idx="1">
                  <c:v>0.6</c:v>
                </c:pt>
                <c:pt idx="2">
                  <c:v>0.53300000000000003</c:v>
                </c:pt>
                <c:pt idx="3">
                  <c:v>0.48</c:v>
                </c:pt>
                <c:pt idx="4">
                  <c:v>0.184</c:v>
                </c:pt>
                <c:pt idx="5">
                  <c:v>0.02</c:v>
                </c:pt>
                <c:pt idx="6">
                  <c:v>1.2E-2</c:v>
                </c:pt>
                <c:pt idx="7">
                  <c:v>1E-3</c:v>
                </c:pt>
                <c:pt idx="8">
                  <c:v>0.72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778-42DC-9FD1-BC4B89F2AFD1}"/>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9DBE7"/>
            </a:solidFill>
          </a:ln>
        </c:spPr>
        <c:txPr>
          <a:bodyPr/>
          <a:lstStyle/>
          <a:p>
            <a:pPr>
              <a:defRPr sz="1300">
                <a:solidFill>
                  <a:srgbClr val="1E2B36"/>
                </a:solidFill>
              </a:defRPr>
            </a:pPr>
            <a:endParaRPr lang="en-US"/>
          </a:p>
        </c:txPr>
        <c:crossAx val="-2113994440"/>
        <c:crosses val="autoZero"/>
        <c:auto val="1"/>
        <c:lblAlgn val="ctr"/>
        <c:lblOffset val="100"/>
        <c:noMultiLvlLbl val="0"/>
      </c:catAx>
      <c:valAx>
        <c:axId val="-2113994440"/>
        <c:scaling>
          <c:orientation val="minMax"/>
          <c:max val="1.9500000000000002"/>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1E2B36"/>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Value</c:v>
                </c:pt>
              </c:strCache>
            </c:strRef>
          </c:tx>
          <c:spPr>
            <a:solidFill>
              <a:srgbClr val="005686"/>
            </a:solidFill>
          </c:spPr>
          <c:invertIfNegative val="1"/>
          <c:dPt>
            <c:idx val="0"/>
            <c:invertIfNegative val="1"/>
            <c:bubble3D val="0"/>
            <c:extLst>
              <c:ext xmlns:c16="http://schemas.microsoft.com/office/drawing/2014/chart" uri="{C3380CC4-5D6E-409C-BE32-E72D297353CC}">
                <c16:uniqueId val="{00000001-0150-42A4-BFB3-D8CE72262749}"/>
              </c:ext>
            </c:extLst>
          </c:dPt>
          <c:dPt>
            <c:idx val="1"/>
            <c:invertIfNegative val="1"/>
            <c:bubble3D val="0"/>
            <c:spPr>
              <a:solidFill>
                <a:srgbClr val="C9DBE7"/>
              </a:solidFill>
            </c:spPr>
            <c:extLst>
              <c:ext xmlns:c16="http://schemas.microsoft.com/office/drawing/2014/chart" uri="{C3380CC4-5D6E-409C-BE32-E72D297353CC}">
                <c16:uniqueId val="{00000003-0150-42A4-BFB3-D8CE72262749}"/>
              </c:ext>
            </c:extLst>
          </c:dPt>
          <c:dPt>
            <c:idx val="2"/>
            <c:invertIfNegative val="1"/>
            <c:bubble3D val="0"/>
            <c:spPr>
              <a:solidFill>
                <a:srgbClr val="C9DBE7"/>
              </a:solidFill>
            </c:spPr>
            <c:extLst>
              <c:ext xmlns:c16="http://schemas.microsoft.com/office/drawing/2014/chart" uri="{C3380CC4-5D6E-409C-BE32-E72D297353CC}">
                <c16:uniqueId val="{00000005-0150-42A4-BFB3-D8CE72262749}"/>
              </c:ext>
            </c:extLst>
          </c:dPt>
          <c:dPt>
            <c:idx val="3"/>
            <c:invertIfNegative val="1"/>
            <c:bubble3D val="0"/>
            <c:spPr>
              <a:solidFill>
                <a:srgbClr val="C9DBE7"/>
              </a:solidFill>
            </c:spPr>
            <c:extLst>
              <c:ext xmlns:c16="http://schemas.microsoft.com/office/drawing/2014/chart" uri="{C3380CC4-5D6E-409C-BE32-E72D297353CC}">
                <c16:uniqueId val="{00000007-0150-42A4-BFB3-D8CE72262749}"/>
              </c:ext>
            </c:extLst>
          </c:dPt>
          <c:dPt>
            <c:idx val="4"/>
            <c:invertIfNegative val="1"/>
            <c:bubble3D val="0"/>
            <c:spPr>
              <a:solidFill>
                <a:srgbClr val="C9DBE7"/>
              </a:solidFill>
            </c:spPr>
            <c:extLst>
              <c:ext xmlns:c16="http://schemas.microsoft.com/office/drawing/2014/chart" uri="{C3380CC4-5D6E-409C-BE32-E72D297353CC}">
                <c16:uniqueId val="{00000009-0150-42A4-BFB3-D8CE72262749}"/>
              </c:ext>
            </c:extLst>
          </c:dPt>
          <c:dPt>
            <c:idx val="5"/>
            <c:invertIfNegative val="1"/>
            <c:bubble3D val="0"/>
            <c:spPr>
              <a:solidFill>
                <a:srgbClr val="C9DBE7"/>
              </a:solidFill>
            </c:spPr>
            <c:extLst>
              <c:ext xmlns:c16="http://schemas.microsoft.com/office/drawing/2014/chart" uri="{C3380CC4-5D6E-409C-BE32-E72D297353CC}">
                <c16:uniqueId val="{0000000B-0150-42A4-BFB3-D8CE72262749}"/>
              </c:ext>
            </c:extLst>
          </c:dPt>
          <c:dPt>
            <c:idx val="6"/>
            <c:invertIfNegative val="1"/>
            <c:bubble3D val="0"/>
            <c:spPr>
              <a:solidFill>
                <a:srgbClr val="C9DBE7"/>
              </a:solidFill>
            </c:spPr>
            <c:extLst>
              <c:ext xmlns:c16="http://schemas.microsoft.com/office/drawing/2014/chart" uri="{C3380CC4-5D6E-409C-BE32-E72D297353CC}">
                <c16:uniqueId val="{0000000D-0150-42A4-BFB3-D8CE72262749}"/>
              </c:ext>
            </c:extLst>
          </c:dPt>
          <c:dLbls>
            <c:numFmt formatCode="#,##0" sourceLinked="0"/>
            <c:spPr>
              <a:noFill/>
              <a:ln>
                <a:noFill/>
              </a:ln>
              <a:effectLst/>
            </c:spPr>
            <c:txPr>
              <a:bodyPr/>
              <a:lstStyle/>
              <a:p>
                <a:pPr>
                  <a:defRPr sz="1300" b="1">
                    <a:solidFill>
                      <a:srgbClr val="1E2B3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Four RS485 probes</c:v>
                </c:pt>
                <c:pt idx="1">
                  <c:v>Float structure: hulls, deck, carriage</c:v>
                </c:pt>
                <c:pt idx="2">
                  <c:v>Bridge kit, one per float site (incl. freight)</c:v>
                </c:pt>
                <c:pt idx="3">
                  <c:v>Electronics, LTE, level sensor</c:v>
                </c:pt>
                <c:pt idx="4">
                  <c:v>Assembly, test, float freight</c:v>
                </c:pt>
                <c:pt idx="5">
                  <c:v>Autosampler, wiper, beacon</c:v>
                </c:pt>
                <c:pt idx="6">
                  <c:v>Solar, battery, MPPT</c:v>
                </c:pt>
              </c:strCache>
            </c:strRef>
          </c:cat>
          <c:val>
            <c:numRef>
              <c:f>Sheet1!$B$2:$B$8</c:f>
              <c:numCache>
                <c:formatCode>General</c:formatCode>
                <c:ptCount val="7"/>
                <c:pt idx="0">
                  <c:v>68736</c:v>
                </c:pt>
                <c:pt idx="1">
                  <c:v>55045</c:v>
                </c:pt>
                <c:pt idx="2">
                  <c:v>29218</c:v>
                </c:pt>
                <c:pt idx="3">
                  <c:v>11749</c:v>
                </c:pt>
                <c:pt idx="4">
                  <c:v>11187</c:v>
                </c:pt>
                <c:pt idx="5">
                  <c:v>7453</c:v>
                </c:pt>
                <c:pt idx="6">
                  <c:v>3322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E-0150-42A4-BFB3-D8CE72262749}"/>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9DBE7"/>
            </a:solidFill>
          </a:ln>
        </c:spPr>
        <c:txPr>
          <a:bodyPr/>
          <a:lstStyle/>
          <a:p>
            <a:pPr>
              <a:defRPr sz="1300">
                <a:solidFill>
                  <a:srgbClr val="1E2B36"/>
                </a:solidFill>
              </a:defRPr>
            </a:pPr>
            <a:endParaRPr lang="en-US"/>
          </a:p>
        </c:txPr>
        <c:crossAx val="-2113994440"/>
        <c:crosses val="autoZero"/>
        <c:auto val="1"/>
        <c:lblAlgn val="ctr"/>
        <c:lblOffset val="100"/>
        <c:noMultiLvlLbl val="0"/>
      </c:catAx>
      <c:valAx>
        <c:axId val="-2113994440"/>
        <c:scaling>
          <c:orientation val="minMax"/>
          <c:max val="85920"/>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1E2B36"/>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before the timer | Soham | Cover</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Show the cover while we are introduced. When the 8-minute timer starts, click once to slide 2. Animations play by themselves. In Q&amp;A, type 13 and press Enter for the questions menu (slides 10-11 are prior art; 14-22 are backups A1-A9).</a:t>
            </a:r>
            <a:endParaRPr/>
          </a:p>
        </p:txBody>
      </p:sp>
      <p:sp>
        <p:nvSpPr>
          <p:cNvPr id="192" name="Google Shape;19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0:00-0:40 | S1 Soham | The problem</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It's two in the morning on the Godavari. A tanker opens its valve, and by sunrise the river looks normal again. Nobody saw it, and the next official sample may be weeks away. India's latest CPCB assessment lists 296 polluted river stretches and locations, and Maharashtra, our state, has the most: 54. Most monitoring points are sampled by hand, monthly or quarterly. Real-time stations exist, but they cost tens of lakhs each, so there are very few. A spill that lasts a few hours falls through the gap. We are Team Sanjivani Hero's Journey, and AquaSentinel is our answer.</a:t>
            </a:r>
            <a:endParaRPr/>
          </a:p>
        </p:txBody>
      </p:sp>
      <p:sp>
        <p:nvSpPr>
          <p:cNvPr id="207" name="Google Shape;20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1:45-2:25 | S2 Tanmay or Bhakti | What it is</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AquaSentinel is a river robot designed to sense, think and act on its own. It senses pH, conductivity, dissolved oxygen, turbidity, temperature and river level. An ESP32 on board decides every fifteen minutes, with no cloud needed. When the water changes, the beacon turns red, an alert goes to the water-works, and a pump fills a sample bottle for the lab. It is an early-warning system, not a chemical identifier. The table shows each objective, and honestly, how far it is proven.</a:t>
            </a:r>
            <a:endParaRPr/>
          </a:p>
        </p:txBody>
      </p:sp>
      <p:sp>
        <p:nvSpPr>
          <p:cNvPr id="235" name="Google Shape;23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2:25-3:10 | S2 | How it works</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How does it stay in place without a motor? A two-inch stainless pole is clamped to a bridge pier, so nobody works in the riverbed. Eight rollers in two tiers let the river itself carry the float up and down through two metres, and its side area sits behind the pole, so the current turns it like a weathervane. Every fifteen minutes it checks hard limits, like pH outside six to nine or oxygen below four, and a baseline it learns for every hour of the day. Two unusual readings out of three make an event.</a:t>
            </a:r>
            <a:endParaRPr/>
          </a:p>
        </p:txBody>
      </p:sp>
      <p:sp>
        <p:nvSpPr>
          <p:cNvPr id="254" name="Google Shape;254;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3:10-3:50 | S3 (whoever knows the CAD best) | Design checks and simulation</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We checked every requirement on the CAD model itself. The float weighs 48.5 kilograms by our estimate, floats with 143 millimetres of freeboard and more than twice the buoyancy it needs, and rights itself up to sixty degrees. For a flood we designed for 1.5 metres per second plus a 500-newton debris load. Simulation with fixed ends gives a safety factor of 4.4; we quote our most conservative case, 2.66. That is a static case: impact and anchors are still to verify.</a:t>
            </a:r>
            <a:endParaRPr/>
          </a:p>
        </p:txBody>
      </p:sp>
      <p:sp>
        <p:nvSpPr>
          <p:cNvPr id="280" name="Google Shape;28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3:50-4:20 | S3 | Materials and manufacturing</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R3 is a 66-part SOLIDWORKS assembly with a real material on every part: two polyethylene hulls from one rotomould, aluminium deck and carriage, a stainless pole, and off-the-shelf electronics, so a local fabricator can build it. CAD also caught our two biggest mistakes: the pole once ran through the electronics pod, and the real mass came out at 48.5 kilograms, not 25.</a:t>
            </a:r>
            <a:endParaRPr/>
          </a:p>
        </p:txBody>
      </p:sp>
      <p:sp>
        <p:nvSpPr>
          <p:cNvPr id="313" name="Google Shape;31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4:20-5:30 | S1 Soham | Customers, cost and business model</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Who pays? Pollution control boards, water-works protecting their intakes, irrigation departments and industrial estates. We priced all 66 parts from Indian suppliers: one float costs about 1.6 lakh rupees before GST, plus a 29-thousand-rupee bridge kit; at a hundred units, about 1.5 lakh together. But a board doesn't buy it. It pays twelve thousand rupees a month on a five-year contract, like station maintenance tenders. That pays back the hardware in about twenty months, with a margin of about 46 percent. One real-time station's instruments alone cost thirty-five to forty lakh. We start with three floats at Kopargaon, then Maharashtra's 54 polluted sites.</a:t>
            </a:r>
            <a:endParaRPr/>
          </a:p>
        </p:txBody>
      </p:sp>
      <p:sp>
        <p:nvSpPr>
          <p:cNvPr id="337" name="Google Shape;33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5:30-6:15 | S2 | Where we are, honestly</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Where are we, honestly? AquaSentinel is designed, calculated and simulated; it has not been in the water yet. On thirty days of synthetic data, our logic flagged all four injected spills within thirty minutes. That proves the logic, not field accuracy. Power, including the beacon, is about twelve days without sun, an estimate we will measure. Before the finale: the 1:5 model in water and the logic on an ESP32 with a real probe. Then a full-size tank test, and after permits, a thirty-day pilot at Kopargaon checked against lab samples.</a:t>
            </a:r>
            <a:endParaRPr/>
          </a:p>
        </p:txBody>
      </p:sp>
      <p:sp>
        <p:nvSpPr>
          <p:cNvPr id="372" name="Google Shape;37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6:15-6:45 | S1 Soham | Prior art</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We are not the first to watch rivers. CPCB's real-time stations read seventeen parameters every fifteen minutes. YSI's sonde is the reference instrument, NexSens floats sondes on solar buoys, and Teledyne ISCO's samplers can be triggered by a sonde. Each does its job well. But each does one part of the job.</a:t>
            </a:r>
            <a:endParaRPr/>
          </a:p>
        </p:txBody>
      </p:sp>
      <p:sp>
        <p:nvSpPr>
          <p:cNvPr id="404" name="Google Shape;40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3" name="Google Shape;433;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6:45-7:15 | S1 Soham | How AquaSentinel differs</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Our difference is how we combine them: a float on a pier-mounted guide pole that follows the river without a mooring, a decision made on board, a light people on the bank can see, and one sample bottle per event, in one unit under two lakh. Each capability exists separately; the combination is what we must now prove in water.</a:t>
            </a:r>
            <a:endParaRPr/>
          </a:p>
        </p:txBody>
      </p:sp>
      <p:sp>
        <p:nvSpPr>
          <p:cNvPr id="434" name="Google Shape;434;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7:15-7:50 | S1 Soham | Close</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A spill lasts hours. A sample comes once a month. AquaSentinel is designed to close that gap: ninety-six readings a day, a decision on the spot, a red light on the bank, and a sample that tells the lab where to look. We are Soham, Shriraj, Bhakti and Tanmay, guided by Dr. Kiran Wakchaure. Thank you. We'd love your questions.</a:t>
            </a:r>
            <a:endParaRPr/>
          </a:p>
        </p:txBody>
      </p:sp>
      <p:sp>
        <p:nvSpPr>
          <p:cNvPr id="445" name="Google Shape;44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6" name="Google Shape;47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 shown in the 8 minutes. In Q&amp;A, click a topic to jump straight to its slide; each backup slide has a 'Back to questions' button at the top right. The three buttons at the bottom open our live 3D model, dashboard and GitHub in the browser (needs internet; check Zoom is sharing the screen, not just PowerPoint).</a:t>
            </a:r>
            <a:endParaRPr/>
          </a:p>
        </p:txBody>
      </p:sp>
      <p:sp>
        <p:nvSpPr>
          <p:cNvPr id="477" name="Google Shape;47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4" name="Google Shape;51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Every value is computed from the R3 CAD geometry by the design engine (mechanical/checks/design_checks.json). Masses are partly catalogue estimates, so weigh the parts when they are built.</a:t>
            </a:r>
            <a:endParaRPr/>
          </a:p>
        </p:txBody>
      </p:sp>
      <p:sp>
        <p:nvSpPr>
          <p:cNvPr id="515" name="Google Shape;51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3" name="Google Shape;52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4.4 is the SOLIDWORKS FEA with both clamp faces fixed (38.3 MPa). Real clamps on bolted brackets are not rigid, so the pinned hand calculation (54.8 MPa, SF 3.1) and the pinned case with the carriage couple (64.0 MPa, SF 2.66) are the conservative bounds. No dynamic factor for debris impact, fatigue or vortex shedding yet.</a:t>
            </a:r>
            <a:endParaRPr/>
          </a:p>
        </p:txBody>
      </p:sp>
      <p:sp>
        <p:nvSpPr>
          <p:cNvPr id="524" name="Google Shape;524;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6" name="Google Shape;53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Design estimate from hardware/power_budget.csv; nothing measured yet. The beacon is missing from the budget. LTE bursts of up to about 2 A need a stiff supply so the ESP32 does not brown out.</a:t>
            </a:r>
            <a:endParaRPr/>
          </a:p>
        </p:txBody>
      </p:sp>
      <p:sp>
        <p:nvSpPr>
          <p:cNvPr id="537" name="Google Shape;53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8" name="Google Shape;55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Validated so far only on synthetic data (30 days; 4 of 4 events flagged within 30 min). The events were large compared with the noise, so moderate events and the real false-alarm rate need pilot data. The first four fixes are written in the ESP32 firmware and compile, with 26 unit tests. Nothing has run on hardware yet; the bench demo is their first hardware test.</a:t>
            </a:r>
            <a:endParaRPr/>
          </a:p>
        </p:txBody>
      </p:sp>
      <p:sp>
        <p:nvSpPr>
          <p:cNvPr id="559" name="Google Shape;55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2" name="Google Shape;57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Costed BOM (investor_pitch_assets/AquaSentinel_R3_Costed_BOM.xlsx), Indian prices of 23 Oct 2026, ex-GST, all 66 part numbers. One float ₹157,492; the bridge kit (pole, brackets, clamps, collars, anchors) ₹29,218, bought once per site; together ₹186,710. At 100 units: float ₹123,746, kit ₹24,309. That is ₹32,638 less than our first estimate the same day (₹219,348): the 10 % contingency now sits once, in the pilot budget, and four design simplifications (pier bracket ₹5,708; pole clamp cap ₹3,903; stop collar ₹2,778; guide carriage - fixed half ₹268; guide carriage - opening gate ₹183). The bracket change is backed by the FEA: peak 3.7 MPa today, about 15 MPa with 6 mm plate, against 170 MPa yield; we re-check it in SOLIDWORKS before fabrication. If cost is the worry: customers pay ₹12,000 a month, not the hardware price; a Lite float with pH, EC, temperature and level only would be about ₹113,483.</a:t>
            </a:r>
            <a:endParaRPr/>
          </a:p>
        </p:txBody>
      </p:sp>
      <p:sp>
        <p:nvSpPr>
          <p:cNvPr id="573" name="Google Shape;57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3" name="Google Shape;593;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3 floats per stretch and the ₹1.44 lakh per float-year fee (₹12,000 a month) are assumptions for sizing, not findings. At our estimated ₹77k a year cost to serve, that fee gives about a 46% gross margin. Water-works intakes and industrial estates are not counted.</a:t>
            </a:r>
            <a:endParaRPr/>
          </a:p>
        </p:txBody>
      </p:sp>
      <p:sp>
        <p:nvSpPr>
          <p:cNvPr id="594" name="Google Shape;594;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Answer risk questions with the mitigation and when it happens. Do not promise dates you have not planned.</a:t>
            </a:r>
            <a:endParaRPr/>
          </a:p>
        </p:txBody>
      </p:sp>
      <p:sp>
        <p:nvSpPr>
          <p:cNvPr id="605" name="Google Shape;605;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2" name="Google Shape;61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Dates for the semi-final and finales come from the organisers (emails, dashboard). The rest is our plan: the 1:5 model water check and the electronics bench demo before the finale; the full-size tank test after it (it needs a full-size float, which isn't built yet); the pilot once permits are in place.</a:t>
            </a:r>
            <a:endParaRPr/>
          </a:p>
        </p:txBody>
      </p:sp>
      <p:sp>
        <p:nvSpPr>
          <p:cNvPr id="613" name="Google Shape;61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2" name="Google Shape;642;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Use when asked 'Have you built anything?' or 'Which stage is the prototype at?'.</a:t>
            </a:r>
            <a:endParaRPr/>
          </a:p>
          <a:p>
            <a:pPr marL="0" lvl="0" indent="0" algn="l" rtl="0">
              <a:spcBef>
                <a:spcPts val="0"/>
              </a:spcBef>
              <a:spcAft>
                <a:spcPts val="0"/>
              </a:spcAft>
              <a:buNone/>
            </a:pP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Say: 'This is a 1:5 scale model printed from our CAD. It shows the layout, how the float rides the pole and how the sensor cartridge comes out. It isn't a working prototype; the electronics bench demo is our next step.'</a:t>
            </a:r>
            <a:endParaRPr/>
          </a:p>
          <a:p>
            <a:pPr marL="0" lvl="0" indent="0" algn="l" rtl="0">
              <a:spcBef>
                <a:spcPts val="0"/>
              </a:spcBef>
              <a:spcAft>
                <a:spcPts val="0"/>
              </a:spcAft>
              <a:buNone/>
            </a:pP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The picture is a RENDER made from the print files, and the red label says so. When you have photos of the printed model: right-click the picture &gt; Change Picture, change the red label to 'Our printed 1:5 model', and change level 1 to 'Printed'.</a:t>
            </a:r>
            <a:endParaRPr/>
          </a:p>
          <a:p>
            <a:pPr marL="0" lvl="0" indent="0" algn="l" rtl="0">
              <a:spcBef>
                <a:spcPts val="0"/>
              </a:spcBef>
              <a:spcAft>
                <a:spcPts val="0"/>
              </a:spcAft>
              <a:buNone/>
            </a:pP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The stand's travel is shortened: 65 mm on the model is 325 mm at full size; the design range is 2 m (400 mm at 1:5). Print files and guide: mechanical/scale_model_1to5/README.md.</a:t>
            </a:r>
            <a:endParaRPr/>
          </a:p>
        </p:txBody>
      </p:sp>
      <p:sp>
        <p:nvSpPr>
          <p:cNvPr id="643" name="Google Shape;643;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
        <p:cNvGrpSpPr/>
        <p:nvPr/>
      </p:nvGrpSpPr>
      <p:grpSpPr>
        <a:xfrm>
          <a:off x="0" y="0"/>
          <a:ext cx="0" cy="0"/>
          <a:chOff x="0" y="0"/>
          <a:chExt cx="0" cy="0"/>
        </a:xfrm>
      </p:grpSpPr>
      <p:sp>
        <p:nvSpPr>
          <p:cNvPr id="14" name="Google Shape;1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2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2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2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25"/>
          <p:cNvSpPr txBox="1">
            <a:spLocks noGrp="1"/>
          </p:cNvSpPr>
          <p:nvPr>
            <p:ph type="subTitle" idx="1"/>
          </p:nvPr>
        </p:nvSpPr>
        <p:spPr>
          <a:xfrm>
            <a:off x="1524000" y="3602037"/>
            <a:ext cx="9144000" cy="1655763"/>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1" name="Google Shape;21;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26"/>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 name="Google Shape;27;p26"/>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26"/>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9" name="Google Shape;29;p26"/>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27"/>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 name="Google Shape;32;p27"/>
          <p:cNvSpPr txBox="1">
            <a:spLocks noGrp="1"/>
          </p:cNvSpPr>
          <p:nvPr>
            <p:ph type="body" idx="1"/>
          </p:nvPr>
        </p:nvSpPr>
        <p:spPr>
          <a:xfrm>
            <a:off x="831851" y="4589464"/>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3" name="Google Shape;33;p27"/>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27"/>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27"/>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8" name="Google Shape;38;p28"/>
          <p:cNvSpPr txBox="1">
            <a:spLocks noGrp="1"/>
          </p:cNvSpPr>
          <p:nvPr>
            <p:ph type="body" idx="1"/>
          </p:nvPr>
        </p:nvSpPr>
        <p:spPr>
          <a:xfrm>
            <a:off x="838200" y="1825625"/>
            <a:ext cx="5181600" cy="4351339"/>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9" name="Google Shape;39;p28"/>
          <p:cNvSpPr txBox="1">
            <a:spLocks noGrp="1"/>
          </p:cNvSpPr>
          <p:nvPr>
            <p:ph type="body" idx="2"/>
          </p:nvPr>
        </p:nvSpPr>
        <p:spPr>
          <a:xfrm>
            <a:off x="6172200" y="1825625"/>
            <a:ext cx="5181600" cy="4351339"/>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 name="Google Shape;40;p28"/>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28"/>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28"/>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5" name="Google Shape;45;p29"/>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6" name="Google Shape;46;p29"/>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7" name="Google Shape;47;p29"/>
          <p:cNvSpPr txBox="1">
            <a:spLocks noGrp="1"/>
          </p:cNvSpPr>
          <p:nvPr>
            <p:ph type="body" idx="3"/>
          </p:nvPr>
        </p:nvSpPr>
        <p:spPr>
          <a:xfrm>
            <a:off x="6172201"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8" name="Google Shape;48;p29"/>
          <p:cNvSpPr txBox="1">
            <a:spLocks noGrp="1"/>
          </p:cNvSpPr>
          <p:nvPr>
            <p:ph type="body" idx="4"/>
          </p:nvPr>
        </p:nvSpPr>
        <p:spPr>
          <a:xfrm>
            <a:off x="6172201"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9" name="Google Shape;49;p29"/>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0" name="Google Shape;50;p29"/>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29"/>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2"/>
        <p:cNvGrpSpPr/>
        <p:nvPr/>
      </p:nvGrpSpPr>
      <p:grpSpPr>
        <a:xfrm>
          <a:off x="0" y="0"/>
          <a:ext cx="0" cy="0"/>
          <a:chOff x="0" y="0"/>
          <a:chExt cx="0" cy="0"/>
        </a:xfrm>
      </p:grpSpPr>
      <p:sp>
        <p:nvSpPr>
          <p:cNvPr id="53" name="Google Shape;53;p30"/>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30"/>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30"/>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56"/>
        <p:cNvGrpSpPr/>
        <p:nvPr/>
      </p:nvGrpSpPr>
      <p:grpSpPr>
        <a:xfrm>
          <a:off x="0" y="0"/>
          <a:ext cx="0" cy="0"/>
          <a:chOff x="0" y="0"/>
          <a:chExt cx="0" cy="0"/>
        </a:xfrm>
      </p:grpSpPr>
      <p:sp>
        <p:nvSpPr>
          <p:cNvPr id="57" name="Google Shape;57;p31"/>
          <p:cNvSpPr>
            <a:spLocks noGrp="1"/>
          </p:cNvSpPr>
          <p:nvPr>
            <p:ph type="pic" idx="2"/>
          </p:nvPr>
        </p:nvSpPr>
        <p:spPr>
          <a:xfrm>
            <a:off x="2408241" y="2793992"/>
            <a:ext cx="931862" cy="932688"/>
          </a:xfrm>
          <a:prstGeom prst="ellipse">
            <a:avLst/>
          </a:prstGeom>
          <a:noFill/>
          <a:ln>
            <a:noFill/>
          </a:ln>
        </p:spPr>
      </p:sp>
      <p:sp>
        <p:nvSpPr>
          <p:cNvPr id="58" name="Google Shape;58;p31"/>
          <p:cNvSpPr>
            <a:spLocks noGrp="1"/>
          </p:cNvSpPr>
          <p:nvPr>
            <p:ph type="pic" idx="3"/>
          </p:nvPr>
        </p:nvSpPr>
        <p:spPr>
          <a:xfrm>
            <a:off x="4519168" y="2799632"/>
            <a:ext cx="931862" cy="932688"/>
          </a:xfrm>
          <a:prstGeom prst="ellipse">
            <a:avLst/>
          </a:prstGeom>
          <a:noFill/>
          <a:ln>
            <a:noFill/>
          </a:ln>
        </p:spPr>
      </p:sp>
      <p:sp>
        <p:nvSpPr>
          <p:cNvPr id="59" name="Google Shape;59;p31"/>
          <p:cNvSpPr>
            <a:spLocks noGrp="1"/>
          </p:cNvSpPr>
          <p:nvPr>
            <p:ph type="pic" idx="4"/>
          </p:nvPr>
        </p:nvSpPr>
        <p:spPr>
          <a:xfrm>
            <a:off x="6630095" y="2793992"/>
            <a:ext cx="931862" cy="932688"/>
          </a:xfrm>
          <a:prstGeom prst="ellipse">
            <a:avLst/>
          </a:prstGeom>
          <a:noFill/>
          <a:ln>
            <a:noFill/>
          </a:ln>
        </p:spPr>
      </p:sp>
      <p:sp>
        <p:nvSpPr>
          <p:cNvPr id="60" name="Google Shape;60;p31"/>
          <p:cNvSpPr>
            <a:spLocks noGrp="1"/>
          </p:cNvSpPr>
          <p:nvPr>
            <p:ph type="pic" idx="5"/>
          </p:nvPr>
        </p:nvSpPr>
        <p:spPr>
          <a:xfrm>
            <a:off x="8851897" y="2793992"/>
            <a:ext cx="931862" cy="932688"/>
          </a:xfrm>
          <a:prstGeom prst="ellipse">
            <a:avLst/>
          </a:prstGeom>
          <a:noFill/>
          <a:ln>
            <a:noFill/>
          </a:ln>
        </p:spPr>
      </p:sp>
      <p:sp>
        <p:nvSpPr>
          <p:cNvPr id="61" name="Google Shape;61;p31"/>
          <p:cNvSpPr>
            <a:spLocks noGrp="1"/>
          </p:cNvSpPr>
          <p:nvPr>
            <p:ph type="pic" idx="6"/>
          </p:nvPr>
        </p:nvSpPr>
        <p:spPr>
          <a:xfrm>
            <a:off x="5630067" y="4567858"/>
            <a:ext cx="931862" cy="932688"/>
          </a:xfrm>
          <a:prstGeom prst="ellipse">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4" name="Google Shape;64;p32"/>
          <p:cNvSpPr txBox="1">
            <a:spLocks noGrp="1"/>
          </p:cNvSpPr>
          <p:nvPr>
            <p:ph type="body" idx="1"/>
          </p:nvPr>
        </p:nvSpPr>
        <p:spPr>
          <a:xfrm>
            <a:off x="5183188" y="987426"/>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5" name="Google Shape;65;p32"/>
          <p:cNvSpPr txBox="1">
            <a:spLocks noGrp="1"/>
          </p:cNvSpPr>
          <p:nvPr>
            <p:ph type="body" idx="2"/>
          </p:nvPr>
        </p:nvSpPr>
        <p:spPr>
          <a:xfrm>
            <a:off x="839788" y="2057401"/>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6" name="Google Shape;66;p32"/>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32"/>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32"/>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1" name="Google Shape;71;p33"/>
          <p:cNvSpPr>
            <a:spLocks noGrp="1"/>
          </p:cNvSpPr>
          <p:nvPr>
            <p:ph type="pic" idx="2"/>
          </p:nvPr>
        </p:nvSpPr>
        <p:spPr>
          <a:xfrm>
            <a:off x="5183188" y="987426"/>
            <a:ext cx="6172200" cy="4873625"/>
          </a:xfrm>
          <a:prstGeom prst="rect">
            <a:avLst/>
          </a:prstGeom>
          <a:noFill/>
          <a:ln>
            <a:noFill/>
          </a:ln>
        </p:spPr>
      </p:sp>
      <p:sp>
        <p:nvSpPr>
          <p:cNvPr id="72" name="Google Shape;72;p33"/>
          <p:cNvSpPr txBox="1">
            <a:spLocks noGrp="1"/>
          </p:cNvSpPr>
          <p:nvPr>
            <p:ph type="body" idx="1"/>
          </p:nvPr>
        </p:nvSpPr>
        <p:spPr>
          <a:xfrm>
            <a:off x="839788" y="2057401"/>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73" name="Google Shape;73;p33"/>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33"/>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33"/>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8" name="Google Shape;78;p34"/>
          <p:cNvSpPr txBox="1">
            <a:spLocks noGrp="1"/>
          </p:cNvSpPr>
          <p:nvPr>
            <p:ph type="body" idx="1"/>
          </p:nvPr>
        </p:nvSpPr>
        <p:spPr>
          <a:xfrm rot="5400000">
            <a:off x="3920331" y="-1256505"/>
            <a:ext cx="4351339"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9" name="Google Shape;79;p3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0" name="Google Shape;80;p3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1" name="Google Shape;81;p3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35"/>
          <p:cNvSpPr txBox="1">
            <a:spLocks noGrp="1"/>
          </p:cNvSpPr>
          <p:nvPr>
            <p:ph type="title"/>
          </p:nvPr>
        </p:nvSpPr>
        <p:spPr>
          <a:xfrm rot="5400000">
            <a:off x="7133432" y="1956596"/>
            <a:ext cx="5811839"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4" name="Google Shape;84;p35"/>
          <p:cNvSpPr txBox="1">
            <a:spLocks noGrp="1"/>
          </p:cNvSpPr>
          <p:nvPr>
            <p:ph type="body" idx="1"/>
          </p:nvPr>
        </p:nvSpPr>
        <p:spPr>
          <a:xfrm rot="5400000">
            <a:off x="1799431" y="-596104"/>
            <a:ext cx="5811839"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5" name="Google Shape;85;p3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6" name="Google Shape;86;p3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7" name="Google Shape;87;p3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8"/>
        <p:cNvGrpSpPr/>
        <p:nvPr/>
      </p:nvGrpSpPr>
      <p:grpSpPr>
        <a:xfrm>
          <a:off x="0" y="0"/>
          <a:ext cx="0" cy="0"/>
          <a:chOff x="0" y="0"/>
          <a:chExt cx="0" cy="0"/>
        </a:xfrm>
      </p:grpSpPr>
      <p:sp>
        <p:nvSpPr>
          <p:cNvPr id="89" name="Google Shape;89;p36"/>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36"/>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 name="Google Shape;91;p36"/>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Blank">
  <p:cSld name="2_Blank 2">
    <p:spTree>
      <p:nvGrpSpPr>
        <p:cNvPr id="1" name="Shape 92"/>
        <p:cNvGrpSpPr/>
        <p:nvPr/>
      </p:nvGrpSpPr>
      <p:grpSpPr>
        <a:xfrm>
          <a:off x="0" y="0"/>
          <a:ext cx="0" cy="0"/>
          <a:chOff x="0" y="0"/>
          <a:chExt cx="0" cy="0"/>
        </a:xfrm>
      </p:grpSpPr>
      <p:sp>
        <p:nvSpPr>
          <p:cNvPr id="93" name="Google Shape;93;p37"/>
          <p:cNvSpPr>
            <a:spLocks noGrp="1"/>
          </p:cNvSpPr>
          <p:nvPr>
            <p:ph type="pic" idx="2"/>
          </p:nvPr>
        </p:nvSpPr>
        <p:spPr>
          <a:xfrm>
            <a:off x="2408242" y="2793992"/>
            <a:ext cx="931863" cy="932688"/>
          </a:xfrm>
          <a:prstGeom prst="ellipse">
            <a:avLst/>
          </a:prstGeom>
          <a:noFill/>
          <a:ln>
            <a:noFill/>
          </a:ln>
        </p:spPr>
      </p:sp>
      <p:sp>
        <p:nvSpPr>
          <p:cNvPr id="94" name="Google Shape;94;p37"/>
          <p:cNvSpPr>
            <a:spLocks noGrp="1"/>
          </p:cNvSpPr>
          <p:nvPr>
            <p:ph type="pic" idx="3"/>
          </p:nvPr>
        </p:nvSpPr>
        <p:spPr>
          <a:xfrm>
            <a:off x="4519169" y="2799632"/>
            <a:ext cx="931863" cy="932688"/>
          </a:xfrm>
          <a:prstGeom prst="ellipse">
            <a:avLst/>
          </a:prstGeom>
          <a:noFill/>
          <a:ln>
            <a:noFill/>
          </a:ln>
        </p:spPr>
      </p:sp>
      <p:sp>
        <p:nvSpPr>
          <p:cNvPr id="95" name="Google Shape;95;p37"/>
          <p:cNvSpPr>
            <a:spLocks noGrp="1"/>
          </p:cNvSpPr>
          <p:nvPr>
            <p:ph type="pic" idx="4"/>
          </p:nvPr>
        </p:nvSpPr>
        <p:spPr>
          <a:xfrm>
            <a:off x="6630095" y="2793992"/>
            <a:ext cx="931863" cy="932688"/>
          </a:xfrm>
          <a:prstGeom prst="ellipse">
            <a:avLst/>
          </a:prstGeom>
          <a:noFill/>
          <a:ln>
            <a:noFill/>
          </a:ln>
        </p:spPr>
      </p:sp>
      <p:sp>
        <p:nvSpPr>
          <p:cNvPr id="96" name="Google Shape;96;p37"/>
          <p:cNvSpPr>
            <a:spLocks noGrp="1"/>
          </p:cNvSpPr>
          <p:nvPr>
            <p:ph type="pic" idx="5"/>
          </p:nvPr>
        </p:nvSpPr>
        <p:spPr>
          <a:xfrm>
            <a:off x="8851898" y="2793992"/>
            <a:ext cx="931861" cy="932688"/>
          </a:xfrm>
          <a:prstGeom prst="ellipse">
            <a:avLst/>
          </a:prstGeom>
          <a:noFill/>
          <a:ln>
            <a:noFill/>
          </a:ln>
        </p:spPr>
      </p:sp>
      <p:sp>
        <p:nvSpPr>
          <p:cNvPr id="97" name="Google Shape;97;p37"/>
          <p:cNvSpPr>
            <a:spLocks noGrp="1"/>
          </p:cNvSpPr>
          <p:nvPr>
            <p:ph type="pic" idx="6"/>
          </p:nvPr>
        </p:nvSpPr>
        <p:spPr>
          <a:xfrm>
            <a:off x="5630067" y="4567857"/>
            <a:ext cx="931863" cy="932688"/>
          </a:xfrm>
          <a:prstGeom prst="ellipse">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2"/>
        <p:cNvGrpSpPr/>
        <p:nvPr/>
      </p:nvGrpSpPr>
      <p:grpSpPr>
        <a:xfrm>
          <a:off x="0" y="0"/>
          <a:ext cx="0" cy="0"/>
          <a:chOff x="0" y="0"/>
          <a:chExt cx="0" cy="0"/>
        </a:xfrm>
      </p:grpSpPr>
      <p:sp>
        <p:nvSpPr>
          <p:cNvPr id="103" name="Google Shape;103;p3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4" name="Google Shape;104;p39"/>
          <p:cNvSpPr txBox="1">
            <a:spLocks noGrp="1"/>
          </p:cNvSpPr>
          <p:nvPr>
            <p:ph type="subTitle" idx="1"/>
          </p:nvPr>
        </p:nvSpPr>
        <p:spPr>
          <a:xfrm>
            <a:off x="1524000" y="3602037"/>
            <a:ext cx="9144000" cy="1655763"/>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05" name="Google Shape;105;p39"/>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6" name="Google Shape;106;p39"/>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7" name="Google Shape;107;p39"/>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8"/>
        <p:cNvGrpSpPr/>
        <p:nvPr/>
      </p:nvGrpSpPr>
      <p:grpSpPr>
        <a:xfrm>
          <a:off x="0" y="0"/>
          <a:ext cx="0" cy="0"/>
          <a:chOff x="0" y="0"/>
          <a:chExt cx="0" cy="0"/>
        </a:xfrm>
      </p:grpSpPr>
      <p:sp>
        <p:nvSpPr>
          <p:cNvPr id="109" name="Google Shape;109;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0" name="Google Shape;110;p40"/>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1" name="Google Shape;111;p40"/>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2" name="Google Shape;112;p40"/>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3" name="Google Shape;113;p40"/>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4"/>
        <p:cNvGrpSpPr/>
        <p:nvPr/>
      </p:nvGrpSpPr>
      <p:grpSpPr>
        <a:xfrm>
          <a:off x="0" y="0"/>
          <a:ext cx="0" cy="0"/>
          <a:chOff x="0" y="0"/>
          <a:chExt cx="0" cy="0"/>
        </a:xfrm>
      </p:grpSpPr>
      <p:sp>
        <p:nvSpPr>
          <p:cNvPr id="115" name="Google Shape;115;p41"/>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6" name="Google Shape;116;p41"/>
          <p:cNvSpPr txBox="1">
            <a:spLocks noGrp="1"/>
          </p:cNvSpPr>
          <p:nvPr>
            <p:ph type="body" idx="1"/>
          </p:nvPr>
        </p:nvSpPr>
        <p:spPr>
          <a:xfrm>
            <a:off x="831851" y="4589464"/>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117" name="Google Shape;117;p41"/>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41"/>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9" name="Google Shape;119;p41"/>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20"/>
        <p:cNvGrpSpPr/>
        <p:nvPr/>
      </p:nvGrpSpPr>
      <p:grpSpPr>
        <a:xfrm>
          <a:off x="0" y="0"/>
          <a:ext cx="0" cy="0"/>
          <a:chOff x="0" y="0"/>
          <a:chExt cx="0" cy="0"/>
        </a:xfrm>
      </p:grpSpPr>
      <p:sp>
        <p:nvSpPr>
          <p:cNvPr id="121" name="Google Shape;121;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2" name="Google Shape;122;p42"/>
          <p:cNvSpPr txBox="1">
            <a:spLocks noGrp="1"/>
          </p:cNvSpPr>
          <p:nvPr>
            <p:ph type="body" idx="1"/>
          </p:nvPr>
        </p:nvSpPr>
        <p:spPr>
          <a:xfrm>
            <a:off x="838200" y="1825625"/>
            <a:ext cx="5181600" cy="4351339"/>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3" name="Google Shape;123;p42"/>
          <p:cNvSpPr txBox="1">
            <a:spLocks noGrp="1"/>
          </p:cNvSpPr>
          <p:nvPr>
            <p:ph type="body" idx="2"/>
          </p:nvPr>
        </p:nvSpPr>
        <p:spPr>
          <a:xfrm>
            <a:off x="6172200" y="1825625"/>
            <a:ext cx="5181600" cy="4351339"/>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4" name="Google Shape;124;p42"/>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5" name="Google Shape;125;p42"/>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6" name="Google Shape;126;p42"/>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7"/>
        <p:cNvGrpSpPr/>
        <p:nvPr/>
      </p:nvGrpSpPr>
      <p:grpSpPr>
        <a:xfrm>
          <a:off x="0" y="0"/>
          <a:ext cx="0" cy="0"/>
          <a:chOff x="0" y="0"/>
          <a:chExt cx="0" cy="0"/>
        </a:xfrm>
      </p:grpSpPr>
      <p:sp>
        <p:nvSpPr>
          <p:cNvPr id="128" name="Google Shape;128;p4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9" name="Google Shape;129;p43"/>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30" name="Google Shape;130;p43"/>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1" name="Google Shape;131;p43"/>
          <p:cNvSpPr txBox="1">
            <a:spLocks noGrp="1"/>
          </p:cNvSpPr>
          <p:nvPr>
            <p:ph type="body" idx="3"/>
          </p:nvPr>
        </p:nvSpPr>
        <p:spPr>
          <a:xfrm>
            <a:off x="6172201"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32" name="Google Shape;132;p43"/>
          <p:cNvSpPr txBox="1">
            <a:spLocks noGrp="1"/>
          </p:cNvSpPr>
          <p:nvPr>
            <p:ph type="body" idx="4"/>
          </p:nvPr>
        </p:nvSpPr>
        <p:spPr>
          <a:xfrm>
            <a:off x="6172201"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3" name="Google Shape;133;p43"/>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4" name="Google Shape;134;p43"/>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5" name="Google Shape;135;p43"/>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36"/>
        <p:cNvGrpSpPr/>
        <p:nvPr/>
      </p:nvGrpSpPr>
      <p:grpSpPr>
        <a:xfrm>
          <a:off x="0" y="0"/>
          <a:ext cx="0" cy="0"/>
          <a:chOff x="0" y="0"/>
          <a:chExt cx="0" cy="0"/>
        </a:xfrm>
      </p:grpSpPr>
      <p:sp>
        <p:nvSpPr>
          <p:cNvPr id="137" name="Google Shape;137;p4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8" name="Google Shape;138;p4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9" name="Google Shape;139;p4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lacehoders">
  <p:cSld name="Placehoders">
    <p:spTree>
      <p:nvGrpSpPr>
        <p:cNvPr id="1" name="Shape 140"/>
        <p:cNvGrpSpPr/>
        <p:nvPr/>
      </p:nvGrpSpPr>
      <p:grpSpPr>
        <a:xfrm>
          <a:off x="0" y="0"/>
          <a:ext cx="0" cy="0"/>
          <a:chOff x="0" y="0"/>
          <a:chExt cx="0" cy="0"/>
        </a:xfrm>
      </p:grpSpPr>
      <p:pic>
        <p:nvPicPr>
          <p:cNvPr id="141" name="Google Shape;141;p45" descr="A group of squares with a white background"/>
          <p:cNvPicPr preferRelativeResize="0"/>
          <p:nvPr/>
        </p:nvPicPr>
        <p:blipFill rotWithShape="1">
          <a:blip r:embed="rId2">
            <a:alphaModFix/>
          </a:blip>
          <a:srcRect t="10694" b="7917"/>
          <a:stretch/>
        </p:blipFill>
        <p:spPr>
          <a:xfrm>
            <a:off x="4029" y="733425"/>
            <a:ext cx="12183942" cy="5581650"/>
          </a:xfrm>
          <a:prstGeom prst="rect">
            <a:avLst/>
          </a:prstGeom>
          <a:noFill/>
          <a:ln>
            <a:noFill/>
          </a:ln>
        </p:spPr>
      </p:pic>
      <p:sp>
        <p:nvSpPr>
          <p:cNvPr id="142" name="Google Shape;142;p45"/>
          <p:cNvSpPr>
            <a:spLocks noGrp="1"/>
          </p:cNvSpPr>
          <p:nvPr>
            <p:ph type="pic" idx="2"/>
          </p:nvPr>
        </p:nvSpPr>
        <p:spPr>
          <a:xfrm>
            <a:off x="5048250" y="2014854"/>
            <a:ext cx="2095500" cy="1135063"/>
          </a:xfrm>
          <a:prstGeom prst="rect">
            <a:avLst/>
          </a:prstGeom>
          <a:noFill/>
          <a:ln>
            <a:noFill/>
          </a:ln>
        </p:spPr>
      </p:sp>
      <p:sp>
        <p:nvSpPr>
          <p:cNvPr id="143" name="Google Shape;143;p45"/>
          <p:cNvSpPr>
            <a:spLocks noGrp="1"/>
          </p:cNvSpPr>
          <p:nvPr>
            <p:ph type="pic" idx="3"/>
          </p:nvPr>
        </p:nvSpPr>
        <p:spPr>
          <a:xfrm>
            <a:off x="7856220" y="2263457"/>
            <a:ext cx="1771943" cy="959803"/>
          </a:xfrm>
          <a:prstGeom prst="rect">
            <a:avLst/>
          </a:prstGeom>
          <a:noFill/>
          <a:ln>
            <a:noFill/>
          </a:ln>
        </p:spPr>
      </p:sp>
      <p:sp>
        <p:nvSpPr>
          <p:cNvPr id="144" name="Google Shape;144;p45"/>
          <p:cNvSpPr>
            <a:spLocks noGrp="1"/>
          </p:cNvSpPr>
          <p:nvPr>
            <p:ph type="pic" idx="4"/>
          </p:nvPr>
        </p:nvSpPr>
        <p:spPr>
          <a:xfrm>
            <a:off x="2563837" y="2263457"/>
            <a:ext cx="1771943" cy="959803"/>
          </a:xfrm>
          <a:prstGeom prst="rect">
            <a:avLst/>
          </a:prstGeom>
          <a:noFill/>
          <a:ln>
            <a:noFill/>
          </a:ln>
        </p:spPr>
      </p:sp>
      <p:sp>
        <p:nvSpPr>
          <p:cNvPr id="145" name="Google Shape;145;p45"/>
          <p:cNvSpPr>
            <a:spLocks noGrp="1"/>
          </p:cNvSpPr>
          <p:nvPr>
            <p:ph type="pic" idx="5"/>
          </p:nvPr>
        </p:nvSpPr>
        <p:spPr>
          <a:xfrm>
            <a:off x="544537" y="2534920"/>
            <a:ext cx="1383323" cy="749300"/>
          </a:xfrm>
          <a:prstGeom prst="rect">
            <a:avLst/>
          </a:prstGeom>
          <a:noFill/>
          <a:ln>
            <a:noFill/>
          </a:ln>
        </p:spPr>
      </p:sp>
      <p:sp>
        <p:nvSpPr>
          <p:cNvPr id="146" name="Google Shape;146;p45"/>
          <p:cNvSpPr>
            <a:spLocks noGrp="1"/>
          </p:cNvSpPr>
          <p:nvPr>
            <p:ph type="pic" idx="6"/>
          </p:nvPr>
        </p:nvSpPr>
        <p:spPr>
          <a:xfrm>
            <a:off x="10256520" y="2534920"/>
            <a:ext cx="1383323" cy="749300"/>
          </a:xfrm>
          <a:prstGeom prst="rect">
            <a:avLst/>
          </a:prstGeom>
          <a:noFill/>
          <a:ln>
            <a:noFill/>
          </a:ln>
        </p:spPr>
      </p:sp>
      <p:sp>
        <p:nvSpPr>
          <p:cNvPr id="147" name="Google Shape;147;p45"/>
          <p:cNvSpPr>
            <a:spLocks noGrp="1"/>
          </p:cNvSpPr>
          <p:nvPr>
            <p:ph type="pic" idx="7"/>
          </p:nvPr>
        </p:nvSpPr>
        <p:spPr>
          <a:xfrm>
            <a:off x="5048250" y="4286250"/>
            <a:ext cx="2095500" cy="878521"/>
          </a:xfrm>
          <a:prstGeom prst="rect">
            <a:avLst/>
          </a:prstGeom>
          <a:noFill/>
          <a:ln>
            <a:noFill/>
          </a:ln>
        </p:spPr>
      </p:sp>
      <p:sp>
        <p:nvSpPr>
          <p:cNvPr id="148" name="Google Shape;148;p45"/>
          <p:cNvSpPr>
            <a:spLocks noGrp="1"/>
          </p:cNvSpPr>
          <p:nvPr>
            <p:ph type="pic" idx="8"/>
          </p:nvPr>
        </p:nvSpPr>
        <p:spPr>
          <a:xfrm>
            <a:off x="7856220" y="4133850"/>
            <a:ext cx="1771943" cy="737235"/>
          </a:xfrm>
          <a:prstGeom prst="rect">
            <a:avLst/>
          </a:prstGeom>
          <a:noFill/>
          <a:ln>
            <a:noFill/>
          </a:ln>
        </p:spPr>
      </p:sp>
      <p:sp>
        <p:nvSpPr>
          <p:cNvPr id="149" name="Google Shape;149;p45"/>
          <p:cNvSpPr>
            <a:spLocks noGrp="1"/>
          </p:cNvSpPr>
          <p:nvPr>
            <p:ph type="pic" idx="9"/>
          </p:nvPr>
        </p:nvSpPr>
        <p:spPr>
          <a:xfrm>
            <a:off x="10256520" y="4086224"/>
            <a:ext cx="1383323" cy="460375"/>
          </a:xfrm>
          <a:prstGeom prst="rect">
            <a:avLst/>
          </a:prstGeom>
          <a:noFill/>
          <a:ln>
            <a:noFill/>
          </a:ln>
        </p:spPr>
      </p:sp>
      <p:sp>
        <p:nvSpPr>
          <p:cNvPr id="150" name="Google Shape;150;p45"/>
          <p:cNvSpPr>
            <a:spLocks noGrp="1"/>
          </p:cNvSpPr>
          <p:nvPr>
            <p:ph type="pic" idx="13"/>
          </p:nvPr>
        </p:nvSpPr>
        <p:spPr>
          <a:xfrm>
            <a:off x="2563836" y="4133850"/>
            <a:ext cx="1771943" cy="737235"/>
          </a:xfrm>
          <a:prstGeom prst="rect">
            <a:avLst/>
          </a:prstGeom>
          <a:noFill/>
          <a:ln>
            <a:noFill/>
          </a:ln>
        </p:spPr>
      </p:sp>
      <p:sp>
        <p:nvSpPr>
          <p:cNvPr id="151" name="Google Shape;151;p45"/>
          <p:cNvSpPr>
            <a:spLocks noGrp="1"/>
          </p:cNvSpPr>
          <p:nvPr>
            <p:ph type="pic" idx="14"/>
          </p:nvPr>
        </p:nvSpPr>
        <p:spPr>
          <a:xfrm>
            <a:off x="544536" y="4086224"/>
            <a:ext cx="1383323" cy="460375"/>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eam invite">
  <p:cSld name="Team invite">
    <p:spTree>
      <p:nvGrpSpPr>
        <p:cNvPr id="1" name="Shape 152"/>
        <p:cNvGrpSpPr/>
        <p:nvPr/>
      </p:nvGrpSpPr>
      <p:grpSpPr>
        <a:xfrm>
          <a:off x="0" y="0"/>
          <a:ext cx="0" cy="0"/>
          <a:chOff x="0" y="0"/>
          <a:chExt cx="0" cy="0"/>
        </a:xfrm>
      </p:grpSpPr>
      <p:pic>
        <p:nvPicPr>
          <p:cNvPr id="153" name="Google Shape;153;p46" descr="A group of stars in a circle&#10;&#10;AI-generated content may be incorrect."/>
          <p:cNvPicPr preferRelativeResize="0"/>
          <p:nvPr/>
        </p:nvPicPr>
        <p:blipFill rotWithShape="1">
          <a:blip r:embed="rId2">
            <a:alphaModFix/>
          </a:blip>
          <a:srcRect t="21427" b="10592"/>
          <a:stretch/>
        </p:blipFill>
        <p:spPr>
          <a:xfrm>
            <a:off x="0" y="1623256"/>
            <a:ext cx="12192000" cy="4662135"/>
          </a:xfrm>
          <a:prstGeom prst="rect">
            <a:avLst/>
          </a:prstGeom>
          <a:noFill/>
          <a:ln>
            <a:noFill/>
          </a:ln>
        </p:spPr>
      </p:pic>
      <p:sp>
        <p:nvSpPr>
          <p:cNvPr id="154" name="Google Shape;154;p46"/>
          <p:cNvSpPr>
            <a:spLocks noGrp="1"/>
          </p:cNvSpPr>
          <p:nvPr>
            <p:ph type="pic" idx="2"/>
          </p:nvPr>
        </p:nvSpPr>
        <p:spPr>
          <a:xfrm>
            <a:off x="5194300" y="792750"/>
            <a:ext cx="6391275" cy="3629025"/>
          </a:xfrm>
          <a:prstGeom prst="rect">
            <a:avLst/>
          </a:prstGeom>
          <a:noFill/>
          <a:ln w="12700" cap="flat" cmpd="sng">
            <a:solidFill>
              <a:srgbClr val="005386"/>
            </a:solidFill>
            <a:prstDash val="solid"/>
            <a:round/>
            <a:headEnd type="none" w="sm" len="sm"/>
            <a:tailEnd type="none" w="sm" len="sm"/>
          </a:ln>
        </p:spPr>
      </p:sp>
      <p:sp>
        <p:nvSpPr>
          <p:cNvPr id="155" name="Google Shape;155;p46"/>
          <p:cNvSpPr>
            <a:spLocks noGrp="1"/>
          </p:cNvSpPr>
          <p:nvPr>
            <p:ph type="pic" idx="3"/>
          </p:nvPr>
        </p:nvSpPr>
        <p:spPr>
          <a:xfrm>
            <a:off x="606425" y="1498600"/>
            <a:ext cx="4087877" cy="2322973"/>
          </a:xfrm>
          <a:prstGeom prst="rect">
            <a:avLst/>
          </a:prstGeom>
          <a:noFill/>
          <a:ln w="12700" cap="flat" cmpd="sng">
            <a:solidFill>
              <a:srgbClr val="DA291C"/>
            </a:solidFill>
            <a:prstDash val="solid"/>
            <a:round/>
            <a:headEnd type="none" w="sm" len="sm"/>
            <a:tailEnd type="none" w="sm" len="sm"/>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56"/>
        <p:cNvGrpSpPr/>
        <p:nvPr/>
      </p:nvGrpSpPr>
      <p:grpSpPr>
        <a:xfrm>
          <a:off x="0" y="0"/>
          <a:ext cx="0" cy="0"/>
          <a:chOff x="0" y="0"/>
          <a:chExt cx="0" cy="0"/>
        </a:xfrm>
      </p:grpSpPr>
      <p:sp>
        <p:nvSpPr>
          <p:cNvPr id="157" name="Google Shape;157;p47"/>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8"/>
        <p:cNvGrpSpPr/>
        <p:nvPr/>
      </p:nvGrpSpPr>
      <p:grpSpPr>
        <a:xfrm>
          <a:off x="0" y="0"/>
          <a:ext cx="0" cy="0"/>
          <a:chOff x="0" y="0"/>
          <a:chExt cx="0" cy="0"/>
        </a:xfrm>
      </p:grpSpPr>
      <p:sp>
        <p:nvSpPr>
          <p:cNvPr id="159" name="Google Shape;159;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0" name="Google Shape;160;p48"/>
          <p:cNvSpPr txBox="1">
            <a:spLocks noGrp="1"/>
          </p:cNvSpPr>
          <p:nvPr>
            <p:ph type="body" idx="1"/>
          </p:nvPr>
        </p:nvSpPr>
        <p:spPr>
          <a:xfrm>
            <a:off x="5183188" y="987426"/>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1" name="Google Shape;161;p48"/>
          <p:cNvSpPr txBox="1">
            <a:spLocks noGrp="1"/>
          </p:cNvSpPr>
          <p:nvPr>
            <p:ph type="body" idx="2"/>
          </p:nvPr>
        </p:nvSpPr>
        <p:spPr>
          <a:xfrm>
            <a:off x="839788" y="2057401"/>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62" name="Google Shape;162;p48"/>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3" name="Google Shape;163;p48"/>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4" name="Google Shape;164;p48"/>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65"/>
        <p:cNvGrpSpPr/>
        <p:nvPr/>
      </p:nvGrpSpPr>
      <p:grpSpPr>
        <a:xfrm>
          <a:off x="0" y="0"/>
          <a:ext cx="0" cy="0"/>
          <a:chOff x="0" y="0"/>
          <a:chExt cx="0" cy="0"/>
        </a:xfrm>
      </p:grpSpPr>
      <p:sp>
        <p:nvSpPr>
          <p:cNvPr id="166" name="Google Shape;166;p4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7" name="Google Shape;167;p49"/>
          <p:cNvSpPr>
            <a:spLocks noGrp="1"/>
          </p:cNvSpPr>
          <p:nvPr>
            <p:ph type="pic" idx="2"/>
          </p:nvPr>
        </p:nvSpPr>
        <p:spPr>
          <a:xfrm>
            <a:off x="5183188" y="987426"/>
            <a:ext cx="6172200" cy="4873625"/>
          </a:xfrm>
          <a:prstGeom prst="rect">
            <a:avLst/>
          </a:prstGeom>
          <a:noFill/>
          <a:ln>
            <a:noFill/>
          </a:ln>
        </p:spPr>
      </p:sp>
      <p:sp>
        <p:nvSpPr>
          <p:cNvPr id="168" name="Google Shape;168;p49"/>
          <p:cNvSpPr txBox="1">
            <a:spLocks noGrp="1"/>
          </p:cNvSpPr>
          <p:nvPr>
            <p:ph type="body" idx="1"/>
          </p:nvPr>
        </p:nvSpPr>
        <p:spPr>
          <a:xfrm>
            <a:off x="839788" y="2057401"/>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69" name="Google Shape;169;p49"/>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0" name="Google Shape;170;p49"/>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1" name="Google Shape;171;p49"/>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72"/>
        <p:cNvGrpSpPr/>
        <p:nvPr/>
      </p:nvGrpSpPr>
      <p:grpSpPr>
        <a:xfrm>
          <a:off x="0" y="0"/>
          <a:ext cx="0" cy="0"/>
          <a:chOff x="0" y="0"/>
          <a:chExt cx="0" cy="0"/>
        </a:xfrm>
      </p:grpSpPr>
      <p:sp>
        <p:nvSpPr>
          <p:cNvPr id="173" name="Google Shape;173;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4" name="Google Shape;174;p50"/>
          <p:cNvSpPr txBox="1">
            <a:spLocks noGrp="1"/>
          </p:cNvSpPr>
          <p:nvPr>
            <p:ph type="body" idx="1"/>
          </p:nvPr>
        </p:nvSpPr>
        <p:spPr>
          <a:xfrm rot="5400000">
            <a:off x="3920331" y="-1256505"/>
            <a:ext cx="4351339"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5" name="Google Shape;175;p50"/>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6" name="Google Shape;176;p50"/>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7" name="Google Shape;177;p50"/>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78"/>
        <p:cNvGrpSpPr/>
        <p:nvPr/>
      </p:nvGrpSpPr>
      <p:grpSpPr>
        <a:xfrm>
          <a:off x="0" y="0"/>
          <a:ext cx="0" cy="0"/>
          <a:chOff x="0" y="0"/>
          <a:chExt cx="0" cy="0"/>
        </a:xfrm>
      </p:grpSpPr>
      <p:sp>
        <p:nvSpPr>
          <p:cNvPr id="179" name="Google Shape;179;p51"/>
          <p:cNvSpPr txBox="1">
            <a:spLocks noGrp="1"/>
          </p:cNvSpPr>
          <p:nvPr>
            <p:ph type="title"/>
          </p:nvPr>
        </p:nvSpPr>
        <p:spPr>
          <a:xfrm rot="5400000">
            <a:off x="7133432" y="1956596"/>
            <a:ext cx="5811839"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0" name="Google Shape;180;p51"/>
          <p:cNvSpPr txBox="1">
            <a:spLocks noGrp="1"/>
          </p:cNvSpPr>
          <p:nvPr>
            <p:ph type="body" idx="1"/>
          </p:nvPr>
        </p:nvSpPr>
        <p:spPr>
          <a:xfrm rot="5400000">
            <a:off x="1799431" y="-596104"/>
            <a:ext cx="5811839"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1" name="Google Shape;181;p51"/>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2" name="Google Shape;182;p51"/>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3" name="Google Shape;183;p51"/>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4_Custom Layout">
  <p:cSld name="4_Custom Layout">
    <p:bg>
      <p:bgPr>
        <a:blipFill>
          <a:blip r:embed="rId2">
            <a:alphaModFix/>
          </a:blip>
          <a:stretch>
            <a:fillRect/>
          </a:stretch>
        </a:blipFill>
        <a:effectLst/>
      </p:bgPr>
    </p:bg>
    <p:spTree>
      <p:nvGrpSpPr>
        <p:cNvPr id="1" name="Shape 184"/>
        <p:cNvGrpSpPr/>
        <p:nvPr/>
      </p:nvGrpSpPr>
      <p:grpSpPr>
        <a:xfrm>
          <a:off x="0" y="0"/>
          <a:ext cx="0" cy="0"/>
          <a:chOff x="0" y="0"/>
          <a:chExt cx="0" cy="0"/>
        </a:xfrm>
      </p:grpSpPr>
      <p:pic>
        <p:nvPicPr>
          <p:cNvPr id="185" name="Google Shape;185;p52"/>
          <p:cNvPicPr preferRelativeResize="0"/>
          <p:nvPr/>
        </p:nvPicPr>
        <p:blipFill rotWithShape="1">
          <a:blip r:embed="rId3">
            <a:alphaModFix/>
          </a:blip>
          <a:srcRect l="763" r="1711"/>
          <a:stretch/>
        </p:blipFill>
        <p:spPr>
          <a:xfrm>
            <a:off x="-1" y="35845"/>
            <a:ext cx="12192001" cy="6060155"/>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_Custom Layout">
  <p:cSld name="3_Custom Layout">
    <p:bg>
      <p:bgPr>
        <a:blipFill>
          <a:blip r:embed="rId2">
            <a:alphaModFix/>
          </a:blip>
          <a:stretch>
            <a:fillRect/>
          </a:stretch>
        </a:blipFill>
        <a:effectLst/>
      </p:bgPr>
    </p:bg>
    <p:spTree>
      <p:nvGrpSpPr>
        <p:cNvPr id="1" name="Shape 18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87"/>
        <p:cNvGrpSpPr/>
        <p:nvPr/>
      </p:nvGrpSpPr>
      <p:grpSpPr>
        <a:xfrm>
          <a:off x="0" y="0"/>
          <a:ext cx="0" cy="0"/>
          <a:chOff x="0" y="0"/>
          <a:chExt cx="0" cy="0"/>
        </a:xfrm>
      </p:grpSpPr>
      <p:sp>
        <p:nvSpPr>
          <p:cNvPr id="188" name="Google Shape;188;p5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2.pn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23" descr="A blue text on a black background"/>
          <p:cNvPicPr preferRelativeResize="0"/>
          <p:nvPr/>
        </p:nvPicPr>
        <p:blipFill rotWithShape="1">
          <a:blip r:embed="rId16">
            <a:alphaModFix/>
          </a:blip>
          <a:srcRect/>
          <a:stretch/>
        </p:blipFill>
        <p:spPr>
          <a:xfrm>
            <a:off x="127702" y="123059"/>
            <a:ext cx="1767265" cy="463296"/>
          </a:xfrm>
          <a:prstGeom prst="rect">
            <a:avLst/>
          </a:prstGeom>
          <a:noFill/>
          <a:ln>
            <a:noFill/>
          </a:ln>
        </p:spPr>
      </p:pic>
      <p:pic>
        <p:nvPicPr>
          <p:cNvPr id="12" name="Google Shape;12;p23"/>
          <p:cNvPicPr preferRelativeResize="0"/>
          <p:nvPr/>
        </p:nvPicPr>
        <p:blipFill rotWithShape="1">
          <a:blip r:embed="rId17">
            <a:alphaModFix/>
          </a:blip>
          <a:srcRect/>
          <a:stretch/>
        </p:blipFill>
        <p:spPr>
          <a:xfrm>
            <a:off x="0" y="6185836"/>
            <a:ext cx="12192000" cy="67216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38"/>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00" name="Google Shape;100;p38" descr="A blue text on a black background"/>
          <p:cNvPicPr preferRelativeResize="0"/>
          <p:nvPr/>
        </p:nvPicPr>
        <p:blipFill rotWithShape="1">
          <a:blip r:embed="rId18">
            <a:alphaModFix/>
          </a:blip>
          <a:srcRect/>
          <a:stretch/>
        </p:blipFill>
        <p:spPr>
          <a:xfrm>
            <a:off x="127702" y="123059"/>
            <a:ext cx="1767265" cy="463296"/>
          </a:xfrm>
          <a:prstGeom prst="rect">
            <a:avLst/>
          </a:prstGeom>
          <a:noFill/>
          <a:ln>
            <a:noFill/>
          </a:ln>
        </p:spPr>
      </p:pic>
      <p:pic>
        <p:nvPicPr>
          <p:cNvPr id="101" name="Google Shape;101;p38"/>
          <p:cNvPicPr preferRelativeResize="0"/>
          <p:nvPr/>
        </p:nvPicPr>
        <p:blipFill rotWithShape="1">
          <a:blip r:embed="rId19">
            <a:alphaModFix/>
          </a:blip>
          <a:srcRect/>
          <a:stretch/>
        </p:blipFill>
        <p:spPr>
          <a:xfrm>
            <a:off x="0" y="6185836"/>
            <a:ext cx="12192000" cy="67216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jpg"/><Relationship Id="rId5" Type="http://schemas.openxmlformats.org/officeDocument/2006/relationships/image" Target="../media/image13.gif"/><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hyperlink" Target="https://www.ysi.com/EXO2" TargetMode="External"/><Relationship Id="rId13" Type="http://schemas.openxmlformats.org/officeDocument/2006/relationships/hyperlink" Target="https://patents.google.com/patent/CN117446093B/en" TargetMode="External"/><Relationship Id="rId3" Type="http://schemas.openxmlformats.org/officeDocument/2006/relationships/slide" Target="slide12.xml"/><Relationship Id="rId7" Type="http://schemas.openxmlformats.org/officeDocument/2006/relationships/image" Target="../media/image17.jpg"/><Relationship Id="rId12" Type="http://schemas.openxmlformats.org/officeDocument/2006/relationships/hyperlink" Target="https://www.rshydro.co.uk/water-quality-monitoring-equipment/water-quality-testing-equipment/wastewater-samplers/portable-water-sampler/isco-6712-portable-waste-water-sampler/"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www.cseindia.org/cpcbs-real-time-water-quality-monitoring-4587" TargetMode="External"/><Relationship Id="rId11" Type="http://schemas.openxmlformats.org/officeDocument/2006/relationships/image" Target="../media/image19.jpg"/><Relationship Id="rId5" Type="http://schemas.openxmlformats.org/officeDocument/2006/relationships/hyperlink" Target="https://cpcb.nic.in/ngrba/WQM_overvew.php" TargetMode="External"/><Relationship Id="rId10" Type="http://schemas.openxmlformats.org/officeDocument/2006/relationships/hyperlink" Target="https://nexsens.com/products/data-buoys/cb-450" TargetMode="External"/><Relationship Id="rId4" Type="http://schemas.openxmlformats.org/officeDocument/2006/relationships/image" Target="../media/image16.jpg"/><Relationship Id="rId9" Type="http://schemas.openxmlformats.org/officeDocument/2006/relationships/image" Target="../media/image18.jpg"/><Relationship Id="rId14" Type="http://schemas.openxmlformats.org/officeDocument/2006/relationships/hyperlink" Target="https://patents.google.com/patent/US8352213"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www.rshydro.co.uk/water-quality-monitoring-equipment/water-quality-testing-equipment/wastewater-samplers/portable-water-sampler/isco-6712-portable-waste-water-sampler/" TargetMode="External"/><Relationship Id="rId3" Type="http://schemas.openxmlformats.org/officeDocument/2006/relationships/slide" Target="slide12.xml"/><Relationship Id="rId7" Type="http://schemas.openxmlformats.org/officeDocument/2006/relationships/hyperlink" Target="https://nexsens.com/products/data-buoys/cb-450"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ysi.com/EXO2" TargetMode="External"/><Relationship Id="rId5" Type="http://schemas.openxmlformats.org/officeDocument/2006/relationships/hyperlink" Target="https://www.cseindia.org/cpcbs-real-time-water-quality-monitoring-4587" TargetMode="External"/><Relationship Id="rId4" Type="http://schemas.openxmlformats.org/officeDocument/2006/relationships/hyperlink" Target="https://cpcb.nic.in/ngrba/WQM_overvew.php"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slide" Target="slide18.xml"/><Relationship Id="rId13" Type="http://schemas.openxmlformats.org/officeDocument/2006/relationships/hyperlink" Target="https://soham0777.github.io/AquaSentinel/dashboard/" TargetMode="External"/><Relationship Id="rId3" Type="http://schemas.openxmlformats.org/officeDocument/2006/relationships/slide" Target="slide13.xml"/><Relationship Id="rId7" Type="http://schemas.openxmlformats.org/officeDocument/2006/relationships/slide" Target="slide17.xml"/><Relationship Id="rId12" Type="http://schemas.openxmlformats.org/officeDocument/2006/relationships/hyperlink" Target="https://soham0777.github.io/AquaSentinel/viewer.html"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slide" Target="slide16.xml"/><Relationship Id="rId11" Type="http://schemas.openxmlformats.org/officeDocument/2006/relationships/slide" Target="slide21.xml"/><Relationship Id="rId5" Type="http://schemas.openxmlformats.org/officeDocument/2006/relationships/slide" Target="slide15.xml"/><Relationship Id="rId15" Type="http://schemas.openxmlformats.org/officeDocument/2006/relationships/slide" Target="slide9.xml"/><Relationship Id="rId10" Type="http://schemas.openxmlformats.org/officeDocument/2006/relationships/slide" Target="slide20.xml"/><Relationship Id="rId4" Type="http://schemas.openxmlformats.org/officeDocument/2006/relationships/slide" Target="slide14.xml"/><Relationship Id="rId9" Type="http://schemas.openxmlformats.org/officeDocument/2006/relationships/slide" Target="slide19.xml"/><Relationship Id="rId14" Type="http://schemas.openxmlformats.org/officeDocument/2006/relationships/hyperlink" Target="https://github.com/soham0777/AquaSentinel" TargetMode="External"/></Relationships>
</file>

<file path=ppt/slides/_rels/slide13.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slide" Target="slide12.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slide" Target="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
          <p:cNvSpPr txBox="1">
            <a:spLocks noGrp="1"/>
          </p:cNvSpPr>
          <p:nvPr>
            <p:ph type="title"/>
          </p:nvPr>
        </p:nvSpPr>
        <p:spPr>
          <a:xfrm>
            <a:off x="482600" y="1378466"/>
            <a:ext cx="5461000" cy="889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125A88"/>
              </a:buClr>
              <a:buSzPts val="5400"/>
              <a:buFont typeface="Calibri"/>
              <a:buNone/>
            </a:pPr>
            <a:r>
              <a:rPr lang="en-US" sz="5400" b="1">
                <a:solidFill>
                  <a:srgbClr val="125A88"/>
                </a:solidFill>
                <a:latin typeface="Calibri"/>
                <a:ea typeface="Calibri"/>
                <a:cs typeface="Calibri"/>
                <a:sym typeface="Calibri"/>
              </a:rPr>
              <a:t>AquaSentinel</a:t>
            </a:r>
            <a:endParaRPr sz="5400" b="1">
              <a:solidFill>
                <a:srgbClr val="125A88"/>
              </a:solidFill>
              <a:latin typeface="Calibri"/>
              <a:ea typeface="Calibri"/>
              <a:cs typeface="Calibri"/>
              <a:sym typeface="Calibri"/>
            </a:endParaRPr>
          </a:p>
        </p:txBody>
      </p:sp>
      <p:sp>
        <p:nvSpPr>
          <p:cNvPr id="195" name="Google Shape;195;p1"/>
          <p:cNvSpPr txBox="1"/>
          <p:nvPr/>
        </p:nvSpPr>
        <p:spPr>
          <a:xfrm>
            <a:off x="482600" y="824468"/>
            <a:ext cx="597290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AAKRUTI INNOVATION COMPETITION 2026  ·  INDIA SEMI-FINAL</a:t>
            </a:r>
            <a:endParaRPr sz="1400" b="1">
              <a:solidFill>
                <a:srgbClr val="1E2B36"/>
              </a:solidFill>
              <a:latin typeface="Calibri"/>
              <a:ea typeface="Calibri"/>
              <a:cs typeface="Calibri"/>
              <a:sym typeface="Calibri"/>
            </a:endParaRPr>
          </a:p>
        </p:txBody>
      </p:sp>
      <p:sp>
        <p:nvSpPr>
          <p:cNvPr id="196" name="Google Shape;196;p1"/>
          <p:cNvSpPr txBox="1"/>
          <p:nvPr/>
        </p:nvSpPr>
        <p:spPr>
          <a:xfrm>
            <a:off x="482600" y="2111272"/>
            <a:ext cx="546100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a:solidFill>
                  <a:srgbClr val="DA091C"/>
                </a:solidFill>
                <a:latin typeface="Calibri"/>
                <a:ea typeface="Calibri"/>
                <a:cs typeface="Calibri"/>
                <a:sym typeface="Calibri"/>
              </a:rPr>
              <a:t>Catches the spill that monthly sampling misses.</a:t>
            </a:r>
            <a:endParaRPr sz="2000" b="1">
              <a:solidFill>
                <a:srgbClr val="DA091C"/>
              </a:solidFill>
              <a:latin typeface="Calibri"/>
              <a:ea typeface="Calibri"/>
              <a:cs typeface="Calibri"/>
              <a:sym typeface="Calibri"/>
            </a:endParaRPr>
          </a:p>
        </p:txBody>
      </p:sp>
      <p:sp>
        <p:nvSpPr>
          <p:cNvPr id="197" name="Google Shape;197;p1"/>
          <p:cNvSpPr txBox="1"/>
          <p:nvPr/>
        </p:nvSpPr>
        <p:spPr>
          <a:xfrm>
            <a:off x="482600" y="2541536"/>
            <a:ext cx="533400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a:solidFill>
                  <a:srgbClr val="1E2B36"/>
                </a:solidFill>
                <a:latin typeface="Calibri"/>
                <a:ea typeface="Calibri"/>
                <a:cs typeface="Calibri"/>
                <a:sym typeface="Calibri"/>
              </a:rPr>
              <a:t>An autonomous river robot on a guide pole. It is designed to read the river every 15 minutes, decide on board, and when a spill passes, turn its beacon red, alert the water-works and bottle a sample for the lab.</a:t>
            </a:r>
            <a:endParaRPr sz="1400">
              <a:solidFill>
                <a:srgbClr val="1E2B36"/>
              </a:solidFill>
              <a:latin typeface="Calibri"/>
              <a:ea typeface="Calibri"/>
              <a:cs typeface="Calibri"/>
              <a:sym typeface="Calibri"/>
            </a:endParaRPr>
          </a:p>
        </p:txBody>
      </p:sp>
      <p:sp>
        <p:nvSpPr>
          <p:cNvPr id="198" name="Google Shape;198;p1"/>
          <p:cNvSpPr/>
          <p:nvPr/>
        </p:nvSpPr>
        <p:spPr>
          <a:xfrm>
            <a:off x="482600" y="4136740"/>
            <a:ext cx="1651000" cy="381000"/>
          </a:xfrm>
          <a:prstGeom prst="roundRect">
            <a:avLst>
              <a:gd name="adj" fmla="val 18000"/>
            </a:avLst>
          </a:prstGeom>
          <a:solidFill>
            <a:srgbClr val="125A8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100" b="1">
                <a:solidFill>
                  <a:srgbClr val="FFFFFF"/>
                </a:solidFill>
                <a:latin typeface="Calibri"/>
                <a:ea typeface="Calibri"/>
                <a:cs typeface="Calibri"/>
                <a:sym typeface="Calibri"/>
              </a:rPr>
              <a:t>SENSE  every 15 min</a:t>
            </a:r>
            <a:endParaRPr/>
          </a:p>
        </p:txBody>
      </p:sp>
      <p:sp>
        <p:nvSpPr>
          <p:cNvPr id="199" name="Google Shape;199;p1"/>
          <p:cNvSpPr/>
          <p:nvPr/>
        </p:nvSpPr>
        <p:spPr>
          <a:xfrm>
            <a:off x="2310423" y="4136740"/>
            <a:ext cx="1651000" cy="381000"/>
          </a:xfrm>
          <a:prstGeom prst="roundRect">
            <a:avLst>
              <a:gd name="adj" fmla="val 18000"/>
            </a:avLst>
          </a:prstGeom>
          <a:solidFill>
            <a:srgbClr val="125A8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100" b="1">
                <a:solidFill>
                  <a:srgbClr val="FFFFFF"/>
                </a:solidFill>
                <a:latin typeface="Calibri"/>
                <a:ea typeface="Calibri"/>
                <a:cs typeface="Calibri"/>
                <a:sym typeface="Calibri"/>
              </a:rPr>
              <a:t>THINK  on board</a:t>
            </a:r>
            <a:endParaRPr/>
          </a:p>
        </p:txBody>
      </p:sp>
      <p:sp>
        <p:nvSpPr>
          <p:cNvPr id="200" name="Google Shape;200;p1"/>
          <p:cNvSpPr/>
          <p:nvPr/>
        </p:nvSpPr>
        <p:spPr>
          <a:xfrm>
            <a:off x="4138246" y="4136740"/>
            <a:ext cx="1854200" cy="381000"/>
          </a:xfrm>
          <a:prstGeom prst="roundRect">
            <a:avLst>
              <a:gd name="adj" fmla="val 18000"/>
            </a:avLst>
          </a:prstGeom>
          <a:solidFill>
            <a:srgbClr val="DA091C"/>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100" b="1">
                <a:solidFill>
                  <a:srgbClr val="FFFFFF"/>
                </a:solidFill>
                <a:latin typeface="Calibri"/>
                <a:ea typeface="Calibri"/>
                <a:cs typeface="Calibri"/>
                <a:sym typeface="Calibri"/>
              </a:rPr>
              <a:t>ACT  beacon, alert, sample</a:t>
            </a:r>
            <a:endParaRPr/>
          </a:p>
        </p:txBody>
      </p:sp>
      <p:sp>
        <p:nvSpPr>
          <p:cNvPr id="201" name="Google Shape;201;p1"/>
          <p:cNvSpPr txBox="1"/>
          <p:nvPr/>
        </p:nvSpPr>
        <p:spPr>
          <a:xfrm>
            <a:off x="482600" y="5055775"/>
            <a:ext cx="4678485" cy="4814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rgbClr val="125A88"/>
                </a:solidFill>
                <a:latin typeface="Calibri"/>
                <a:ea typeface="Calibri"/>
                <a:cs typeface="Calibri"/>
                <a:sym typeface="Calibri"/>
              </a:rPr>
              <a:t>Team Sanjivani Hero's Journey</a:t>
            </a:r>
            <a:br>
              <a:rPr lang="en-US" sz="1400" b="1">
                <a:solidFill>
                  <a:srgbClr val="125A88"/>
                </a:solidFill>
                <a:latin typeface="Calibri"/>
                <a:ea typeface="Calibri"/>
                <a:cs typeface="Calibri"/>
                <a:sym typeface="Calibri"/>
              </a:rPr>
            </a:br>
            <a:r>
              <a:rPr lang="en-US" sz="1400" b="1">
                <a:solidFill>
                  <a:srgbClr val="125A88"/>
                </a:solidFill>
                <a:latin typeface="Calibri"/>
                <a:ea typeface="Calibri"/>
                <a:cs typeface="Calibri"/>
                <a:sym typeface="Calibri"/>
              </a:rPr>
              <a:t>Sanjivani University, Kopargaon  ·  AAKRUTI 2026  ·  Robotics  ·  AG26-1500$41</a:t>
            </a:r>
            <a:endParaRPr/>
          </a:p>
        </p:txBody>
      </p:sp>
      <p:sp>
        <p:nvSpPr>
          <p:cNvPr id="202" name="Google Shape;202;p1"/>
          <p:cNvSpPr/>
          <p:nvPr/>
        </p:nvSpPr>
        <p:spPr>
          <a:xfrm>
            <a:off x="6121400" y="1498600"/>
            <a:ext cx="5588000" cy="4445000"/>
          </a:xfrm>
          <a:prstGeom prst="roundRect">
            <a:avLst>
              <a:gd name="adj" fmla="val 5000"/>
            </a:avLst>
          </a:prstGeom>
          <a:blipFill rotWithShape="1">
            <a:blip r:embed="rId3">
              <a:alphaModFix/>
            </a:blip>
            <a:stretch>
              <a:fillRect/>
            </a:stretch>
          </a:blipFill>
          <a:ln>
            <a:noFill/>
          </a:ln>
          <a:effectLst>
            <a:outerShdw blurRad="228600" dist="76200" dir="5400000" rotWithShape="0">
              <a:srgbClr val="000000">
                <a:alpha val="2784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 name="Google Shape;203;p1"/>
          <p:cNvSpPr/>
          <p:nvPr/>
        </p:nvSpPr>
        <p:spPr>
          <a:xfrm>
            <a:off x="6273800" y="5537200"/>
            <a:ext cx="2413000" cy="279400"/>
          </a:xfrm>
          <a:prstGeom prst="roundRect">
            <a:avLst>
              <a:gd name="adj" fmla="val 18000"/>
            </a:avLst>
          </a:prstGeom>
          <a:solidFill>
            <a:srgbClr val="FFFFFF">
              <a:alpha val="85098"/>
            </a:srgbClr>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900">
                <a:solidFill>
                  <a:srgbClr val="1E2B36"/>
                </a:solidFill>
                <a:latin typeface="Calibri"/>
                <a:ea typeface="Calibri"/>
                <a:cs typeface="Calibri"/>
                <a:sym typeface="Calibri"/>
              </a:rPr>
              <a:t>Concept render of the R3 design</a:t>
            </a:r>
            <a:endParaRPr sz="900">
              <a:solidFill>
                <a:srgbClr val="1E2B36"/>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600"/>
                                        <p:tgtEl>
                                          <p:spTgt spid="202"/>
                                        </p:tgtEl>
                                      </p:cBhvr>
                                    </p:animEffect>
                                  </p:childTnLst>
                                </p:cTn>
                              </p:par>
                              <p:par>
                                <p:cTn id="8" presetID="10" presetClass="entr" presetSubtype="0" fill="hold" nodeType="withEffect">
                                  <p:stCondLst>
                                    <p:cond delay="0"/>
                                  </p:stCondLst>
                                  <p:childTnLst>
                                    <p:set>
                                      <p:cBhvr>
                                        <p:cTn id="9" dur="1" fill="hold">
                                          <p:stCondLst>
                                            <p:cond delay="0"/>
                                          </p:stCondLst>
                                        </p:cTn>
                                        <p:tgtEl>
                                          <p:spTgt spid="203"/>
                                        </p:tgtEl>
                                        <p:attrNameLst>
                                          <p:attrName>style.visibility</p:attrName>
                                        </p:attrNameLst>
                                      </p:cBhvr>
                                      <p:to>
                                        <p:strVal val="visible"/>
                                      </p:to>
                                    </p:set>
                                    <p:animEffect transition="in" filter="fade">
                                      <p:cBhvr>
                                        <p:cTn id="10" dur="600"/>
                                        <p:tgtEl>
                                          <p:spTgt spid="203"/>
                                        </p:tgtEl>
                                      </p:cBhvr>
                                    </p:animEffect>
                                  </p:childTnLst>
                                </p:cTn>
                              </p:par>
                            </p:childTnLst>
                          </p:cTn>
                        </p:par>
                        <p:par>
                          <p:cTn id="11" fill="hold">
                            <p:stCondLst>
                              <p:cond delay="600"/>
                            </p:stCondLst>
                            <p:childTnLst>
                              <p:par>
                                <p:cTn id="12" presetID="10" presetClass="entr" presetSubtype="0" fill="hold" nodeType="afterEffect">
                                  <p:stCondLst>
                                    <p:cond delay="0"/>
                                  </p:stCondLst>
                                  <p:childTnLst>
                                    <p:set>
                                      <p:cBhvr>
                                        <p:cTn id="13" dur="1" fill="hold">
                                          <p:stCondLst>
                                            <p:cond delay="0"/>
                                          </p:stCondLst>
                                        </p:cTn>
                                        <p:tgtEl>
                                          <p:spTgt spid="195"/>
                                        </p:tgtEl>
                                        <p:attrNameLst>
                                          <p:attrName>style.visibility</p:attrName>
                                        </p:attrNameLst>
                                      </p:cBhvr>
                                      <p:to>
                                        <p:strVal val="visible"/>
                                      </p:to>
                                    </p:set>
                                    <p:animEffect transition="in" filter="fade">
                                      <p:cBhvr>
                                        <p:cTn id="14" dur="300"/>
                                        <p:tgtEl>
                                          <p:spTgt spid="195"/>
                                        </p:tgtEl>
                                      </p:cBhvr>
                                    </p:animEffect>
                                  </p:childTnLst>
                                </p:cTn>
                              </p:par>
                            </p:childTnLst>
                          </p:cTn>
                        </p:par>
                        <p:par>
                          <p:cTn id="15" fill="hold">
                            <p:stCondLst>
                              <p:cond delay="900"/>
                            </p:stCondLst>
                            <p:childTnLst>
                              <p:par>
                                <p:cTn id="16" presetID="10" presetClass="entr" presetSubtype="0" fill="hold" nodeType="afterEffect">
                                  <p:stCondLst>
                                    <p:cond delay="0"/>
                                  </p:stCondLst>
                                  <p:childTnLst>
                                    <p:set>
                                      <p:cBhvr>
                                        <p:cTn id="17" dur="1" fill="hold">
                                          <p:stCondLst>
                                            <p:cond delay="0"/>
                                          </p:stCondLst>
                                        </p:cTn>
                                        <p:tgtEl>
                                          <p:spTgt spid="194"/>
                                        </p:tgtEl>
                                        <p:attrNameLst>
                                          <p:attrName>style.visibility</p:attrName>
                                        </p:attrNameLst>
                                      </p:cBhvr>
                                      <p:to>
                                        <p:strVal val="visible"/>
                                      </p:to>
                                    </p:set>
                                    <p:animEffect transition="in" filter="fade">
                                      <p:cBhvr>
                                        <p:cTn id="18" dur="400"/>
                                        <p:tgtEl>
                                          <p:spTgt spid="194"/>
                                        </p:tgtEl>
                                      </p:cBhvr>
                                    </p:animEffect>
                                  </p:childTnLst>
                                </p:cTn>
                              </p:par>
                            </p:childTnLst>
                          </p:cTn>
                        </p:par>
                        <p:par>
                          <p:cTn id="19" fill="hold">
                            <p:stCondLst>
                              <p:cond delay="1300"/>
                            </p:stCondLst>
                            <p:childTnLst>
                              <p:par>
                                <p:cTn id="20" presetID="10" presetClass="entr" presetSubtype="0" fill="hold" nodeType="afterEffect">
                                  <p:stCondLst>
                                    <p:cond delay="0"/>
                                  </p:stCondLst>
                                  <p:childTnLst>
                                    <p:set>
                                      <p:cBhvr>
                                        <p:cTn id="21" dur="1" fill="hold">
                                          <p:stCondLst>
                                            <p:cond delay="0"/>
                                          </p:stCondLst>
                                        </p:cTn>
                                        <p:tgtEl>
                                          <p:spTgt spid="196"/>
                                        </p:tgtEl>
                                        <p:attrNameLst>
                                          <p:attrName>style.visibility</p:attrName>
                                        </p:attrNameLst>
                                      </p:cBhvr>
                                      <p:to>
                                        <p:strVal val="visible"/>
                                      </p:to>
                                    </p:set>
                                    <p:animEffect transition="in" filter="fade">
                                      <p:cBhvr>
                                        <p:cTn id="22" dur="350"/>
                                        <p:tgtEl>
                                          <p:spTgt spid="196"/>
                                        </p:tgtEl>
                                      </p:cBhvr>
                                    </p:animEffect>
                                  </p:childTnLst>
                                </p:cTn>
                              </p:par>
                            </p:childTnLst>
                          </p:cTn>
                        </p:par>
                        <p:par>
                          <p:cTn id="23" fill="hold">
                            <p:stCondLst>
                              <p:cond delay="1650"/>
                            </p:stCondLst>
                            <p:childTnLst>
                              <p:par>
                                <p:cTn id="24" presetID="10" presetClass="entr" presetSubtype="0" fill="hold" nodeType="afterEffect">
                                  <p:stCondLst>
                                    <p:cond delay="0"/>
                                  </p:stCondLst>
                                  <p:childTnLst>
                                    <p:set>
                                      <p:cBhvr>
                                        <p:cTn id="25" dur="1" fill="hold">
                                          <p:stCondLst>
                                            <p:cond delay="0"/>
                                          </p:stCondLst>
                                        </p:cTn>
                                        <p:tgtEl>
                                          <p:spTgt spid="197"/>
                                        </p:tgtEl>
                                        <p:attrNameLst>
                                          <p:attrName>style.visibility</p:attrName>
                                        </p:attrNameLst>
                                      </p:cBhvr>
                                      <p:to>
                                        <p:strVal val="visible"/>
                                      </p:to>
                                    </p:set>
                                    <p:animEffect transition="in" filter="fade">
                                      <p:cBhvr>
                                        <p:cTn id="26" dur="350"/>
                                        <p:tgtEl>
                                          <p:spTgt spid="197"/>
                                        </p:tgtEl>
                                      </p:cBhvr>
                                    </p:animEffect>
                                  </p:childTnLst>
                                </p:cTn>
                              </p:par>
                            </p:childTnLst>
                          </p:cTn>
                        </p:par>
                        <p:par>
                          <p:cTn id="27" fill="hold">
                            <p:stCondLst>
                              <p:cond delay="2000"/>
                            </p:stCondLst>
                            <p:childTnLst>
                              <p:par>
                                <p:cTn id="28" presetID="10" presetClass="entr" presetSubtype="0" fill="hold" nodeType="afterEffect">
                                  <p:stCondLst>
                                    <p:cond delay="0"/>
                                  </p:stCondLst>
                                  <p:childTnLst>
                                    <p:set>
                                      <p:cBhvr>
                                        <p:cTn id="29" dur="1" fill="hold">
                                          <p:stCondLst>
                                            <p:cond delay="0"/>
                                          </p:stCondLst>
                                        </p:cTn>
                                        <p:tgtEl>
                                          <p:spTgt spid="198"/>
                                        </p:tgtEl>
                                        <p:attrNameLst>
                                          <p:attrName>style.visibility</p:attrName>
                                        </p:attrNameLst>
                                      </p:cBhvr>
                                      <p:to>
                                        <p:strVal val="visible"/>
                                      </p:to>
                                    </p:set>
                                    <p:animEffect transition="in" filter="fade">
                                      <p:cBhvr>
                                        <p:cTn id="30" dur="300"/>
                                        <p:tgtEl>
                                          <p:spTgt spid="198"/>
                                        </p:tgtEl>
                                      </p:cBhvr>
                                    </p:animEffect>
                                  </p:childTnLst>
                                </p:cTn>
                              </p:par>
                            </p:childTnLst>
                          </p:cTn>
                        </p:par>
                        <p:par>
                          <p:cTn id="31" fill="hold">
                            <p:stCondLst>
                              <p:cond delay="2300"/>
                            </p:stCondLst>
                            <p:childTnLst>
                              <p:par>
                                <p:cTn id="32" presetID="10" presetClass="entr" presetSubtype="0" fill="hold" nodeType="afterEffect">
                                  <p:stCondLst>
                                    <p:cond delay="0"/>
                                  </p:stCondLst>
                                  <p:childTnLst>
                                    <p:set>
                                      <p:cBhvr>
                                        <p:cTn id="33" dur="1" fill="hold">
                                          <p:stCondLst>
                                            <p:cond delay="0"/>
                                          </p:stCondLst>
                                        </p:cTn>
                                        <p:tgtEl>
                                          <p:spTgt spid="199"/>
                                        </p:tgtEl>
                                        <p:attrNameLst>
                                          <p:attrName>style.visibility</p:attrName>
                                        </p:attrNameLst>
                                      </p:cBhvr>
                                      <p:to>
                                        <p:strVal val="visible"/>
                                      </p:to>
                                    </p:set>
                                    <p:animEffect transition="in" filter="fade">
                                      <p:cBhvr>
                                        <p:cTn id="34" dur="300"/>
                                        <p:tgtEl>
                                          <p:spTgt spid="199"/>
                                        </p:tgtEl>
                                      </p:cBhvr>
                                    </p:animEffect>
                                  </p:childTnLst>
                                </p:cTn>
                              </p:par>
                            </p:childTnLst>
                          </p:cTn>
                        </p:par>
                        <p:par>
                          <p:cTn id="35" fill="hold">
                            <p:stCondLst>
                              <p:cond delay="2600"/>
                            </p:stCondLst>
                            <p:childTnLst>
                              <p:par>
                                <p:cTn id="36" presetID="10" presetClass="entr" presetSubtype="0" fill="hold" nodeType="afterEffect">
                                  <p:stCondLst>
                                    <p:cond delay="0"/>
                                  </p:stCondLst>
                                  <p:childTnLst>
                                    <p:set>
                                      <p:cBhvr>
                                        <p:cTn id="37" dur="1" fill="hold">
                                          <p:stCondLst>
                                            <p:cond delay="0"/>
                                          </p:stCondLst>
                                        </p:cTn>
                                        <p:tgtEl>
                                          <p:spTgt spid="200"/>
                                        </p:tgtEl>
                                        <p:attrNameLst>
                                          <p:attrName>style.visibility</p:attrName>
                                        </p:attrNameLst>
                                      </p:cBhvr>
                                      <p:to>
                                        <p:strVal val="visible"/>
                                      </p:to>
                                    </p:set>
                                    <p:animEffect transition="in" filter="fade">
                                      <p:cBhvr>
                                        <p:cTn id="38" dur="300"/>
                                        <p:tgtEl>
                                          <p:spTgt spid="200"/>
                                        </p:tgtEl>
                                      </p:cBhvr>
                                    </p:animEffect>
                                  </p:childTnLst>
                                </p:cTn>
                              </p:par>
                            </p:childTnLst>
                          </p:cTn>
                        </p:par>
                        <p:par>
                          <p:cTn id="39" fill="hold">
                            <p:stCondLst>
                              <p:cond delay="2900"/>
                            </p:stCondLst>
                            <p:childTnLst>
                              <p:par>
                                <p:cTn id="40" presetID="10" presetClass="entr" presetSubtype="0" fill="hold" nodeType="afterEffect">
                                  <p:stCondLst>
                                    <p:cond delay="0"/>
                                  </p:stCondLst>
                                  <p:childTnLst>
                                    <p:set>
                                      <p:cBhvr>
                                        <p:cTn id="41" dur="1" fill="hold">
                                          <p:stCondLst>
                                            <p:cond delay="0"/>
                                          </p:stCondLst>
                                        </p:cTn>
                                        <p:tgtEl>
                                          <p:spTgt spid="201"/>
                                        </p:tgtEl>
                                        <p:attrNameLst>
                                          <p:attrName>style.visibility</p:attrName>
                                        </p:attrNameLst>
                                      </p:cBhvr>
                                      <p:to>
                                        <p:strVal val="visible"/>
                                      </p:to>
                                    </p:set>
                                    <p:animEffect transition="in" filter="fade">
                                      <p:cBhvr>
                                        <p:cTn id="42" dur="35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A spill passes in hours; sampling is periodic</a:t>
            </a:r>
            <a:endParaRPr/>
          </a:p>
        </p:txBody>
      </p:sp>
      <p:pic>
        <p:nvPicPr>
          <p:cNvPr id="210" name="Google Shape;210;p2" descr="7ff9ac7b93.png"/>
          <p:cNvPicPr preferRelativeResize="0"/>
          <p:nvPr/>
        </p:nvPicPr>
        <p:blipFill rotWithShape="1">
          <a:blip r:embed="rId3">
            <a:alphaModFix/>
          </a:blip>
          <a:srcRect/>
          <a:stretch/>
        </p:blipFill>
        <p:spPr>
          <a:xfrm>
            <a:off x="484632" y="1645920"/>
            <a:ext cx="4572000" cy="4238277"/>
          </a:xfrm>
          <a:prstGeom prst="rect">
            <a:avLst/>
          </a:prstGeom>
          <a:noFill/>
          <a:ln>
            <a:noFill/>
          </a:ln>
        </p:spPr>
      </p:pic>
      <p:sp>
        <p:nvSpPr>
          <p:cNvPr id="211" name="Google Shape;211;p2"/>
          <p:cNvSpPr txBox="1"/>
          <p:nvPr/>
        </p:nvSpPr>
        <p:spPr>
          <a:xfrm>
            <a:off x="484632" y="5897880"/>
            <a:ext cx="4754880" cy="23774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000" b="0" i="0">
                <a:solidFill>
                  <a:srgbClr val="5B6B78"/>
                </a:solidFill>
                <a:latin typeface="Calibri"/>
                <a:ea typeface="Calibri"/>
                <a:cs typeface="Calibri"/>
                <a:sym typeface="Calibri"/>
              </a:rPr>
              <a:t>54 of 296: CPCB assessment published 2025 (2022–23 data; PIB, 16 Mar 2026).</a:t>
            </a:r>
            <a:endParaRPr/>
          </a:p>
        </p:txBody>
      </p:sp>
      <p:sp>
        <p:nvSpPr>
          <p:cNvPr id="212" name="Google Shape;212;p2"/>
          <p:cNvSpPr/>
          <p:nvPr/>
        </p:nvSpPr>
        <p:spPr>
          <a:xfrm>
            <a:off x="5394960" y="1645920"/>
            <a:ext cx="6309360" cy="118872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 name="Google Shape;213;p2"/>
          <p:cNvSpPr txBox="1"/>
          <p:nvPr/>
        </p:nvSpPr>
        <p:spPr>
          <a:xfrm>
            <a:off x="5577840" y="1645920"/>
            <a:ext cx="2560320" cy="1188720"/>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3400" b="1" i="0">
                <a:solidFill>
                  <a:srgbClr val="005686"/>
                </a:solidFill>
                <a:latin typeface="Calibri"/>
                <a:ea typeface="Calibri"/>
                <a:cs typeface="Calibri"/>
                <a:sym typeface="Calibri"/>
              </a:rPr>
              <a:t>54 of 296</a:t>
            </a:r>
            <a:endParaRPr/>
          </a:p>
        </p:txBody>
      </p:sp>
      <p:sp>
        <p:nvSpPr>
          <p:cNvPr id="214" name="Google Shape;214;p2"/>
          <p:cNvSpPr txBox="1"/>
          <p:nvPr/>
        </p:nvSpPr>
        <p:spPr>
          <a:xfrm>
            <a:off x="8183879" y="1645920"/>
            <a:ext cx="3383280" cy="1188720"/>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600" b="0" i="0">
                <a:solidFill>
                  <a:srgbClr val="1E2B36"/>
                </a:solidFill>
                <a:latin typeface="Calibri"/>
                <a:ea typeface="Calibri"/>
                <a:cs typeface="Calibri"/>
                <a:sym typeface="Calibri"/>
              </a:rPr>
              <a:t>polluted river stretches/locations in India are in Maharashtra, still the most of any state (CPCB, 2025)</a:t>
            </a:r>
            <a:endParaRPr/>
          </a:p>
        </p:txBody>
      </p:sp>
      <p:sp>
        <p:nvSpPr>
          <p:cNvPr id="215" name="Google Shape;215;p2"/>
          <p:cNvSpPr/>
          <p:nvPr/>
        </p:nvSpPr>
        <p:spPr>
          <a:xfrm>
            <a:off x="5394960" y="3035808"/>
            <a:ext cx="6309360" cy="118872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2"/>
          <p:cNvSpPr txBox="1"/>
          <p:nvPr/>
        </p:nvSpPr>
        <p:spPr>
          <a:xfrm>
            <a:off x="5577840" y="3035808"/>
            <a:ext cx="2560320" cy="1188720"/>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3400" b="1" i="0">
                <a:solidFill>
                  <a:srgbClr val="005686"/>
                </a:solidFill>
                <a:latin typeface="Calibri"/>
                <a:ea typeface="Calibri"/>
                <a:cs typeface="Calibri"/>
                <a:sym typeface="Calibri"/>
              </a:rPr>
              <a:t>Monthly or quarterly</a:t>
            </a:r>
            <a:endParaRPr/>
          </a:p>
        </p:txBody>
      </p:sp>
      <p:sp>
        <p:nvSpPr>
          <p:cNvPr id="217" name="Google Shape;217;p2"/>
          <p:cNvSpPr txBox="1"/>
          <p:nvPr/>
        </p:nvSpPr>
        <p:spPr>
          <a:xfrm>
            <a:off x="8183879" y="3035808"/>
            <a:ext cx="3383280" cy="1188720"/>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600" b="0" i="0">
                <a:solidFill>
                  <a:srgbClr val="1E2B36"/>
                </a:solidFill>
                <a:latin typeface="Calibri"/>
                <a:ea typeface="Calibri"/>
                <a:cs typeface="Calibri"/>
                <a:sym typeface="Calibri"/>
              </a:rPr>
              <a:t>manual grab samples at most national monitoring points (NWMP)</a:t>
            </a:r>
            <a:endParaRPr/>
          </a:p>
        </p:txBody>
      </p:sp>
      <p:sp>
        <p:nvSpPr>
          <p:cNvPr id="218" name="Google Shape;218;p2"/>
          <p:cNvSpPr/>
          <p:nvPr/>
        </p:nvSpPr>
        <p:spPr>
          <a:xfrm>
            <a:off x="5394960" y="4425696"/>
            <a:ext cx="6309360" cy="118872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2"/>
          <p:cNvSpPr txBox="1"/>
          <p:nvPr/>
        </p:nvSpPr>
        <p:spPr>
          <a:xfrm>
            <a:off x="5577840" y="4425696"/>
            <a:ext cx="2560320" cy="1188720"/>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3400" b="1" i="0">
                <a:solidFill>
                  <a:srgbClr val="DA091C"/>
                </a:solidFill>
                <a:latin typeface="Calibri"/>
                <a:ea typeface="Calibri"/>
                <a:cs typeface="Calibri"/>
                <a:sym typeface="Calibri"/>
              </a:rPr>
              <a:t>2:00 a.m.</a:t>
            </a:r>
            <a:endParaRPr/>
          </a:p>
        </p:txBody>
      </p:sp>
      <p:sp>
        <p:nvSpPr>
          <p:cNvPr id="220" name="Google Shape;220;p2"/>
          <p:cNvSpPr txBox="1"/>
          <p:nvPr/>
        </p:nvSpPr>
        <p:spPr>
          <a:xfrm>
            <a:off x="8183879" y="4425696"/>
            <a:ext cx="3383280" cy="1188720"/>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600" b="0" i="0">
                <a:solidFill>
                  <a:srgbClr val="1E2B36"/>
                </a:solidFill>
                <a:latin typeface="Calibri"/>
                <a:ea typeface="Calibri"/>
                <a:cs typeface="Calibri"/>
                <a:sym typeface="Calibri"/>
              </a:rPr>
              <a:t>a night-time discharge is gone long before the next sample</a:t>
            </a:r>
            <a:endParaRPr/>
          </a:p>
        </p:txBody>
      </p:sp>
      <p:sp>
        <p:nvSpPr>
          <p:cNvPr id="221" name="Google Shape;221;p2"/>
          <p:cNvSpPr txBox="1"/>
          <p:nvPr/>
        </p:nvSpPr>
        <p:spPr>
          <a:xfrm>
            <a:off x="5394960" y="5852160"/>
            <a:ext cx="6309360" cy="27432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200" b="0" i="0">
                <a:solidFill>
                  <a:srgbClr val="5B6B78"/>
                </a:solidFill>
                <a:latin typeface="Calibri"/>
                <a:ea typeface="Calibri"/>
                <a:cs typeface="Calibri"/>
                <a:sym typeface="Calibri"/>
              </a:rPr>
              <a:t>Team Sanjivani Hero's Journey · Sanjivani University, Kopargaon · AG26-1500$41 · Robotics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fade">
                                      <p:cBhvr>
                                        <p:cTn id="7" dur="500"/>
                                        <p:tgtEl>
                                          <p:spTgt spid="21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2"/>
                                        </p:tgtEl>
                                        <p:attrNameLst>
                                          <p:attrName>style.visibility</p:attrName>
                                        </p:attrNameLst>
                                      </p:cBhvr>
                                      <p:to>
                                        <p:strVal val="visible"/>
                                      </p:to>
                                    </p:set>
                                    <p:animEffect transition="in" filter="fade">
                                      <p:cBhvr>
                                        <p:cTn id="11" dur="350"/>
                                        <p:tgtEl>
                                          <p:spTgt spid="212"/>
                                        </p:tgtEl>
                                      </p:cBhvr>
                                    </p:animEffect>
                                  </p:childTnLst>
                                </p:cTn>
                              </p:par>
                              <p:par>
                                <p:cTn id="12" presetID="10" presetClass="entr" presetSubtype="0" fill="hold" nodeType="withEffect">
                                  <p:stCondLst>
                                    <p:cond delay="0"/>
                                  </p:stCondLst>
                                  <p:childTnLst>
                                    <p:set>
                                      <p:cBhvr>
                                        <p:cTn id="13" dur="1" fill="hold">
                                          <p:stCondLst>
                                            <p:cond delay="0"/>
                                          </p:stCondLst>
                                        </p:cTn>
                                        <p:tgtEl>
                                          <p:spTgt spid="213"/>
                                        </p:tgtEl>
                                        <p:attrNameLst>
                                          <p:attrName>style.visibility</p:attrName>
                                        </p:attrNameLst>
                                      </p:cBhvr>
                                      <p:to>
                                        <p:strVal val="visible"/>
                                      </p:to>
                                    </p:set>
                                    <p:animEffect transition="in" filter="fade">
                                      <p:cBhvr>
                                        <p:cTn id="14" dur="350"/>
                                        <p:tgtEl>
                                          <p:spTgt spid="213"/>
                                        </p:tgtEl>
                                      </p:cBhvr>
                                    </p:animEffect>
                                  </p:childTnLst>
                                </p:cTn>
                              </p:par>
                              <p:par>
                                <p:cTn id="15" presetID="10" presetClass="entr" presetSubtype="0" fill="hold" nodeType="withEffect">
                                  <p:stCondLst>
                                    <p:cond delay="0"/>
                                  </p:stCondLst>
                                  <p:childTnLst>
                                    <p:set>
                                      <p:cBhvr>
                                        <p:cTn id="16" dur="1" fill="hold">
                                          <p:stCondLst>
                                            <p:cond delay="0"/>
                                          </p:stCondLst>
                                        </p:cTn>
                                        <p:tgtEl>
                                          <p:spTgt spid="214"/>
                                        </p:tgtEl>
                                        <p:attrNameLst>
                                          <p:attrName>style.visibility</p:attrName>
                                        </p:attrNameLst>
                                      </p:cBhvr>
                                      <p:to>
                                        <p:strVal val="visible"/>
                                      </p:to>
                                    </p:set>
                                    <p:animEffect transition="in" filter="fade">
                                      <p:cBhvr>
                                        <p:cTn id="17" dur="350"/>
                                        <p:tgtEl>
                                          <p:spTgt spid="214"/>
                                        </p:tgtEl>
                                      </p:cBhvr>
                                    </p:animEffect>
                                  </p:childTnLst>
                                </p:cTn>
                              </p:par>
                            </p:childTnLst>
                          </p:cTn>
                        </p:par>
                        <p:par>
                          <p:cTn id="18" fill="hold">
                            <p:stCondLst>
                              <p:cond delay="850"/>
                            </p:stCondLst>
                            <p:childTnLst>
                              <p:par>
                                <p:cTn id="19" presetID="10" presetClass="entr" presetSubtype="0" fill="hold" nodeType="afterEffect">
                                  <p:stCondLst>
                                    <p:cond delay="0"/>
                                  </p:stCondLst>
                                  <p:childTnLst>
                                    <p:set>
                                      <p:cBhvr>
                                        <p:cTn id="20" dur="1" fill="hold">
                                          <p:stCondLst>
                                            <p:cond delay="0"/>
                                          </p:stCondLst>
                                        </p:cTn>
                                        <p:tgtEl>
                                          <p:spTgt spid="215"/>
                                        </p:tgtEl>
                                        <p:attrNameLst>
                                          <p:attrName>style.visibility</p:attrName>
                                        </p:attrNameLst>
                                      </p:cBhvr>
                                      <p:to>
                                        <p:strVal val="visible"/>
                                      </p:to>
                                    </p:set>
                                    <p:animEffect transition="in" filter="fade">
                                      <p:cBhvr>
                                        <p:cTn id="21" dur="350"/>
                                        <p:tgtEl>
                                          <p:spTgt spid="215"/>
                                        </p:tgtEl>
                                      </p:cBhvr>
                                    </p:animEffect>
                                  </p:childTnLst>
                                </p:cTn>
                              </p:par>
                              <p:par>
                                <p:cTn id="22" presetID="10" presetClass="entr" presetSubtype="0" fill="hold" nodeType="withEffect">
                                  <p:stCondLst>
                                    <p:cond delay="0"/>
                                  </p:stCondLst>
                                  <p:childTnLst>
                                    <p:set>
                                      <p:cBhvr>
                                        <p:cTn id="23" dur="1" fill="hold">
                                          <p:stCondLst>
                                            <p:cond delay="0"/>
                                          </p:stCondLst>
                                        </p:cTn>
                                        <p:tgtEl>
                                          <p:spTgt spid="216"/>
                                        </p:tgtEl>
                                        <p:attrNameLst>
                                          <p:attrName>style.visibility</p:attrName>
                                        </p:attrNameLst>
                                      </p:cBhvr>
                                      <p:to>
                                        <p:strVal val="visible"/>
                                      </p:to>
                                    </p:set>
                                    <p:animEffect transition="in" filter="fade">
                                      <p:cBhvr>
                                        <p:cTn id="24" dur="350"/>
                                        <p:tgtEl>
                                          <p:spTgt spid="216"/>
                                        </p:tgtEl>
                                      </p:cBhvr>
                                    </p:animEffect>
                                  </p:childTnLst>
                                </p:cTn>
                              </p:par>
                              <p:par>
                                <p:cTn id="25" presetID="10" presetClass="entr" presetSubtype="0" fill="hold" nodeType="withEffect">
                                  <p:stCondLst>
                                    <p:cond delay="0"/>
                                  </p:stCondLst>
                                  <p:childTnLst>
                                    <p:set>
                                      <p:cBhvr>
                                        <p:cTn id="26" dur="1" fill="hold">
                                          <p:stCondLst>
                                            <p:cond delay="0"/>
                                          </p:stCondLst>
                                        </p:cTn>
                                        <p:tgtEl>
                                          <p:spTgt spid="217"/>
                                        </p:tgtEl>
                                        <p:attrNameLst>
                                          <p:attrName>style.visibility</p:attrName>
                                        </p:attrNameLst>
                                      </p:cBhvr>
                                      <p:to>
                                        <p:strVal val="visible"/>
                                      </p:to>
                                    </p:set>
                                    <p:animEffect transition="in" filter="fade">
                                      <p:cBhvr>
                                        <p:cTn id="27" dur="350"/>
                                        <p:tgtEl>
                                          <p:spTgt spid="217"/>
                                        </p:tgtEl>
                                      </p:cBhvr>
                                    </p:animEffect>
                                  </p:childTnLst>
                                </p:cTn>
                              </p:par>
                            </p:childTnLst>
                          </p:cTn>
                        </p:par>
                        <p:par>
                          <p:cTn id="28" fill="hold">
                            <p:stCondLst>
                              <p:cond delay="1200"/>
                            </p:stCondLst>
                            <p:childTnLst>
                              <p:par>
                                <p:cTn id="29" presetID="10" presetClass="entr" presetSubtype="0" fill="hold" nodeType="afterEffect">
                                  <p:stCondLst>
                                    <p:cond delay="0"/>
                                  </p:stCondLst>
                                  <p:childTnLst>
                                    <p:set>
                                      <p:cBhvr>
                                        <p:cTn id="30" dur="1" fill="hold">
                                          <p:stCondLst>
                                            <p:cond delay="0"/>
                                          </p:stCondLst>
                                        </p:cTn>
                                        <p:tgtEl>
                                          <p:spTgt spid="218"/>
                                        </p:tgtEl>
                                        <p:attrNameLst>
                                          <p:attrName>style.visibility</p:attrName>
                                        </p:attrNameLst>
                                      </p:cBhvr>
                                      <p:to>
                                        <p:strVal val="visible"/>
                                      </p:to>
                                    </p:set>
                                    <p:animEffect transition="in" filter="fade">
                                      <p:cBhvr>
                                        <p:cTn id="31" dur="350"/>
                                        <p:tgtEl>
                                          <p:spTgt spid="218"/>
                                        </p:tgtEl>
                                      </p:cBhvr>
                                    </p:animEffect>
                                  </p:childTnLst>
                                </p:cTn>
                              </p:par>
                              <p:par>
                                <p:cTn id="32" presetID="10" presetClass="entr" presetSubtype="0" fill="hold" nodeType="withEffect">
                                  <p:stCondLst>
                                    <p:cond delay="0"/>
                                  </p:stCondLst>
                                  <p:childTnLst>
                                    <p:set>
                                      <p:cBhvr>
                                        <p:cTn id="33" dur="1" fill="hold">
                                          <p:stCondLst>
                                            <p:cond delay="0"/>
                                          </p:stCondLst>
                                        </p:cTn>
                                        <p:tgtEl>
                                          <p:spTgt spid="219"/>
                                        </p:tgtEl>
                                        <p:attrNameLst>
                                          <p:attrName>style.visibility</p:attrName>
                                        </p:attrNameLst>
                                      </p:cBhvr>
                                      <p:to>
                                        <p:strVal val="visible"/>
                                      </p:to>
                                    </p:set>
                                    <p:animEffect transition="in" filter="fade">
                                      <p:cBhvr>
                                        <p:cTn id="34" dur="350"/>
                                        <p:tgtEl>
                                          <p:spTgt spid="219"/>
                                        </p:tgtEl>
                                      </p:cBhvr>
                                    </p:animEffect>
                                  </p:childTnLst>
                                </p:cTn>
                              </p:par>
                              <p:par>
                                <p:cTn id="35" presetID="10" presetClass="entr" presetSubtype="0" fill="hold" nodeType="withEffect">
                                  <p:stCondLst>
                                    <p:cond delay="0"/>
                                  </p:stCondLst>
                                  <p:childTnLst>
                                    <p:set>
                                      <p:cBhvr>
                                        <p:cTn id="36" dur="1" fill="hold">
                                          <p:stCondLst>
                                            <p:cond delay="0"/>
                                          </p:stCondLst>
                                        </p:cTn>
                                        <p:tgtEl>
                                          <p:spTgt spid="220"/>
                                        </p:tgtEl>
                                        <p:attrNameLst>
                                          <p:attrName>style.visibility</p:attrName>
                                        </p:attrNameLst>
                                      </p:cBhvr>
                                      <p:to>
                                        <p:strVal val="visible"/>
                                      </p:to>
                                    </p:set>
                                    <p:animEffect transition="in" filter="fade">
                                      <p:cBhvr>
                                        <p:cTn id="37" dur="35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dirty="0">
                <a:solidFill>
                  <a:srgbClr val="125A88"/>
                </a:solidFill>
                <a:latin typeface="Calibri"/>
                <a:ea typeface="Calibri"/>
                <a:cs typeface="Calibri"/>
                <a:sym typeface="Calibri"/>
              </a:rPr>
              <a:t>An autonomous river robot: sense, think, act</a:t>
            </a:r>
            <a:endParaRPr dirty="0"/>
          </a:p>
        </p:txBody>
      </p:sp>
      <p:sp>
        <p:nvSpPr>
          <p:cNvPr id="238" name="Google Shape;238;p4"/>
          <p:cNvSpPr/>
          <p:nvPr/>
        </p:nvSpPr>
        <p:spPr>
          <a:xfrm>
            <a:off x="484632" y="1645920"/>
            <a:ext cx="3557016" cy="160020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 name="Google Shape;239;p4"/>
          <p:cNvSpPr/>
          <p:nvPr/>
        </p:nvSpPr>
        <p:spPr>
          <a:xfrm>
            <a:off x="667512" y="1801368"/>
            <a:ext cx="457200" cy="457200"/>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600" b="1" i="0">
                <a:solidFill>
                  <a:srgbClr val="FFFFFF"/>
                </a:solidFill>
                <a:latin typeface="Calibri"/>
                <a:ea typeface="Calibri"/>
                <a:cs typeface="Calibri"/>
                <a:sym typeface="Calibri"/>
              </a:rPr>
              <a:t>1</a:t>
            </a:r>
            <a:endParaRPr/>
          </a:p>
        </p:txBody>
      </p:sp>
      <p:sp>
        <p:nvSpPr>
          <p:cNvPr id="240" name="Google Shape;240;p4"/>
          <p:cNvSpPr txBox="1"/>
          <p:nvPr/>
        </p:nvSpPr>
        <p:spPr>
          <a:xfrm>
            <a:off x="1261872" y="1801368"/>
            <a:ext cx="2642616" cy="457200"/>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2000" b="1" i="0">
                <a:solidFill>
                  <a:srgbClr val="005686"/>
                </a:solidFill>
                <a:latin typeface="Calibri"/>
                <a:ea typeface="Calibri"/>
                <a:cs typeface="Calibri"/>
                <a:sym typeface="Calibri"/>
              </a:rPr>
              <a:t>SENSE</a:t>
            </a:r>
            <a:endParaRPr/>
          </a:p>
        </p:txBody>
      </p:sp>
      <p:sp>
        <p:nvSpPr>
          <p:cNvPr id="241" name="Google Shape;241;p4"/>
          <p:cNvSpPr txBox="1"/>
          <p:nvPr/>
        </p:nvSpPr>
        <p:spPr>
          <a:xfrm>
            <a:off x="667512" y="2359152"/>
            <a:ext cx="3191256" cy="84124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0" i="0">
                <a:solidFill>
                  <a:srgbClr val="1E2B36"/>
                </a:solidFill>
                <a:latin typeface="Calibri"/>
                <a:ea typeface="Calibri"/>
                <a:cs typeface="Calibri"/>
                <a:sym typeface="Calibri"/>
              </a:rPr>
              <a:t>pH, conductivity, dissolved oxygen, turbidity, temperature and river level</a:t>
            </a:r>
            <a:endParaRPr/>
          </a:p>
        </p:txBody>
      </p:sp>
      <p:sp>
        <p:nvSpPr>
          <p:cNvPr id="242" name="Google Shape;242;p4"/>
          <p:cNvSpPr/>
          <p:nvPr/>
        </p:nvSpPr>
        <p:spPr>
          <a:xfrm>
            <a:off x="4315968" y="1645920"/>
            <a:ext cx="3557016" cy="160020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3" name="Google Shape;243;p4"/>
          <p:cNvSpPr/>
          <p:nvPr/>
        </p:nvSpPr>
        <p:spPr>
          <a:xfrm>
            <a:off x="4498848" y="1801368"/>
            <a:ext cx="457200" cy="457200"/>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600" b="1" i="0">
                <a:solidFill>
                  <a:srgbClr val="FFFFFF"/>
                </a:solidFill>
                <a:latin typeface="Calibri"/>
                <a:ea typeface="Calibri"/>
                <a:cs typeface="Calibri"/>
                <a:sym typeface="Calibri"/>
              </a:rPr>
              <a:t>2</a:t>
            </a:r>
            <a:endParaRPr/>
          </a:p>
        </p:txBody>
      </p:sp>
      <p:sp>
        <p:nvSpPr>
          <p:cNvPr id="244" name="Google Shape;244;p4"/>
          <p:cNvSpPr txBox="1"/>
          <p:nvPr/>
        </p:nvSpPr>
        <p:spPr>
          <a:xfrm>
            <a:off x="5093208" y="1801368"/>
            <a:ext cx="2642616" cy="457200"/>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2000" b="1" i="0">
                <a:solidFill>
                  <a:srgbClr val="005686"/>
                </a:solidFill>
                <a:latin typeface="Calibri"/>
                <a:ea typeface="Calibri"/>
                <a:cs typeface="Calibri"/>
                <a:sym typeface="Calibri"/>
              </a:rPr>
              <a:t>THINK</a:t>
            </a:r>
            <a:endParaRPr/>
          </a:p>
        </p:txBody>
      </p:sp>
      <p:sp>
        <p:nvSpPr>
          <p:cNvPr id="245" name="Google Shape;245;p4"/>
          <p:cNvSpPr txBox="1"/>
          <p:nvPr/>
        </p:nvSpPr>
        <p:spPr>
          <a:xfrm>
            <a:off x="4498848" y="2359152"/>
            <a:ext cx="3191256" cy="84124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0" i="0">
                <a:solidFill>
                  <a:srgbClr val="1E2B36"/>
                </a:solidFill>
                <a:latin typeface="Calibri"/>
                <a:ea typeface="Calibri"/>
                <a:cs typeface="Calibri"/>
                <a:sym typeface="Calibri"/>
              </a:rPr>
              <a:t>An ESP32 on board decides every 15 minutes, with no cloud needed</a:t>
            </a:r>
            <a:endParaRPr/>
          </a:p>
        </p:txBody>
      </p:sp>
      <p:sp>
        <p:nvSpPr>
          <p:cNvPr id="246" name="Google Shape;246;p4"/>
          <p:cNvSpPr/>
          <p:nvPr/>
        </p:nvSpPr>
        <p:spPr>
          <a:xfrm>
            <a:off x="8147304" y="1645920"/>
            <a:ext cx="3557016" cy="160020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 name="Google Shape;247;p4"/>
          <p:cNvSpPr/>
          <p:nvPr/>
        </p:nvSpPr>
        <p:spPr>
          <a:xfrm>
            <a:off x="8330183" y="1801368"/>
            <a:ext cx="457200" cy="457200"/>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600" b="1" i="0">
                <a:solidFill>
                  <a:srgbClr val="FFFFFF"/>
                </a:solidFill>
                <a:latin typeface="Calibri"/>
                <a:ea typeface="Calibri"/>
                <a:cs typeface="Calibri"/>
                <a:sym typeface="Calibri"/>
              </a:rPr>
              <a:t>3</a:t>
            </a:r>
            <a:endParaRPr/>
          </a:p>
        </p:txBody>
      </p:sp>
      <p:sp>
        <p:nvSpPr>
          <p:cNvPr id="248" name="Google Shape;248;p4"/>
          <p:cNvSpPr txBox="1"/>
          <p:nvPr/>
        </p:nvSpPr>
        <p:spPr>
          <a:xfrm>
            <a:off x="8924544" y="1801368"/>
            <a:ext cx="2642616" cy="457200"/>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2000" b="1" i="0">
                <a:solidFill>
                  <a:srgbClr val="005686"/>
                </a:solidFill>
                <a:latin typeface="Calibri"/>
                <a:ea typeface="Calibri"/>
                <a:cs typeface="Calibri"/>
                <a:sym typeface="Calibri"/>
              </a:rPr>
              <a:t>ACT</a:t>
            </a:r>
            <a:endParaRPr/>
          </a:p>
        </p:txBody>
      </p:sp>
      <p:sp>
        <p:nvSpPr>
          <p:cNvPr id="249" name="Google Shape;249;p4"/>
          <p:cNvSpPr txBox="1"/>
          <p:nvPr/>
        </p:nvSpPr>
        <p:spPr>
          <a:xfrm>
            <a:off x="8330183" y="2359152"/>
            <a:ext cx="3191256" cy="84124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0" i="0">
                <a:solidFill>
                  <a:srgbClr val="1E2B36"/>
                </a:solidFill>
                <a:latin typeface="Calibri"/>
                <a:ea typeface="Calibri"/>
                <a:cs typeface="Calibri"/>
                <a:sym typeface="Calibri"/>
              </a:rPr>
              <a:t>Beacon, LTE alert, and a pump, valve and 4-bottle carousel take a sample</a:t>
            </a:r>
            <a:endParaRPr/>
          </a:p>
        </p:txBody>
      </p:sp>
      <p:graphicFrame>
        <p:nvGraphicFramePr>
          <p:cNvPr id="250" name="Google Shape;250;p4"/>
          <p:cNvGraphicFramePr/>
          <p:nvPr/>
        </p:nvGraphicFramePr>
        <p:xfrm>
          <a:off x="484632" y="3493008"/>
          <a:ext cx="11219700" cy="2478050"/>
        </p:xfrm>
        <a:graphic>
          <a:graphicData uri="http://schemas.openxmlformats.org/drawingml/2006/table">
            <a:tbl>
              <a:tblPr firstRow="1">
                <a:noFill/>
                <a:tableStyleId>{A42D2ACD-31DC-41B1-94D3-554865B21F35}</a:tableStyleId>
              </a:tblPr>
              <a:tblGrid>
                <a:gridCol w="3246125">
                  <a:extLst>
                    <a:ext uri="{9D8B030D-6E8A-4147-A177-3AD203B41FA5}">
                      <a16:colId xmlns:a16="http://schemas.microsoft.com/office/drawing/2014/main" val="20000"/>
                    </a:ext>
                  </a:extLst>
                </a:gridCol>
                <a:gridCol w="3703325">
                  <a:extLst>
                    <a:ext uri="{9D8B030D-6E8A-4147-A177-3AD203B41FA5}">
                      <a16:colId xmlns:a16="http://schemas.microsoft.com/office/drawing/2014/main" val="20001"/>
                    </a:ext>
                  </a:extLst>
                </a:gridCol>
                <a:gridCol w="4270250">
                  <a:extLst>
                    <a:ext uri="{9D8B030D-6E8A-4147-A177-3AD203B41FA5}">
                      <a16:colId xmlns:a16="http://schemas.microsoft.com/office/drawing/2014/main" val="20002"/>
                    </a:ext>
                  </a:extLst>
                </a:gridCol>
              </a:tblGrid>
              <a:tr h="393200">
                <a:tc>
                  <a:txBody>
                    <a:bodyPr/>
                    <a:lstStyle/>
                    <a:p>
                      <a:pPr marL="0" marR="0" lvl="0" indent="0" algn="l" rtl="0">
                        <a:spcBef>
                          <a:spcPts val="0"/>
                        </a:spcBef>
                        <a:spcAft>
                          <a:spcPts val="0"/>
                        </a:spcAft>
                        <a:buNone/>
                      </a:pPr>
                      <a:r>
                        <a:rPr lang="en-US" sz="1500" b="1" i="0" u="none" strike="noStrike" cap="none">
                          <a:solidFill>
                            <a:srgbClr val="FFFFFF"/>
                          </a:solidFill>
                          <a:latin typeface="Calibri"/>
                          <a:ea typeface="Calibri"/>
                          <a:cs typeface="Calibri"/>
                          <a:sym typeface="Calibri"/>
                        </a:rPr>
                        <a:t>Objective</a:t>
                      </a:r>
                      <a:endParaRPr/>
                    </a:p>
                  </a:txBody>
                  <a:tcPr marL="73150" marR="73150" marT="27425" marB="27425" anchor="ctr">
                    <a:solidFill>
                      <a:srgbClr val="005686"/>
                    </a:solidFill>
                  </a:tcPr>
                </a:tc>
                <a:tc>
                  <a:txBody>
                    <a:bodyPr/>
                    <a:lstStyle/>
                    <a:p>
                      <a:pPr marL="0" marR="0" lvl="0" indent="0" algn="l" rtl="0">
                        <a:spcBef>
                          <a:spcPts val="0"/>
                        </a:spcBef>
                        <a:spcAft>
                          <a:spcPts val="0"/>
                        </a:spcAft>
                        <a:buNone/>
                      </a:pPr>
                      <a:r>
                        <a:rPr lang="en-US" sz="1500" b="1" i="0" u="none" strike="noStrike" cap="none">
                          <a:solidFill>
                            <a:srgbClr val="FFFFFF"/>
                          </a:solidFill>
                          <a:latin typeface="Calibri"/>
                          <a:ea typeface="Calibri"/>
                          <a:cs typeface="Calibri"/>
                          <a:sym typeface="Calibri"/>
                        </a:rPr>
                        <a:t>Target</a:t>
                      </a:r>
                      <a:endParaRPr/>
                    </a:p>
                  </a:txBody>
                  <a:tcPr marL="73150" marR="73150" marT="27425" marB="27425" anchor="ctr">
                    <a:solidFill>
                      <a:srgbClr val="005686"/>
                    </a:solidFill>
                  </a:tcPr>
                </a:tc>
                <a:tc>
                  <a:txBody>
                    <a:bodyPr/>
                    <a:lstStyle/>
                    <a:p>
                      <a:pPr marL="0" marR="0" lvl="0" indent="0" algn="l" rtl="0">
                        <a:spcBef>
                          <a:spcPts val="0"/>
                        </a:spcBef>
                        <a:spcAft>
                          <a:spcPts val="0"/>
                        </a:spcAft>
                        <a:buNone/>
                      </a:pPr>
                      <a:r>
                        <a:rPr lang="en-US" sz="1500" b="1" i="0" u="none" strike="noStrike" cap="none">
                          <a:solidFill>
                            <a:srgbClr val="FFFFFF"/>
                          </a:solidFill>
                          <a:latin typeface="Calibri"/>
                          <a:ea typeface="Calibri"/>
                          <a:cs typeface="Calibri"/>
                          <a:sym typeface="Calibri"/>
                        </a:rPr>
                        <a:t>Status</a:t>
                      </a:r>
                      <a:endParaRPr/>
                    </a:p>
                  </a:txBody>
                  <a:tcPr marL="73150" marR="73150" marT="27425" marB="27425" anchor="ctr">
                    <a:solidFill>
                      <a:srgbClr val="005686"/>
                    </a:solidFill>
                  </a:tcPr>
                </a:tc>
                <a:extLst>
                  <a:ext uri="{0D108BD9-81ED-4DB2-BD59-A6C34878D82A}">
                    <a16:rowId xmlns:a16="http://schemas.microsoft.com/office/drawing/2014/main" val="10000"/>
                  </a:ext>
                </a:extLst>
              </a:tr>
              <a:tr h="393200">
                <a:tc>
                  <a:txBody>
                    <a:bodyPr/>
                    <a:lstStyle/>
                    <a:p>
                      <a:pPr marL="0" marR="0" lvl="0" indent="0" algn="l" rtl="0">
                        <a:spcBef>
                          <a:spcPts val="0"/>
                        </a:spcBef>
                        <a:spcAft>
                          <a:spcPts val="0"/>
                        </a:spcAft>
                        <a:buNone/>
                      </a:pPr>
                      <a:r>
                        <a:rPr lang="en-US" sz="1500" b="1" i="0" u="none" strike="noStrike" cap="none">
                          <a:solidFill>
                            <a:srgbClr val="1E2B36"/>
                          </a:solidFill>
                          <a:latin typeface="Calibri"/>
                          <a:ea typeface="Calibri"/>
                          <a:cs typeface="Calibri"/>
                          <a:sym typeface="Calibri"/>
                        </a:rPr>
                        <a:t>Detect a spill</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500" b="0" i="0" u="none" strike="noStrike" cap="none">
                          <a:solidFill>
                            <a:srgbClr val="1E2B36"/>
                          </a:solidFill>
                          <a:latin typeface="Calibri"/>
                          <a:ea typeface="Calibri"/>
                          <a:cs typeface="Calibri"/>
                          <a:sym typeface="Calibri"/>
                        </a:rPr>
                        <a:t>flagged within 30 min</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500" b="0" i="0" u="none" strike="noStrike" cap="none">
                          <a:solidFill>
                            <a:srgbClr val="1B7F3B"/>
                          </a:solidFill>
                          <a:latin typeface="Quattrocento Sans"/>
                          <a:ea typeface="Quattrocento Sans"/>
                          <a:cs typeface="Quattrocento Sans"/>
                          <a:sym typeface="Quattrocento Sans"/>
                        </a:rPr>
                        <a:t>● shown on synthetic data only</a:t>
                      </a:r>
                      <a:endParaRPr/>
                    </a:p>
                  </a:txBody>
                  <a:tcPr marL="73150" marR="73150" marT="27425" marB="27425" anchor="ctr">
                    <a:solidFill>
                      <a:srgbClr val="FFFFFF"/>
                    </a:solidFill>
                  </a:tcPr>
                </a:tc>
                <a:extLst>
                  <a:ext uri="{0D108BD9-81ED-4DB2-BD59-A6C34878D82A}">
                    <a16:rowId xmlns:a16="http://schemas.microsoft.com/office/drawing/2014/main" val="10001"/>
                  </a:ext>
                </a:extLst>
              </a:tr>
              <a:tr h="393200">
                <a:tc>
                  <a:txBody>
                    <a:bodyPr/>
                    <a:lstStyle/>
                    <a:p>
                      <a:pPr marL="0" marR="0" lvl="0" indent="0" algn="l" rtl="0">
                        <a:spcBef>
                          <a:spcPts val="0"/>
                        </a:spcBef>
                        <a:spcAft>
                          <a:spcPts val="0"/>
                        </a:spcAft>
                        <a:buNone/>
                      </a:pPr>
                      <a:r>
                        <a:rPr lang="en-US" sz="1500" b="1" i="0" u="none" strike="noStrike" cap="none">
                          <a:solidFill>
                            <a:srgbClr val="1E2B36"/>
                          </a:solidFill>
                          <a:latin typeface="Calibri"/>
                          <a:ea typeface="Calibri"/>
                          <a:cs typeface="Calibri"/>
                          <a:sym typeface="Calibri"/>
                        </a:rPr>
                        <a:t>Keep station, no drive motor</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500" b="0" i="0" u="none" strike="noStrike" cap="none">
                          <a:solidFill>
                            <a:srgbClr val="1E2B36"/>
                          </a:solidFill>
                          <a:latin typeface="Calibri"/>
                          <a:ea typeface="Calibri"/>
                          <a:cs typeface="Calibri"/>
                          <a:sym typeface="Calibri"/>
                        </a:rPr>
                        <a:t>ride 2 m of river rise</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500" b="0" i="0" u="none" strike="noStrike" cap="none">
                          <a:solidFill>
                            <a:srgbClr val="A85C00"/>
                          </a:solidFill>
                          <a:latin typeface="Quattrocento Sans"/>
                          <a:ea typeface="Quattrocento Sans"/>
                          <a:cs typeface="Quattrocento Sans"/>
                          <a:sym typeface="Quattrocento Sans"/>
                        </a:rPr>
                        <a:t>● </a:t>
                      </a:r>
                      <a:r>
                        <a:rPr lang="en-US" sz="1500" b="0" i="0" u="none" strike="noStrike" cap="none">
                          <a:solidFill>
                            <a:srgbClr val="1E2B36"/>
                          </a:solidFill>
                          <a:latin typeface="Calibri"/>
                          <a:ea typeface="Calibri"/>
                          <a:cs typeface="Calibri"/>
                          <a:sym typeface="Calibri"/>
                        </a:rPr>
                        <a:t>calculated · 1:5 model next, then tank test</a:t>
                      </a:r>
                      <a:endParaRPr/>
                    </a:p>
                  </a:txBody>
                  <a:tcPr marL="73150" marR="73150" marT="27425" marB="27425" anchor="ctr">
                    <a:solidFill>
                      <a:srgbClr val="EAF3F8"/>
                    </a:solidFill>
                  </a:tcPr>
                </a:tc>
                <a:extLst>
                  <a:ext uri="{0D108BD9-81ED-4DB2-BD59-A6C34878D82A}">
                    <a16:rowId xmlns:a16="http://schemas.microsoft.com/office/drawing/2014/main" val="10002"/>
                  </a:ext>
                </a:extLst>
              </a:tr>
              <a:tr h="393200">
                <a:tc>
                  <a:txBody>
                    <a:bodyPr/>
                    <a:lstStyle/>
                    <a:p>
                      <a:pPr marL="0" marR="0" lvl="0" indent="0" algn="l" rtl="0">
                        <a:spcBef>
                          <a:spcPts val="0"/>
                        </a:spcBef>
                        <a:spcAft>
                          <a:spcPts val="0"/>
                        </a:spcAft>
                        <a:buNone/>
                      </a:pPr>
                      <a:r>
                        <a:rPr lang="en-US" sz="1500" b="1" i="0" u="none" strike="noStrike" cap="none">
                          <a:solidFill>
                            <a:srgbClr val="1E2B36"/>
                          </a:solidFill>
                          <a:latin typeface="Calibri"/>
                          <a:ea typeface="Calibri"/>
                          <a:cs typeface="Calibri"/>
                          <a:sym typeface="Calibri"/>
                        </a:rPr>
                        <a:t>Survive a flood</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500" b="0" i="0" u="none" strike="noStrike" cap="none">
                          <a:solidFill>
                            <a:srgbClr val="1E2B36"/>
                          </a:solidFill>
                          <a:latin typeface="Calibri"/>
                          <a:ea typeface="Calibri"/>
                          <a:cs typeface="Calibri"/>
                          <a:sym typeface="Calibri"/>
                        </a:rPr>
                        <a:t>1.5 m/s current + 500 N debris</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500" b="0" i="0" u="none" strike="noStrike" cap="none">
                          <a:solidFill>
                            <a:srgbClr val="1B7F3B"/>
                          </a:solidFill>
                          <a:latin typeface="Quattrocento Sans"/>
                          <a:ea typeface="Quattrocento Sans"/>
                          <a:cs typeface="Quattrocento Sans"/>
                          <a:sym typeface="Quattrocento Sans"/>
                        </a:rPr>
                        <a:t>● static case calculated · impact and anchors to verify</a:t>
                      </a:r>
                      <a:endParaRPr/>
                    </a:p>
                  </a:txBody>
                  <a:tcPr marL="73150" marR="73150" marT="27425" marB="27425" anchor="ctr">
                    <a:solidFill>
                      <a:srgbClr val="FFFFFF"/>
                    </a:solidFill>
                  </a:tcPr>
                </a:tc>
                <a:extLst>
                  <a:ext uri="{0D108BD9-81ED-4DB2-BD59-A6C34878D82A}">
                    <a16:rowId xmlns:a16="http://schemas.microsoft.com/office/drawing/2014/main" val="10003"/>
                  </a:ext>
                </a:extLst>
              </a:tr>
              <a:tr h="393200">
                <a:tc>
                  <a:txBody>
                    <a:bodyPr/>
                    <a:lstStyle/>
                    <a:p>
                      <a:pPr marL="0" marR="0" lvl="0" indent="0" algn="l" rtl="0">
                        <a:spcBef>
                          <a:spcPts val="0"/>
                        </a:spcBef>
                        <a:spcAft>
                          <a:spcPts val="0"/>
                        </a:spcAft>
                        <a:buNone/>
                      </a:pPr>
                      <a:r>
                        <a:rPr lang="en-US" sz="1500" b="1" i="0" u="none" strike="noStrike" cap="none">
                          <a:solidFill>
                            <a:srgbClr val="1E2B36"/>
                          </a:solidFill>
                          <a:latin typeface="Calibri"/>
                          <a:ea typeface="Calibri"/>
                          <a:cs typeface="Calibri"/>
                          <a:sym typeface="Calibri"/>
                        </a:rPr>
                        <a:t>Run without sun</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500" b="0" i="0" u="none" strike="noStrike" cap="none">
                          <a:solidFill>
                            <a:srgbClr val="1E2B36"/>
                          </a:solidFill>
                          <a:latin typeface="Calibri"/>
                          <a:ea typeface="Calibri"/>
                          <a:cs typeface="Calibri"/>
                          <a:sym typeface="Calibri"/>
                        </a:rPr>
                        <a:t>about 12 days (with beacon)</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500" b="0" i="0" u="none" strike="noStrike" cap="none">
                          <a:solidFill>
                            <a:srgbClr val="A85C00"/>
                          </a:solidFill>
                          <a:latin typeface="Quattrocento Sans"/>
                          <a:ea typeface="Quattrocento Sans"/>
                          <a:cs typeface="Quattrocento Sans"/>
                          <a:sym typeface="Quattrocento Sans"/>
                        </a:rPr>
                        <a:t>● design estimate · measure on the bench</a:t>
                      </a:r>
                      <a:endParaRPr/>
                    </a:p>
                  </a:txBody>
                  <a:tcPr marL="73150" marR="73150" marT="27425" marB="27425" anchor="ctr">
                    <a:solidFill>
                      <a:srgbClr val="EAF3F8"/>
                    </a:solidFill>
                  </a:tcPr>
                </a:tc>
                <a:extLst>
                  <a:ext uri="{0D108BD9-81ED-4DB2-BD59-A6C34878D82A}">
                    <a16:rowId xmlns:a16="http://schemas.microsoft.com/office/drawing/2014/main" val="10004"/>
                  </a:ext>
                </a:extLst>
              </a:tr>
              <a:tr h="393200">
                <a:tc>
                  <a:txBody>
                    <a:bodyPr/>
                    <a:lstStyle/>
                    <a:p>
                      <a:pPr marL="0" marR="0" lvl="0" indent="0" algn="l" rtl="0">
                        <a:spcBef>
                          <a:spcPts val="0"/>
                        </a:spcBef>
                        <a:spcAft>
                          <a:spcPts val="0"/>
                        </a:spcAft>
                        <a:buNone/>
                      </a:pPr>
                      <a:r>
                        <a:rPr lang="en-US" sz="1500" b="1" i="0" u="none" strike="noStrike" cap="none">
                          <a:solidFill>
                            <a:srgbClr val="1E2B36"/>
                          </a:solidFill>
                          <a:latin typeface="Calibri"/>
                          <a:ea typeface="Calibri"/>
                          <a:cs typeface="Calibri"/>
                          <a:sym typeface="Calibri"/>
                        </a:rPr>
                        <a:t>Service from the bridge</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500" b="0" i="0" u="none" strike="noStrike" cap="none">
                          <a:solidFill>
                            <a:srgbClr val="1E2B36"/>
                          </a:solidFill>
                          <a:latin typeface="Calibri"/>
                          <a:ea typeface="Calibri"/>
                          <a:cs typeface="Calibri"/>
                          <a:sym typeface="Calibri"/>
                        </a:rPr>
                        <a:t>no tools, nobody wades in</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500" b="0" i="0" u="none" strike="noStrike" cap="none" dirty="0">
                          <a:solidFill>
                            <a:srgbClr val="1B7F3B"/>
                          </a:solidFill>
                          <a:latin typeface="Quattrocento Sans"/>
                          <a:ea typeface="Quattrocento Sans"/>
                          <a:cs typeface="Quattrocento Sans"/>
                          <a:sym typeface="Quattrocento Sans"/>
                        </a:rPr>
                        <a:t>● </a:t>
                      </a:r>
                      <a:r>
                        <a:rPr lang="en-US" sz="1500" b="0" i="0" u="none" strike="noStrike" cap="none" dirty="0">
                          <a:solidFill>
                            <a:srgbClr val="1E2B36"/>
                          </a:solidFill>
                          <a:latin typeface="Calibri"/>
                          <a:ea typeface="Calibri"/>
                          <a:cs typeface="Calibri"/>
                          <a:sym typeface="Calibri"/>
                        </a:rPr>
                        <a:t>designed (tool-free gate)</a:t>
                      </a:r>
                      <a:endParaRPr dirty="0"/>
                    </a:p>
                  </a:txBody>
                  <a:tcPr marL="73150" marR="73150" marT="27425" marB="27425"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8"/>
                                        </p:tgtEl>
                                        <p:attrNameLst>
                                          <p:attrName>style.visibility</p:attrName>
                                        </p:attrNameLst>
                                      </p:cBhvr>
                                      <p:to>
                                        <p:strVal val="visible"/>
                                      </p:to>
                                    </p:set>
                                    <p:animEffect transition="in" filter="fade">
                                      <p:cBhvr>
                                        <p:cTn id="7" dur="350"/>
                                        <p:tgtEl>
                                          <p:spTgt spid="238"/>
                                        </p:tgtEl>
                                      </p:cBhvr>
                                    </p:animEffect>
                                  </p:childTnLst>
                                </p:cTn>
                              </p:par>
                              <p:par>
                                <p:cTn id="8" presetID="10" presetClass="entr" presetSubtype="0" fill="hold" nodeType="withEffect">
                                  <p:stCondLst>
                                    <p:cond delay="0"/>
                                  </p:stCondLst>
                                  <p:childTnLst>
                                    <p:set>
                                      <p:cBhvr>
                                        <p:cTn id="9" dur="1" fill="hold">
                                          <p:stCondLst>
                                            <p:cond delay="0"/>
                                          </p:stCondLst>
                                        </p:cTn>
                                        <p:tgtEl>
                                          <p:spTgt spid="239"/>
                                        </p:tgtEl>
                                        <p:attrNameLst>
                                          <p:attrName>style.visibility</p:attrName>
                                        </p:attrNameLst>
                                      </p:cBhvr>
                                      <p:to>
                                        <p:strVal val="visible"/>
                                      </p:to>
                                    </p:set>
                                    <p:animEffect transition="in" filter="fade">
                                      <p:cBhvr>
                                        <p:cTn id="10" dur="350"/>
                                        <p:tgtEl>
                                          <p:spTgt spid="239"/>
                                        </p:tgtEl>
                                      </p:cBhvr>
                                    </p:animEffect>
                                  </p:childTnLst>
                                </p:cTn>
                              </p:par>
                              <p:par>
                                <p:cTn id="11" presetID="10" presetClass="entr" presetSubtype="0" fill="hold" nodeType="withEffect">
                                  <p:stCondLst>
                                    <p:cond delay="0"/>
                                  </p:stCondLst>
                                  <p:childTnLst>
                                    <p:set>
                                      <p:cBhvr>
                                        <p:cTn id="12" dur="1" fill="hold">
                                          <p:stCondLst>
                                            <p:cond delay="0"/>
                                          </p:stCondLst>
                                        </p:cTn>
                                        <p:tgtEl>
                                          <p:spTgt spid="240"/>
                                        </p:tgtEl>
                                        <p:attrNameLst>
                                          <p:attrName>style.visibility</p:attrName>
                                        </p:attrNameLst>
                                      </p:cBhvr>
                                      <p:to>
                                        <p:strVal val="visible"/>
                                      </p:to>
                                    </p:set>
                                    <p:animEffect transition="in" filter="fade">
                                      <p:cBhvr>
                                        <p:cTn id="13" dur="350"/>
                                        <p:tgtEl>
                                          <p:spTgt spid="240"/>
                                        </p:tgtEl>
                                      </p:cBhvr>
                                    </p:animEffect>
                                  </p:childTnLst>
                                </p:cTn>
                              </p:par>
                              <p:par>
                                <p:cTn id="14" presetID="10" presetClass="entr" presetSubtype="0" fill="hold" nodeType="withEffect">
                                  <p:stCondLst>
                                    <p:cond delay="0"/>
                                  </p:stCondLst>
                                  <p:childTnLst>
                                    <p:set>
                                      <p:cBhvr>
                                        <p:cTn id="15" dur="1" fill="hold">
                                          <p:stCondLst>
                                            <p:cond delay="0"/>
                                          </p:stCondLst>
                                        </p:cTn>
                                        <p:tgtEl>
                                          <p:spTgt spid="241"/>
                                        </p:tgtEl>
                                        <p:attrNameLst>
                                          <p:attrName>style.visibility</p:attrName>
                                        </p:attrNameLst>
                                      </p:cBhvr>
                                      <p:to>
                                        <p:strVal val="visible"/>
                                      </p:to>
                                    </p:set>
                                    <p:animEffect transition="in" filter="fade">
                                      <p:cBhvr>
                                        <p:cTn id="16" dur="350"/>
                                        <p:tgtEl>
                                          <p:spTgt spid="241"/>
                                        </p:tgtEl>
                                      </p:cBhvr>
                                    </p:animEffect>
                                  </p:childTnLst>
                                </p:cTn>
                              </p:par>
                            </p:childTnLst>
                          </p:cTn>
                        </p:par>
                        <p:par>
                          <p:cTn id="17" fill="hold">
                            <p:stCondLst>
                              <p:cond delay="350"/>
                            </p:stCondLst>
                            <p:childTnLst>
                              <p:par>
                                <p:cTn id="18" presetID="10" presetClass="entr" presetSubtype="0" fill="hold" nodeType="afterEffect">
                                  <p:stCondLst>
                                    <p:cond delay="0"/>
                                  </p:stCondLst>
                                  <p:childTnLst>
                                    <p:set>
                                      <p:cBhvr>
                                        <p:cTn id="19" dur="1" fill="hold">
                                          <p:stCondLst>
                                            <p:cond delay="0"/>
                                          </p:stCondLst>
                                        </p:cTn>
                                        <p:tgtEl>
                                          <p:spTgt spid="242"/>
                                        </p:tgtEl>
                                        <p:attrNameLst>
                                          <p:attrName>style.visibility</p:attrName>
                                        </p:attrNameLst>
                                      </p:cBhvr>
                                      <p:to>
                                        <p:strVal val="visible"/>
                                      </p:to>
                                    </p:set>
                                    <p:animEffect transition="in" filter="fade">
                                      <p:cBhvr>
                                        <p:cTn id="20" dur="350"/>
                                        <p:tgtEl>
                                          <p:spTgt spid="242"/>
                                        </p:tgtEl>
                                      </p:cBhvr>
                                    </p:animEffect>
                                  </p:childTnLst>
                                </p:cTn>
                              </p:par>
                              <p:par>
                                <p:cTn id="21" presetID="10" presetClass="entr" presetSubtype="0" fill="hold" nodeType="withEffect">
                                  <p:stCondLst>
                                    <p:cond delay="0"/>
                                  </p:stCondLst>
                                  <p:childTnLst>
                                    <p:set>
                                      <p:cBhvr>
                                        <p:cTn id="22" dur="1" fill="hold">
                                          <p:stCondLst>
                                            <p:cond delay="0"/>
                                          </p:stCondLst>
                                        </p:cTn>
                                        <p:tgtEl>
                                          <p:spTgt spid="243"/>
                                        </p:tgtEl>
                                        <p:attrNameLst>
                                          <p:attrName>style.visibility</p:attrName>
                                        </p:attrNameLst>
                                      </p:cBhvr>
                                      <p:to>
                                        <p:strVal val="visible"/>
                                      </p:to>
                                    </p:set>
                                    <p:animEffect transition="in" filter="fade">
                                      <p:cBhvr>
                                        <p:cTn id="23" dur="350"/>
                                        <p:tgtEl>
                                          <p:spTgt spid="243"/>
                                        </p:tgtEl>
                                      </p:cBhvr>
                                    </p:animEffect>
                                  </p:childTnLst>
                                </p:cTn>
                              </p:par>
                              <p:par>
                                <p:cTn id="24" presetID="10" presetClass="entr" presetSubtype="0" fill="hold" nodeType="withEffect">
                                  <p:stCondLst>
                                    <p:cond delay="0"/>
                                  </p:stCondLst>
                                  <p:childTnLst>
                                    <p:set>
                                      <p:cBhvr>
                                        <p:cTn id="25" dur="1" fill="hold">
                                          <p:stCondLst>
                                            <p:cond delay="0"/>
                                          </p:stCondLst>
                                        </p:cTn>
                                        <p:tgtEl>
                                          <p:spTgt spid="244"/>
                                        </p:tgtEl>
                                        <p:attrNameLst>
                                          <p:attrName>style.visibility</p:attrName>
                                        </p:attrNameLst>
                                      </p:cBhvr>
                                      <p:to>
                                        <p:strVal val="visible"/>
                                      </p:to>
                                    </p:set>
                                    <p:animEffect transition="in" filter="fade">
                                      <p:cBhvr>
                                        <p:cTn id="26" dur="350"/>
                                        <p:tgtEl>
                                          <p:spTgt spid="244"/>
                                        </p:tgtEl>
                                      </p:cBhvr>
                                    </p:animEffect>
                                  </p:childTnLst>
                                </p:cTn>
                              </p:par>
                              <p:par>
                                <p:cTn id="27" presetID="10" presetClass="entr" presetSubtype="0" fill="hold" nodeType="withEffect">
                                  <p:stCondLst>
                                    <p:cond delay="0"/>
                                  </p:stCondLst>
                                  <p:childTnLst>
                                    <p:set>
                                      <p:cBhvr>
                                        <p:cTn id="28" dur="1" fill="hold">
                                          <p:stCondLst>
                                            <p:cond delay="0"/>
                                          </p:stCondLst>
                                        </p:cTn>
                                        <p:tgtEl>
                                          <p:spTgt spid="245"/>
                                        </p:tgtEl>
                                        <p:attrNameLst>
                                          <p:attrName>style.visibility</p:attrName>
                                        </p:attrNameLst>
                                      </p:cBhvr>
                                      <p:to>
                                        <p:strVal val="visible"/>
                                      </p:to>
                                    </p:set>
                                    <p:animEffect transition="in" filter="fade">
                                      <p:cBhvr>
                                        <p:cTn id="29" dur="350"/>
                                        <p:tgtEl>
                                          <p:spTgt spid="245"/>
                                        </p:tgtEl>
                                      </p:cBhvr>
                                    </p:animEffect>
                                  </p:childTnLst>
                                </p:cTn>
                              </p:par>
                            </p:childTnLst>
                          </p:cTn>
                        </p:par>
                        <p:par>
                          <p:cTn id="30" fill="hold">
                            <p:stCondLst>
                              <p:cond delay="700"/>
                            </p:stCondLst>
                            <p:childTnLst>
                              <p:par>
                                <p:cTn id="31" presetID="10" presetClass="entr" presetSubtype="0" fill="hold" nodeType="afterEffect">
                                  <p:stCondLst>
                                    <p:cond delay="0"/>
                                  </p:stCondLst>
                                  <p:childTnLst>
                                    <p:set>
                                      <p:cBhvr>
                                        <p:cTn id="32" dur="1" fill="hold">
                                          <p:stCondLst>
                                            <p:cond delay="0"/>
                                          </p:stCondLst>
                                        </p:cTn>
                                        <p:tgtEl>
                                          <p:spTgt spid="246"/>
                                        </p:tgtEl>
                                        <p:attrNameLst>
                                          <p:attrName>style.visibility</p:attrName>
                                        </p:attrNameLst>
                                      </p:cBhvr>
                                      <p:to>
                                        <p:strVal val="visible"/>
                                      </p:to>
                                    </p:set>
                                    <p:animEffect transition="in" filter="fade">
                                      <p:cBhvr>
                                        <p:cTn id="33" dur="350"/>
                                        <p:tgtEl>
                                          <p:spTgt spid="246"/>
                                        </p:tgtEl>
                                      </p:cBhvr>
                                    </p:animEffect>
                                  </p:childTnLst>
                                </p:cTn>
                              </p:par>
                              <p:par>
                                <p:cTn id="34" presetID="10" presetClass="entr" presetSubtype="0" fill="hold" nodeType="withEffect">
                                  <p:stCondLst>
                                    <p:cond delay="0"/>
                                  </p:stCondLst>
                                  <p:childTnLst>
                                    <p:set>
                                      <p:cBhvr>
                                        <p:cTn id="35" dur="1" fill="hold">
                                          <p:stCondLst>
                                            <p:cond delay="0"/>
                                          </p:stCondLst>
                                        </p:cTn>
                                        <p:tgtEl>
                                          <p:spTgt spid="247"/>
                                        </p:tgtEl>
                                        <p:attrNameLst>
                                          <p:attrName>style.visibility</p:attrName>
                                        </p:attrNameLst>
                                      </p:cBhvr>
                                      <p:to>
                                        <p:strVal val="visible"/>
                                      </p:to>
                                    </p:set>
                                    <p:animEffect transition="in" filter="fade">
                                      <p:cBhvr>
                                        <p:cTn id="36" dur="350"/>
                                        <p:tgtEl>
                                          <p:spTgt spid="247"/>
                                        </p:tgtEl>
                                      </p:cBhvr>
                                    </p:animEffect>
                                  </p:childTnLst>
                                </p:cTn>
                              </p:par>
                              <p:par>
                                <p:cTn id="37" presetID="10" presetClass="entr" presetSubtype="0" fill="hold" nodeType="withEffect">
                                  <p:stCondLst>
                                    <p:cond delay="0"/>
                                  </p:stCondLst>
                                  <p:childTnLst>
                                    <p:set>
                                      <p:cBhvr>
                                        <p:cTn id="38" dur="1" fill="hold">
                                          <p:stCondLst>
                                            <p:cond delay="0"/>
                                          </p:stCondLst>
                                        </p:cTn>
                                        <p:tgtEl>
                                          <p:spTgt spid="248"/>
                                        </p:tgtEl>
                                        <p:attrNameLst>
                                          <p:attrName>style.visibility</p:attrName>
                                        </p:attrNameLst>
                                      </p:cBhvr>
                                      <p:to>
                                        <p:strVal val="visible"/>
                                      </p:to>
                                    </p:set>
                                    <p:animEffect transition="in" filter="fade">
                                      <p:cBhvr>
                                        <p:cTn id="39" dur="350"/>
                                        <p:tgtEl>
                                          <p:spTgt spid="248"/>
                                        </p:tgtEl>
                                      </p:cBhvr>
                                    </p:animEffect>
                                  </p:childTnLst>
                                </p:cTn>
                              </p:par>
                              <p:par>
                                <p:cTn id="40" presetID="10" presetClass="entr" presetSubtype="0" fill="hold" nodeType="withEffect">
                                  <p:stCondLst>
                                    <p:cond delay="0"/>
                                  </p:stCondLst>
                                  <p:childTnLst>
                                    <p:set>
                                      <p:cBhvr>
                                        <p:cTn id="41" dur="1" fill="hold">
                                          <p:stCondLst>
                                            <p:cond delay="0"/>
                                          </p:stCondLst>
                                        </p:cTn>
                                        <p:tgtEl>
                                          <p:spTgt spid="249"/>
                                        </p:tgtEl>
                                        <p:attrNameLst>
                                          <p:attrName>style.visibility</p:attrName>
                                        </p:attrNameLst>
                                      </p:cBhvr>
                                      <p:to>
                                        <p:strVal val="visible"/>
                                      </p:to>
                                    </p:set>
                                    <p:animEffect transition="in" filter="fade">
                                      <p:cBhvr>
                                        <p:cTn id="42" dur="350"/>
                                        <p:tgtEl>
                                          <p:spTgt spid="249"/>
                                        </p:tgtEl>
                                      </p:cBhvr>
                                    </p:animEffect>
                                  </p:childTnLst>
                                </p:cTn>
                              </p:par>
                            </p:childTnLst>
                          </p:cTn>
                        </p:par>
                        <p:par>
                          <p:cTn id="43" fill="hold">
                            <p:stCondLst>
                              <p:cond delay="1050"/>
                            </p:stCondLst>
                            <p:childTnLst>
                              <p:par>
                                <p:cTn id="44" presetID="10" presetClass="entr" presetSubtype="0" fill="hold" nodeType="afterEffect">
                                  <p:stCondLst>
                                    <p:cond delay="0"/>
                                  </p:stCondLst>
                                  <p:childTnLst>
                                    <p:set>
                                      <p:cBhvr>
                                        <p:cTn id="45" dur="1" fill="hold">
                                          <p:stCondLst>
                                            <p:cond delay="0"/>
                                          </p:stCondLst>
                                        </p:cTn>
                                        <p:tgtEl>
                                          <p:spTgt spid="250"/>
                                        </p:tgtEl>
                                        <p:attrNameLst>
                                          <p:attrName>style.visibility</p:attrName>
                                        </p:attrNameLst>
                                      </p:cBhvr>
                                      <p:to>
                                        <p:strVal val="visible"/>
                                      </p:to>
                                    </p:set>
                                    <p:animEffect transition="in" filter="fade">
                                      <p:cBhvr>
                                        <p:cTn id="46" dur="500"/>
                                        <p:tgtEl>
                                          <p:spTgt spid="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5"/>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The river moves it; the robot decides</a:t>
            </a:r>
            <a:endParaRPr/>
          </a:p>
        </p:txBody>
      </p:sp>
      <p:sp>
        <p:nvSpPr>
          <p:cNvPr id="257" name="Google Shape;257;p5"/>
          <p:cNvSpPr txBox="1"/>
          <p:nvPr/>
        </p:nvSpPr>
        <p:spPr>
          <a:xfrm>
            <a:off x="484632" y="4038600"/>
            <a:ext cx="3931920" cy="38100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200" b="0" i="0">
                <a:solidFill>
                  <a:srgbClr val="5B6B78"/>
                </a:solidFill>
                <a:latin typeface="Calibri"/>
                <a:ea typeface="Calibri"/>
                <a:cs typeface="Calibri"/>
                <a:sym typeface="Calibri"/>
              </a:rPr>
              <a:t>Our CAD animation: the river lifts the float up its pole</a:t>
            </a:r>
            <a:endParaRPr sz="1200" b="0" i="0">
              <a:solidFill>
                <a:srgbClr val="5B6B78"/>
              </a:solidFill>
              <a:latin typeface="Calibri"/>
              <a:ea typeface="Calibri"/>
              <a:cs typeface="Calibri"/>
              <a:sym typeface="Calibri"/>
            </a:endParaRPr>
          </a:p>
        </p:txBody>
      </p:sp>
      <p:sp>
        <p:nvSpPr>
          <p:cNvPr id="258" name="Google Shape;258;p5"/>
          <p:cNvSpPr/>
          <p:nvPr/>
        </p:nvSpPr>
        <p:spPr>
          <a:xfrm>
            <a:off x="4754880" y="1709928"/>
            <a:ext cx="384048" cy="384048"/>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400" b="1" i="0">
                <a:solidFill>
                  <a:srgbClr val="FFFFFF"/>
                </a:solidFill>
                <a:latin typeface="Calibri"/>
                <a:ea typeface="Calibri"/>
                <a:cs typeface="Calibri"/>
                <a:sym typeface="Calibri"/>
              </a:rPr>
              <a:t>1</a:t>
            </a:r>
            <a:endParaRPr/>
          </a:p>
        </p:txBody>
      </p:sp>
      <p:sp>
        <p:nvSpPr>
          <p:cNvPr id="259" name="Google Shape;259;p5"/>
          <p:cNvSpPr txBox="1"/>
          <p:nvPr/>
        </p:nvSpPr>
        <p:spPr>
          <a:xfrm>
            <a:off x="5257800" y="1645920"/>
            <a:ext cx="6446520" cy="512064"/>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600" b="0" i="0">
                <a:solidFill>
                  <a:srgbClr val="1E2B36"/>
                </a:solidFill>
                <a:latin typeface="Calibri"/>
                <a:ea typeface="Calibri"/>
                <a:cs typeface="Calibri"/>
                <a:sym typeface="Calibri"/>
              </a:rPr>
              <a:t>A 2-inch 316L guide pole clamped to a bridge pier: no riverbed work</a:t>
            </a:r>
            <a:endParaRPr/>
          </a:p>
        </p:txBody>
      </p:sp>
      <p:sp>
        <p:nvSpPr>
          <p:cNvPr id="260" name="Google Shape;260;p5"/>
          <p:cNvSpPr/>
          <p:nvPr/>
        </p:nvSpPr>
        <p:spPr>
          <a:xfrm>
            <a:off x="4754880" y="2258568"/>
            <a:ext cx="384048" cy="384048"/>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400" b="1" i="0">
                <a:solidFill>
                  <a:srgbClr val="FFFFFF"/>
                </a:solidFill>
                <a:latin typeface="Calibri"/>
                <a:ea typeface="Calibri"/>
                <a:cs typeface="Calibri"/>
                <a:sym typeface="Calibri"/>
              </a:rPr>
              <a:t>2</a:t>
            </a:r>
            <a:endParaRPr/>
          </a:p>
        </p:txBody>
      </p:sp>
      <p:sp>
        <p:nvSpPr>
          <p:cNvPr id="261" name="Google Shape;261;p5"/>
          <p:cNvSpPr txBox="1"/>
          <p:nvPr/>
        </p:nvSpPr>
        <p:spPr>
          <a:xfrm>
            <a:off x="5257800" y="2194560"/>
            <a:ext cx="6446520" cy="512064"/>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600" b="0" i="0">
                <a:solidFill>
                  <a:srgbClr val="1E2B36"/>
                </a:solidFill>
                <a:latin typeface="Calibri"/>
                <a:ea typeface="Calibri"/>
                <a:cs typeface="Calibri"/>
                <a:sym typeface="Calibri"/>
              </a:rPr>
              <a:t>8 rollers in 2 tiers let the river lift the float through 2 m</a:t>
            </a:r>
            <a:endParaRPr/>
          </a:p>
        </p:txBody>
      </p:sp>
      <p:sp>
        <p:nvSpPr>
          <p:cNvPr id="262" name="Google Shape;262;p5"/>
          <p:cNvSpPr/>
          <p:nvPr/>
        </p:nvSpPr>
        <p:spPr>
          <a:xfrm>
            <a:off x="4754880" y="2807208"/>
            <a:ext cx="384048" cy="384048"/>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400" b="1" i="0">
                <a:solidFill>
                  <a:srgbClr val="FFFFFF"/>
                </a:solidFill>
                <a:latin typeface="Calibri"/>
                <a:ea typeface="Calibri"/>
                <a:cs typeface="Calibri"/>
                <a:sym typeface="Calibri"/>
              </a:rPr>
              <a:t>3</a:t>
            </a:r>
            <a:endParaRPr/>
          </a:p>
        </p:txBody>
      </p:sp>
      <p:sp>
        <p:nvSpPr>
          <p:cNvPr id="263" name="Google Shape;263;p5"/>
          <p:cNvSpPr txBox="1"/>
          <p:nvPr/>
        </p:nvSpPr>
        <p:spPr>
          <a:xfrm>
            <a:off x="5257800" y="2743200"/>
            <a:ext cx="6446520" cy="512064"/>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600" b="0" i="0">
                <a:solidFill>
                  <a:srgbClr val="1E2B36"/>
                </a:solidFill>
                <a:latin typeface="Calibri"/>
                <a:ea typeface="Calibri"/>
                <a:cs typeface="Calibri"/>
                <a:sym typeface="Calibri"/>
              </a:rPr>
              <a:t>Its side area sits behind the pole, so it trails the current like a weathervane</a:t>
            </a:r>
            <a:endParaRPr/>
          </a:p>
        </p:txBody>
      </p:sp>
      <p:sp>
        <p:nvSpPr>
          <p:cNvPr id="264" name="Google Shape;264;p5"/>
          <p:cNvSpPr/>
          <p:nvPr/>
        </p:nvSpPr>
        <p:spPr>
          <a:xfrm>
            <a:off x="4754880" y="3355847"/>
            <a:ext cx="384048" cy="384048"/>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400" b="1" i="0">
                <a:solidFill>
                  <a:srgbClr val="FFFFFF"/>
                </a:solidFill>
                <a:latin typeface="Calibri"/>
                <a:ea typeface="Calibri"/>
                <a:cs typeface="Calibri"/>
                <a:sym typeface="Calibri"/>
              </a:rPr>
              <a:t>4</a:t>
            </a:r>
            <a:endParaRPr/>
          </a:p>
        </p:txBody>
      </p:sp>
      <p:sp>
        <p:nvSpPr>
          <p:cNvPr id="265" name="Google Shape;265;p5"/>
          <p:cNvSpPr txBox="1"/>
          <p:nvPr/>
        </p:nvSpPr>
        <p:spPr>
          <a:xfrm>
            <a:off x="5257800" y="3291839"/>
            <a:ext cx="6446520" cy="512064"/>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600" b="0" i="0">
                <a:solidFill>
                  <a:srgbClr val="1E2B36"/>
                </a:solidFill>
                <a:latin typeface="Calibri"/>
                <a:ea typeface="Calibri"/>
                <a:cs typeface="Calibri"/>
                <a:sym typeface="Calibri"/>
              </a:rPr>
              <a:t>A pull-up probe cartridge; a wiper cleans the optical windows every 6 hours</a:t>
            </a:r>
            <a:endParaRPr/>
          </a:p>
        </p:txBody>
      </p:sp>
      <p:sp>
        <p:nvSpPr>
          <p:cNvPr id="266" name="Google Shape;266;p5"/>
          <p:cNvSpPr/>
          <p:nvPr/>
        </p:nvSpPr>
        <p:spPr>
          <a:xfrm>
            <a:off x="4754880" y="3950208"/>
            <a:ext cx="6949440" cy="2084831"/>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 name="Google Shape;267;p5"/>
          <p:cNvSpPr txBox="1"/>
          <p:nvPr/>
        </p:nvSpPr>
        <p:spPr>
          <a:xfrm>
            <a:off x="4937760" y="4005072"/>
            <a:ext cx="6583680" cy="36576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Every 15 minutes, on the float</a:t>
            </a:r>
            <a:endParaRPr/>
          </a:p>
        </p:txBody>
      </p:sp>
      <p:sp>
        <p:nvSpPr>
          <p:cNvPr id="268" name="Google Shape;268;p5"/>
          <p:cNvSpPr/>
          <p:nvPr/>
        </p:nvSpPr>
        <p:spPr>
          <a:xfrm>
            <a:off x="4937760" y="4425696"/>
            <a:ext cx="3886200" cy="694944"/>
          </a:xfrm>
          <a:prstGeom prst="roundRect">
            <a:avLst>
              <a:gd name="adj" fmla="val 7000"/>
            </a:avLst>
          </a:prstGeom>
          <a:solidFill>
            <a:srgbClr val="FFFFFF"/>
          </a:solidFill>
          <a:ln w="12700" cap="flat" cmpd="sng">
            <a:solidFill>
              <a:srgbClr val="C9DBE7"/>
            </a:solidFill>
            <a:prstDash val="solid"/>
            <a:miter lim="8000"/>
            <a:headEnd type="none" w="sm" len="sm"/>
            <a:tailEnd type="none" w="sm" len="sm"/>
          </a:ln>
        </p:spPr>
        <p:txBody>
          <a:bodyPr spcFirstLastPara="1" wrap="square" lIns="109725" tIns="18275" rIns="109725" bIns="18275" anchor="ctr" anchorCtr="0">
            <a:noAutofit/>
          </a:bodyPr>
          <a:lstStyle/>
          <a:p>
            <a:pPr marL="0" marR="0" lvl="0" indent="0" algn="l" rtl="0">
              <a:spcBef>
                <a:spcPts val="0"/>
              </a:spcBef>
              <a:spcAft>
                <a:spcPts val="0"/>
              </a:spcAft>
              <a:buNone/>
            </a:pPr>
            <a:r>
              <a:rPr lang="en-US" sz="1500" b="1" i="0">
                <a:solidFill>
                  <a:srgbClr val="1E2B36"/>
                </a:solidFill>
                <a:latin typeface="Calibri"/>
                <a:ea typeface="Calibri"/>
                <a:cs typeface="Calibri"/>
                <a:sym typeface="Calibri"/>
              </a:rPr>
              <a:t>Hard limit crossed</a:t>
            </a:r>
            <a:endParaRPr/>
          </a:p>
          <a:p>
            <a:pPr marL="0" marR="0" lvl="0" indent="0" algn="l" rtl="0">
              <a:spcBef>
                <a:spcPts val="0"/>
              </a:spcBef>
              <a:spcAft>
                <a:spcPts val="0"/>
              </a:spcAft>
              <a:buNone/>
            </a:pPr>
            <a:r>
              <a:rPr lang="en-US" sz="1200" b="0" i="0">
                <a:solidFill>
                  <a:srgbClr val="5B6B78"/>
                </a:solidFill>
                <a:latin typeface="Calibri"/>
                <a:ea typeface="Calibri"/>
                <a:cs typeface="Calibri"/>
                <a:sym typeface="Calibri"/>
              </a:rPr>
              <a:t>pH &lt; 6 or &gt; 9 · DO &lt; 4 mg/L · EC &gt; 2250 µS/cm</a:t>
            </a:r>
            <a:endParaRPr/>
          </a:p>
        </p:txBody>
      </p:sp>
      <p:sp>
        <p:nvSpPr>
          <p:cNvPr id="269" name="Google Shape;269;p5"/>
          <p:cNvSpPr/>
          <p:nvPr/>
        </p:nvSpPr>
        <p:spPr>
          <a:xfrm>
            <a:off x="4937760" y="5212080"/>
            <a:ext cx="3886200" cy="694944"/>
          </a:xfrm>
          <a:prstGeom prst="roundRect">
            <a:avLst>
              <a:gd name="adj" fmla="val 7000"/>
            </a:avLst>
          </a:prstGeom>
          <a:solidFill>
            <a:srgbClr val="FFFFFF"/>
          </a:solidFill>
          <a:ln w="12700" cap="flat" cmpd="sng">
            <a:solidFill>
              <a:srgbClr val="C9DBE7"/>
            </a:solidFill>
            <a:prstDash val="solid"/>
            <a:miter lim="8000"/>
            <a:headEnd type="none" w="sm" len="sm"/>
            <a:tailEnd type="none" w="sm" len="sm"/>
          </a:ln>
        </p:spPr>
        <p:txBody>
          <a:bodyPr spcFirstLastPara="1" wrap="square" lIns="109725" tIns="18275" rIns="109725" bIns="18275" anchor="ctr" anchorCtr="0">
            <a:noAutofit/>
          </a:bodyPr>
          <a:lstStyle/>
          <a:p>
            <a:pPr marL="0" marR="0" lvl="0" indent="0" algn="l" rtl="0">
              <a:spcBef>
                <a:spcPts val="0"/>
              </a:spcBef>
              <a:spcAft>
                <a:spcPts val="0"/>
              </a:spcAft>
              <a:buNone/>
            </a:pPr>
            <a:r>
              <a:rPr lang="en-US" sz="1500" b="1" i="0">
                <a:solidFill>
                  <a:srgbClr val="1E2B36"/>
                </a:solidFill>
                <a:latin typeface="Calibri"/>
                <a:ea typeface="Calibri"/>
                <a:cs typeface="Calibri"/>
                <a:sym typeface="Calibri"/>
              </a:rPr>
              <a:t>2 of the last 3 readings unusual</a:t>
            </a:r>
            <a:endParaRPr/>
          </a:p>
          <a:p>
            <a:pPr marL="0" marR="0" lvl="0" indent="0" algn="l" rtl="0">
              <a:spcBef>
                <a:spcPts val="0"/>
              </a:spcBef>
              <a:spcAft>
                <a:spcPts val="0"/>
              </a:spcAft>
              <a:buNone/>
            </a:pPr>
            <a:r>
              <a:rPr lang="en-US" sz="1200" b="0" i="0">
                <a:solidFill>
                  <a:srgbClr val="5B6B78"/>
                </a:solidFill>
                <a:latin typeface="Calibri"/>
                <a:ea typeface="Calibri"/>
                <a:cs typeface="Calibri"/>
                <a:sym typeface="Calibri"/>
              </a:rPr>
              <a:t>vs a baseline learned for each hour of the day</a:t>
            </a:r>
            <a:endParaRPr/>
          </a:p>
        </p:txBody>
      </p:sp>
      <p:sp>
        <p:nvSpPr>
          <p:cNvPr id="270" name="Google Shape;270;p5"/>
          <p:cNvSpPr/>
          <p:nvPr/>
        </p:nvSpPr>
        <p:spPr>
          <a:xfrm>
            <a:off x="8942832" y="4599432"/>
            <a:ext cx="411480" cy="347472"/>
          </a:xfrm>
          <a:prstGeom prst="rightArrow">
            <a:avLst>
              <a:gd name="adj1" fmla="val 50000"/>
              <a:gd name="adj2" fmla="val 50000"/>
            </a:avLst>
          </a:prstGeom>
          <a:solidFill>
            <a:srgbClr val="0056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 name="Google Shape;271;p5"/>
          <p:cNvSpPr/>
          <p:nvPr/>
        </p:nvSpPr>
        <p:spPr>
          <a:xfrm>
            <a:off x="8942832" y="5385816"/>
            <a:ext cx="411480" cy="347472"/>
          </a:xfrm>
          <a:prstGeom prst="rightArrow">
            <a:avLst>
              <a:gd name="adj1" fmla="val 50000"/>
              <a:gd name="adj2" fmla="val 50000"/>
            </a:avLst>
          </a:prstGeom>
          <a:solidFill>
            <a:srgbClr val="0056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 name="Google Shape;272;p5"/>
          <p:cNvSpPr/>
          <p:nvPr/>
        </p:nvSpPr>
        <p:spPr>
          <a:xfrm>
            <a:off x="9464040" y="4425696"/>
            <a:ext cx="2103120" cy="1481328"/>
          </a:xfrm>
          <a:prstGeom prst="roundRect">
            <a:avLst>
              <a:gd name="adj" fmla="val 7000"/>
            </a:avLst>
          </a:prstGeom>
          <a:solidFill>
            <a:srgbClr val="DA091C"/>
          </a:solidFill>
          <a:ln>
            <a:noFill/>
          </a:ln>
        </p:spPr>
        <p:txBody>
          <a:bodyPr spcFirstLastPara="1" wrap="square" lIns="54850" tIns="18275" rIns="54850" bIns="18275" anchor="ctr" anchorCtr="0">
            <a:noAutofit/>
          </a:bodyPr>
          <a:lstStyle/>
          <a:p>
            <a:pPr marL="0" marR="0" lvl="0" indent="0" algn="ctr" rtl="0">
              <a:spcBef>
                <a:spcPts val="0"/>
              </a:spcBef>
              <a:spcAft>
                <a:spcPts val="0"/>
              </a:spcAft>
              <a:buNone/>
            </a:pPr>
            <a:r>
              <a:rPr lang="en-US" sz="1800" b="1" i="0">
                <a:solidFill>
                  <a:srgbClr val="FFFFFF"/>
                </a:solidFill>
                <a:latin typeface="Calibri"/>
                <a:ea typeface="Calibri"/>
                <a:cs typeface="Calibri"/>
                <a:sym typeface="Calibri"/>
              </a:rPr>
              <a:t>ACT</a:t>
            </a:r>
            <a:endParaRPr/>
          </a:p>
          <a:p>
            <a:pPr marL="0" marR="0" lvl="0" indent="0" algn="ctr" rtl="0">
              <a:spcBef>
                <a:spcPts val="0"/>
              </a:spcBef>
              <a:spcAft>
                <a:spcPts val="0"/>
              </a:spcAft>
              <a:buNone/>
            </a:pPr>
            <a:r>
              <a:rPr lang="en-US" sz="1400" b="0" i="0">
                <a:solidFill>
                  <a:srgbClr val="FFFFFF"/>
                </a:solidFill>
                <a:latin typeface="Calibri"/>
                <a:ea typeface="Calibri"/>
                <a:cs typeface="Calibri"/>
                <a:sym typeface="Calibri"/>
              </a:rPr>
              <a:t>beacon turns red</a:t>
            </a:r>
            <a:endParaRPr/>
          </a:p>
          <a:p>
            <a:pPr marL="0" marR="0" lvl="0" indent="0" algn="ctr" rtl="0">
              <a:spcBef>
                <a:spcPts val="0"/>
              </a:spcBef>
              <a:spcAft>
                <a:spcPts val="0"/>
              </a:spcAft>
              <a:buNone/>
            </a:pPr>
            <a:r>
              <a:rPr lang="en-US" sz="1400" b="0" i="0">
                <a:solidFill>
                  <a:srgbClr val="FFFFFF"/>
                </a:solidFill>
                <a:latin typeface="Calibri"/>
                <a:ea typeface="Calibri"/>
                <a:cs typeface="Calibri"/>
                <a:sym typeface="Calibri"/>
              </a:rPr>
              <a:t>LTE alert</a:t>
            </a:r>
            <a:endParaRPr/>
          </a:p>
          <a:p>
            <a:pPr marL="0" marR="0" lvl="0" indent="0" algn="ctr" rtl="0">
              <a:spcBef>
                <a:spcPts val="0"/>
              </a:spcBef>
              <a:spcAft>
                <a:spcPts val="0"/>
              </a:spcAft>
              <a:buNone/>
            </a:pPr>
            <a:r>
              <a:rPr lang="en-US" sz="1400" b="0" i="0">
                <a:solidFill>
                  <a:srgbClr val="FFFFFF"/>
                </a:solidFill>
                <a:latin typeface="Calibri"/>
                <a:ea typeface="Calibri"/>
                <a:cs typeface="Calibri"/>
                <a:sym typeface="Calibri"/>
              </a:rPr>
              <a:t>1 bottle sampled</a:t>
            </a:r>
            <a:endParaRPr/>
          </a:p>
        </p:txBody>
      </p:sp>
      <p:pic>
        <p:nvPicPr>
          <p:cNvPr id="273" name="Google Shape;273;p5"/>
          <p:cNvPicPr preferRelativeResize="0"/>
          <p:nvPr/>
        </p:nvPicPr>
        <p:blipFill rotWithShape="1">
          <a:blip r:embed="rId3">
            <a:alphaModFix/>
          </a:blip>
          <a:srcRect/>
          <a:stretch/>
        </p:blipFill>
        <p:spPr>
          <a:xfrm>
            <a:off x="457200" y="1676400"/>
            <a:ext cx="4089400" cy="2298700"/>
          </a:xfrm>
          <a:prstGeom prst="rect">
            <a:avLst/>
          </a:prstGeom>
          <a:noFill/>
          <a:ln w="12700" cap="flat" cmpd="sng">
            <a:solidFill>
              <a:srgbClr val="EAF3F8"/>
            </a:solidFill>
            <a:prstDash val="solid"/>
            <a:round/>
            <a:headEnd type="none" w="sm" len="sm"/>
            <a:tailEnd type="none" w="sm" len="sm"/>
          </a:ln>
        </p:spPr>
      </p:pic>
      <p:sp>
        <p:nvSpPr>
          <p:cNvPr id="274" name="Google Shape;274;p5"/>
          <p:cNvSpPr/>
          <p:nvPr/>
        </p:nvSpPr>
        <p:spPr>
          <a:xfrm>
            <a:off x="457200" y="4521200"/>
            <a:ext cx="1270000" cy="787400"/>
          </a:xfrm>
          <a:prstGeom prst="roundRect">
            <a:avLst>
              <a:gd name="adj" fmla="val 18000"/>
            </a:avLst>
          </a:prstGeom>
          <a:solidFill>
            <a:srgbClr val="EAF3F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2400" b="1">
                <a:solidFill>
                  <a:srgbClr val="125A88"/>
                </a:solidFill>
                <a:latin typeface="Calibri"/>
                <a:ea typeface="Calibri"/>
                <a:cs typeface="Calibri"/>
                <a:sym typeface="Calibri"/>
              </a:rPr>
              <a:t>2 m</a:t>
            </a:r>
            <a:br>
              <a:rPr lang="en-US" sz="2400" b="1">
                <a:solidFill>
                  <a:srgbClr val="125A88"/>
                </a:solidFill>
                <a:latin typeface="Calibri"/>
                <a:ea typeface="Calibri"/>
                <a:cs typeface="Calibri"/>
                <a:sym typeface="Calibri"/>
              </a:rPr>
            </a:br>
            <a:r>
              <a:rPr lang="en-US" sz="1000">
                <a:solidFill>
                  <a:srgbClr val="125A88"/>
                </a:solidFill>
                <a:latin typeface="Calibri"/>
                <a:ea typeface="Calibri"/>
                <a:cs typeface="Calibri"/>
                <a:sym typeface="Calibri"/>
              </a:rPr>
              <a:t>of river rise</a:t>
            </a:r>
            <a:endParaRPr sz="1000">
              <a:solidFill>
                <a:srgbClr val="125A88"/>
              </a:solidFill>
              <a:latin typeface="Calibri"/>
              <a:ea typeface="Calibri"/>
              <a:cs typeface="Calibri"/>
              <a:sym typeface="Calibri"/>
            </a:endParaRPr>
          </a:p>
        </p:txBody>
      </p:sp>
      <p:sp>
        <p:nvSpPr>
          <p:cNvPr id="275" name="Google Shape;275;p5"/>
          <p:cNvSpPr/>
          <p:nvPr/>
        </p:nvSpPr>
        <p:spPr>
          <a:xfrm>
            <a:off x="1866900" y="4521200"/>
            <a:ext cx="1270000" cy="787400"/>
          </a:xfrm>
          <a:prstGeom prst="roundRect">
            <a:avLst>
              <a:gd name="adj" fmla="val 18000"/>
            </a:avLst>
          </a:prstGeom>
          <a:solidFill>
            <a:srgbClr val="EAF3F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2400" b="1">
                <a:solidFill>
                  <a:srgbClr val="125A88"/>
                </a:solidFill>
                <a:latin typeface="Calibri"/>
                <a:ea typeface="Calibri"/>
                <a:cs typeface="Calibri"/>
                <a:sym typeface="Calibri"/>
              </a:rPr>
              <a:t>0</a:t>
            </a:r>
            <a:br>
              <a:rPr lang="en-US" sz="2400" b="1">
                <a:solidFill>
                  <a:srgbClr val="125A88"/>
                </a:solidFill>
                <a:latin typeface="Calibri"/>
                <a:ea typeface="Calibri"/>
                <a:cs typeface="Calibri"/>
                <a:sym typeface="Calibri"/>
              </a:rPr>
            </a:br>
            <a:r>
              <a:rPr lang="en-US" sz="1000">
                <a:solidFill>
                  <a:srgbClr val="125A88"/>
                </a:solidFill>
                <a:latin typeface="Calibri"/>
                <a:ea typeface="Calibri"/>
                <a:cs typeface="Calibri"/>
                <a:sym typeface="Calibri"/>
              </a:rPr>
              <a:t>drive motors</a:t>
            </a:r>
            <a:endParaRPr/>
          </a:p>
        </p:txBody>
      </p:sp>
      <p:sp>
        <p:nvSpPr>
          <p:cNvPr id="276" name="Google Shape;276;p5"/>
          <p:cNvSpPr/>
          <p:nvPr/>
        </p:nvSpPr>
        <p:spPr>
          <a:xfrm>
            <a:off x="3276600" y="4521200"/>
            <a:ext cx="1270000" cy="787400"/>
          </a:xfrm>
          <a:prstGeom prst="roundRect">
            <a:avLst>
              <a:gd name="adj" fmla="val 18000"/>
            </a:avLst>
          </a:prstGeom>
          <a:solidFill>
            <a:srgbClr val="EAF3F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2400" b="1">
                <a:solidFill>
                  <a:srgbClr val="125A88"/>
                </a:solidFill>
                <a:latin typeface="Calibri"/>
                <a:ea typeface="Calibri"/>
                <a:cs typeface="Calibri"/>
                <a:sym typeface="Calibri"/>
              </a:rPr>
              <a:t>8</a:t>
            </a:r>
            <a:br>
              <a:rPr lang="en-US" sz="2400" b="1">
                <a:solidFill>
                  <a:srgbClr val="125A88"/>
                </a:solidFill>
                <a:latin typeface="Calibri"/>
                <a:ea typeface="Calibri"/>
                <a:cs typeface="Calibri"/>
                <a:sym typeface="Calibri"/>
              </a:rPr>
            </a:br>
            <a:r>
              <a:rPr lang="en-US" sz="1000">
                <a:solidFill>
                  <a:srgbClr val="125A88"/>
                </a:solidFill>
                <a:latin typeface="Calibri"/>
                <a:ea typeface="Calibri"/>
                <a:cs typeface="Calibri"/>
                <a:sym typeface="Calibri"/>
              </a:rPr>
              <a:t>rollers, 2 tiers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4"/>
                                        </p:tgtEl>
                                        <p:attrNameLst>
                                          <p:attrName>style.visibility</p:attrName>
                                        </p:attrNameLst>
                                      </p:cBhvr>
                                      <p:to>
                                        <p:strVal val="visible"/>
                                      </p:to>
                                    </p:set>
                                    <p:animEffect transition="in" filter="fade">
                                      <p:cBhvr>
                                        <p:cTn id="7" dur="300"/>
                                        <p:tgtEl>
                                          <p:spTgt spid="274"/>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275"/>
                                        </p:tgtEl>
                                        <p:attrNameLst>
                                          <p:attrName>style.visibility</p:attrName>
                                        </p:attrNameLst>
                                      </p:cBhvr>
                                      <p:to>
                                        <p:strVal val="visible"/>
                                      </p:to>
                                    </p:set>
                                    <p:animEffect transition="in" filter="fade">
                                      <p:cBhvr>
                                        <p:cTn id="11" dur="300"/>
                                        <p:tgtEl>
                                          <p:spTgt spid="275"/>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276"/>
                                        </p:tgtEl>
                                        <p:attrNameLst>
                                          <p:attrName>style.visibility</p:attrName>
                                        </p:attrNameLst>
                                      </p:cBhvr>
                                      <p:to>
                                        <p:strVal val="visible"/>
                                      </p:to>
                                    </p:set>
                                    <p:animEffect transition="in" filter="fade">
                                      <p:cBhvr>
                                        <p:cTn id="15" dur="300"/>
                                        <p:tgtEl>
                                          <p:spTgt spid="276"/>
                                        </p:tgtEl>
                                      </p:cBhvr>
                                    </p:animEffect>
                                  </p:childTnLst>
                                </p:cTn>
                              </p:par>
                            </p:childTnLst>
                          </p:cTn>
                        </p:par>
                        <p:par>
                          <p:cTn id="16" fill="hold">
                            <p:stCondLst>
                              <p:cond delay="900"/>
                            </p:stCondLst>
                            <p:childTnLst>
                              <p:par>
                                <p:cTn id="17" presetID="10" presetClass="entr" presetSubtype="0" fill="hold" nodeType="afterEffect">
                                  <p:stCondLst>
                                    <p:cond delay="0"/>
                                  </p:stCondLst>
                                  <p:childTnLst>
                                    <p:set>
                                      <p:cBhvr>
                                        <p:cTn id="18" dur="1" fill="hold">
                                          <p:stCondLst>
                                            <p:cond delay="0"/>
                                          </p:stCondLst>
                                        </p:cTn>
                                        <p:tgtEl>
                                          <p:spTgt spid="258"/>
                                        </p:tgtEl>
                                        <p:attrNameLst>
                                          <p:attrName>style.visibility</p:attrName>
                                        </p:attrNameLst>
                                      </p:cBhvr>
                                      <p:to>
                                        <p:strVal val="visible"/>
                                      </p:to>
                                    </p:set>
                                    <p:animEffect transition="in" filter="fade">
                                      <p:cBhvr>
                                        <p:cTn id="19" dur="300"/>
                                        <p:tgtEl>
                                          <p:spTgt spid="258"/>
                                        </p:tgtEl>
                                      </p:cBhvr>
                                    </p:animEffect>
                                  </p:childTnLst>
                                </p:cTn>
                              </p:par>
                              <p:par>
                                <p:cTn id="20" presetID="10" presetClass="entr" presetSubtype="0" fill="hold" nodeType="withEffect">
                                  <p:stCondLst>
                                    <p:cond delay="0"/>
                                  </p:stCondLst>
                                  <p:childTnLst>
                                    <p:set>
                                      <p:cBhvr>
                                        <p:cTn id="21" dur="1" fill="hold">
                                          <p:stCondLst>
                                            <p:cond delay="0"/>
                                          </p:stCondLst>
                                        </p:cTn>
                                        <p:tgtEl>
                                          <p:spTgt spid="259"/>
                                        </p:tgtEl>
                                        <p:attrNameLst>
                                          <p:attrName>style.visibility</p:attrName>
                                        </p:attrNameLst>
                                      </p:cBhvr>
                                      <p:to>
                                        <p:strVal val="visible"/>
                                      </p:to>
                                    </p:set>
                                    <p:animEffect transition="in" filter="fade">
                                      <p:cBhvr>
                                        <p:cTn id="22" dur="300"/>
                                        <p:tgtEl>
                                          <p:spTgt spid="259"/>
                                        </p:tgtEl>
                                      </p:cBhvr>
                                    </p:animEffect>
                                  </p:childTnLst>
                                </p:cTn>
                              </p:par>
                            </p:childTnLst>
                          </p:cTn>
                        </p:par>
                        <p:par>
                          <p:cTn id="23" fill="hold">
                            <p:stCondLst>
                              <p:cond delay="1200"/>
                            </p:stCondLst>
                            <p:childTnLst>
                              <p:par>
                                <p:cTn id="24" presetID="10" presetClass="entr" presetSubtype="0" fill="hold" nodeType="afterEffect">
                                  <p:stCondLst>
                                    <p:cond delay="0"/>
                                  </p:stCondLst>
                                  <p:childTnLst>
                                    <p:set>
                                      <p:cBhvr>
                                        <p:cTn id="25" dur="1" fill="hold">
                                          <p:stCondLst>
                                            <p:cond delay="0"/>
                                          </p:stCondLst>
                                        </p:cTn>
                                        <p:tgtEl>
                                          <p:spTgt spid="260"/>
                                        </p:tgtEl>
                                        <p:attrNameLst>
                                          <p:attrName>style.visibility</p:attrName>
                                        </p:attrNameLst>
                                      </p:cBhvr>
                                      <p:to>
                                        <p:strVal val="visible"/>
                                      </p:to>
                                    </p:set>
                                    <p:animEffect transition="in" filter="fade">
                                      <p:cBhvr>
                                        <p:cTn id="26" dur="300"/>
                                        <p:tgtEl>
                                          <p:spTgt spid="260"/>
                                        </p:tgtEl>
                                      </p:cBhvr>
                                    </p:animEffect>
                                  </p:childTnLst>
                                </p:cTn>
                              </p:par>
                              <p:par>
                                <p:cTn id="27" presetID="10" presetClass="entr" presetSubtype="0" fill="hold" nodeType="withEffect">
                                  <p:stCondLst>
                                    <p:cond delay="0"/>
                                  </p:stCondLst>
                                  <p:childTnLst>
                                    <p:set>
                                      <p:cBhvr>
                                        <p:cTn id="28" dur="1" fill="hold">
                                          <p:stCondLst>
                                            <p:cond delay="0"/>
                                          </p:stCondLst>
                                        </p:cTn>
                                        <p:tgtEl>
                                          <p:spTgt spid="261"/>
                                        </p:tgtEl>
                                        <p:attrNameLst>
                                          <p:attrName>style.visibility</p:attrName>
                                        </p:attrNameLst>
                                      </p:cBhvr>
                                      <p:to>
                                        <p:strVal val="visible"/>
                                      </p:to>
                                    </p:set>
                                    <p:animEffect transition="in" filter="fade">
                                      <p:cBhvr>
                                        <p:cTn id="29" dur="300"/>
                                        <p:tgtEl>
                                          <p:spTgt spid="261"/>
                                        </p:tgtEl>
                                      </p:cBhvr>
                                    </p:animEffect>
                                  </p:childTnLst>
                                </p:cTn>
                              </p:par>
                            </p:childTnLst>
                          </p:cTn>
                        </p:par>
                        <p:par>
                          <p:cTn id="30" fill="hold">
                            <p:stCondLst>
                              <p:cond delay="1500"/>
                            </p:stCondLst>
                            <p:childTnLst>
                              <p:par>
                                <p:cTn id="31" presetID="10" presetClass="entr" presetSubtype="0" fill="hold" nodeType="afterEffect">
                                  <p:stCondLst>
                                    <p:cond delay="0"/>
                                  </p:stCondLst>
                                  <p:childTnLst>
                                    <p:set>
                                      <p:cBhvr>
                                        <p:cTn id="32" dur="1" fill="hold">
                                          <p:stCondLst>
                                            <p:cond delay="0"/>
                                          </p:stCondLst>
                                        </p:cTn>
                                        <p:tgtEl>
                                          <p:spTgt spid="262"/>
                                        </p:tgtEl>
                                        <p:attrNameLst>
                                          <p:attrName>style.visibility</p:attrName>
                                        </p:attrNameLst>
                                      </p:cBhvr>
                                      <p:to>
                                        <p:strVal val="visible"/>
                                      </p:to>
                                    </p:set>
                                    <p:animEffect transition="in" filter="fade">
                                      <p:cBhvr>
                                        <p:cTn id="33" dur="300"/>
                                        <p:tgtEl>
                                          <p:spTgt spid="262"/>
                                        </p:tgtEl>
                                      </p:cBhvr>
                                    </p:animEffect>
                                  </p:childTnLst>
                                </p:cTn>
                              </p:par>
                              <p:par>
                                <p:cTn id="34" presetID="10" presetClass="entr" presetSubtype="0" fill="hold" nodeType="withEffect">
                                  <p:stCondLst>
                                    <p:cond delay="0"/>
                                  </p:stCondLst>
                                  <p:childTnLst>
                                    <p:set>
                                      <p:cBhvr>
                                        <p:cTn id="35" dur="1" fill="hold">
                                          <p:stCondLst>
                                            <p:cond delay="0"/>
                                          </p:stCondLst>
                                        </p:cTn>
                                        <p:tgtEl>
                                          <p:spTgt spid="263"/>
                                        </p:tgtEl>
                                        <p:attrNameLst>
                                          <p:attrName>style.visibility</p:attrName>
                                        </p:attrNameLst>
                                      </p:cBhvr>
                                      <p:to>
                                        <p:strVal val="visible"/>
                                      </p:to>
                                    </p:set>
                                    <p:animEffect transition="in" filter="fade">
                                      <p:cBhvr>
                                        <p:cTn id="36" dur="300"/>
                                        <p:tgtEl>
                                          <p:spTgt spid="263"/>
                                        </p:tgtEl>
                                      </p:cBhvr>
                                    </p:animEffect>
                                  </p:childTnLst>
                                </p:cTn>
                              </p:par>
                            </p:childTnLst>
                          </p:cTn>
                        </p:par>
                        <p:par>
                          <p:cTn id="37" fill="hold">
                            <p:stCondLst>
                              <p:cond delay="1800"/>
                            </p:stCondLst>
                            <p:childTnLst>
                              <p:par>
                                <p:cTn id="38" presetID="10" presetClass="entr" presetSubtype="0" fill="hold" nodeType="afterEffect">
                                  <p:stCondLst>
                                    <p:cond delay="0"/>
                                  </p:stCondLst>
                                  <p:childTnLst>
                                    <p:set>
                                      <p:cBhvr>
                                        <p:cTn id="39" dur="1" fill="hold">
                                          <p:stCondLst>
                                            <p:cond delay="0"/>
                                          </p:stCondLst>
                                        </p:cTn>
                                        <p:tgtEl>
                                          <p:spTgt spid="264"/>
                                        </p:tgtEl>
                                        <p:attrNameLst>
                                          <p:attrName>style.visibility</p:attrName>
                                        </p:attrNameLst>
                                      </p:cBhvr>
                                      <p:to>
                                        <p:strVal val="visible"/>
                                      </p:to>
                                    </p:set>
                                    <p:animEffect transition="in" filter="fade">
                                      <p:cBhvr>
                                        <p:cTn id="40" dur="300"/>
                                        <p:tgtEl>
                                          <p:spTgt spid="264"/>
                                        </p:tgtEl>
                                      </p:cBhvr>
                                    </p:animEffect>
                                  </p:childTnLst>
                                </p:cTn>
                              </p:par>
                              <p:par>
                                <p:cTn id="41" presetID="10" presetClass="entr" presetSubtype="0" fill="hold" nodeType="withEffect">
                                  <p:stCondLst>
                                    <p:cond delay="0"/>
                                  </p:stCondLst>
                                  <p:childTnLst>
                                    <p:set>
                                      <p:cBhvr>
                                        <p:cTn id="42" dur="1" fill="hold">
                                          <p:stCondLst>
                                            <p:cond delay="0"/>
                                          </p:stCondLst>
                                        </p:cTn>
                                        <p:tgtEl>
                                          <p:spTgt spid="265"/>
                                        </p:tgtEl>
                                        <p:attrNameLst>
                                          <p:attrName>style.visibility</p:attrName>
                                        </p:attrNameLst>
                                      </p:cBhvr>
                                      <p:to>
                                        <p:strVal val="visible"/>
                                      </p:to>
                                    </p:set>
                                    <p:animEffect transition="in" filter="fade">
                                      <p:cBhvr>
                                        <p:cTn id="43" dur="300"/>
                                        <p:tgtEl>
                                          <p:spTgt spid="265"/>
                                        </p:tgtEl>
                                      </p:cBhvr>
                                    </p:animEffect>
                                  </p:childTnLst>
                                </p:cTn>
                              </p:par>
                            </p:childTnLst>
                          </p:cTn>
                        </p:par>
                        <p:par>
                          <p:cTn id="44" fill="hold">
                            <p:stCondLst>
                              <p:cond delay="2100"/>
                            </p:stCondLst>
                            <p:childTnLst>
                              <p:par>
                                <p:cTn id="45" presetID="10" presetClass="entr" presetSubtype="0" fill="hold" nodeType="afterEffect">
                                  <p:stCondLst>
                                    <p:cond delay="0"/>
                                  </p:stCondLst>
                                  <p:childTnLst>
                                    <p:set>
                                      <p:cBhvr>
                                        <p:cTn id="46" dur="1" fill="hold">
                                          <p:stCondLst>
                                            <p:cond delay="0"/>
                                          </p:stCondLst>
                                        </p:cTn>
                                        <p:tgtEl>
                                          <p:spTgt spid="266"/>
                                        </p:tgtEl>
                                        <p:attrNameLst>
                                          <p:attrName>style.visibility</p:attrName>
                                        </p:attrNameLst>
                                      </p:cBhvr>
                                      <p:to>
                                        <p:strVal val="visible"/>
                                      </p:to>
                                    </p:set>
                                    <p:animEffect transition="in" filter="fade">
                                      <p:cBhvr>
                                        <p:cTn id="47" dur="300"/>
                                        <p:tgtEl>
                                          <p:spTgt spid="266"/>
                                        </p:tgtEl>
                                      </p:cBhvr>
                                    </p:animEffect>
                                  </p:childTnLst>
                                </p:cTn>
                              </p:par>
                              <p:par>
                                <p:cTn id="48" presetID="10" presetClass="entr" presetSubtype="0" fill="hold" nodeType="withEffect">
                                  <p:stCondLst>
                                    <p:cond delay="0"/>
                                  </p:stCondLst>
                                  <p:childTnLst>
                                    <p:set>
                                      <p:cBhvr>
                                        <p:cTn id="49" dur="1" fill="hold">
                                          <p:stCondLst>
                                            <p:cond delay="0"/>
                                          </p:stCondLst>
                                        </p:cTn>
                                        <p:tgtEl>
                                          <p:spTgt spid="267"/>
                                        </p:tgtEl>
                                        <p:attrNameLst>
                                          <p:attrName>style.visibility</p:attrName>
                                        </p:attrNameLst>
                                      </p:cBhvr>
                                      <p:to>
                                        <p:strVal val="visible"/>
                                      </p:to>
                                    </p:set>
                                    <p:animEffect transition="in" filter="fade">
                                      <p:cBhvr>
                                        <p:cTn id="50" dur="300"/>
                                        <p:tgtEl>
                                          <p:spTgt spid="267"/>
                                        </p:tgtEl>
                                      </p:cBhvr>
                                    </p:animEffect>
                                  </p:childTnLst>
                                </p:cTn>
                              </p:par>
                            </p:childTnLst>
                          </p:cTn>
                        </p:par>
                        <p:par>
                          <p:cTn id="51" fill="hold">
                            <p:stCondLst>
                              <p:cond delay="2400"/>
                            </p:stCondLst>
                            <p:childTnLst>
                              <p:par>
                                <p:cTn id="52" presetID="10" presetClass="entr" presetSubtype="0" fill="hold" nodeType="afterEffect">
                                  <p:stCondLst>
                                    <p:cond delay="0"/>
                                  </p:stCondLst>
                                  <p:childTnLst>
                                    <p:set>
                                      <p:cBhvr>
                                        <p:cTn id="53" dur="1" fill="hold">
                                          <p:stCondLst>
                                            <p:cond delay="0"/>
                                          </p:stCondLst>
                                        </p:cTn>
                                        <p:tgtEl>
                                          <p:spTgt spid="268"/>
                                        </p:tgtEl>
                                        <p:attrNameLst>
                                          <p:attrName>style.visibility</p:attrName>
                                        </p:attrNameLst>
                                      </p:cBhvr>
                                      <p:to>
                                        <p:strVal val="visible"/>
                                      </p:to>
                                    </p:set>
                                    <p:animEffect transition="in" filter="fade">
                                      <p:cBhvr>
                                        <p:cTn id="54" dur="500"/>
                                        <p:tgtEl>
                                          <p:spTgt spid="268"/>
                                        </p:tgtEl>
                                      </p:cBhvr>
                                    </p:animEffect>
                                  </p:childTnLst>
                                </p:cTn>
                              </p:par>
                            </p:childTnLst>
                          </p:cTn>
                        </p:par>
                        <p:par>
                          <p:cTn id="55" fill="hold">
                            <p:stCondLst>
                              <p:cond delay="2900"/>
                            </p:stCondLst>
                            <p:childTnLst>
                              <p:par>
                                <p:cTn id="56" presetID="10" presetClass="entr" presetSubtype="0" fill="hold" nodeType="afterEffect">
                                  <p:stCondLst>
                                    <p:cond delay="0"/>
                                  </p:stCondLst>
                                  <p:childTnLst>
                                    <p:set>
                                      <p:cBhvr>
                                        <p:cTn id="57" dur="1" fill="hold">
                                          <p:stCondLst>
                                            <p:cond delay="0"/>
                                          </p:stCondLst>
                                        </p:cTn>
                                        <p:tgtEl>
                                          <p:spTgt spid="270"/>
                                        </p:tgtEl>
                                        <p:attrNameLst>
                                          <p:attrName>style.visibility</p:attrName>
                                        </p:attrNameLst>
                                      </p:cBhvr>
                                      <p:to>
                                        <p:strVal val="visible"/>
                                      </p:to>
                                    </p:set>
                                    <p:animEffect transition="in" filter="fade">
                                      <p:cBhvr>
                                        <p:cTn id="58" dur="500"/>
                                        <p:tgtEl>
                                          <p:spTgt spid="270"/>
                                        </p:tgtEl>
                                      </p:cBhvr>
                                    </p:animEffect>
                                  </p:childTnLst>
                                </p:cTn>
                              </p:par>
                            </p:childTnLst>
                          </p:cTn>
                        </p:par>
                        <p:par>
                          <p:cTn id="59" fill="hold">
                            <p:stCondLst>
                              <p:cond delay="3400"/>
                            </p:stCondLst>
                            <p:childTnLst>
                              <p:par>
                                <p:cTn id="60" presetID="10" presetClass="entr" presetSubtype="0" fill="hold" nodeType="afterEffect">
                                  <p:stCondLst>
                                    <p:cond delay="0"/>
                                  </p:stCondLst>
                                  <p:childTnLst>
                                    <p:set>
                                      <p:cBhvr>
                                        <p:cTn id="61" dur="1" fill="hold">
                                          <p:stCondLst>
                                            <p:cond delay="0"/>
                                          </p:stCondLst>
                                        </p:cTn>
                                        <p:tgtEl>
                                          <p:spTgt spid="269"/>
                                        </p:tgtEl>
                                        <p:attrNameLst>
                                          <p:attrName>style.visibility</p:attrName>
                                        </p:attrNameLst>
                                      </p:cBhvr>
                                      <p:to>
                                        <p:strVal val="visible"/>
                                      </p:to>
                                    </p:set>
                                    <p:animEffect transition="in" filter="fade">
                                      <p:cBhvr>
                                        <p:cTn id="62" dur="500"/>
                                        <p:tgtEl>
                                          <p:spTgt spid="269"/>
                                        </p:tgtEl>
                                      </p:cBhvr>
                                    </p:animEffect>
                                  </p:childTnLst>
                                </p:cTn>
                              </p:par>
                            </p:childTnLst>
                          </p:cTn>
                        </p:par>
                        <p:par>
                          <p:cTn id="63" fill="hold">
                            <p:stCondLst>
                              <p:cond delay="3900"/>
                            </p:stCondLst>
                            <p:childTnLst>
                              <p:par>
                                <p:cTn id="64" presetID="10" presetClass="entr" presetSubtype="0" fill="hold" nodeType="afterEffect">
                                  <p:stCondLst>
                                    <p:cond delay="0"/>
                                  </p:stCondLst>
                                  <p:childTnLst>
                                    <p:set>
                                      <p:cBhvr>
                                        <p:cTn id="65" dur="1" fill="hold">
                                          <p:stCondLst>
                                            <p:cond delay="0"/>
                                          </p:stCondLst>
                                        </p:cTn>
                                        <p:tgtEl>
                                          <p:spTgt spid="271"/>
                                        </p:tgtEl>
                                        <p:attrNameLst>
                                          <p:attrName>style.visibility</p:attrName>
                                        </p:attrNameLst>
                                      </p:cBhvr>
                                      <p:to>
                                        <p:strVal val="visible"/>
                                      </p:to>
                                    </p:set>
                                    <p:animEffect transition="in" filter="fade">
                                      <p:cBhvr>
                                        <p:cTn id="66" dur="500"/>
                                        <p:tgtEl>
                                          <p:spTgt spid="271"/>
                                        </p:tgtEl>
                                      </p:cBhvr>
                                    </p:animEffect>
                                  </p:childTnLst>
                                </p:cTn>
                              </p:par>
                            </p:childTnLst>
                          </p:cTn>
                        </p:par>
                        <p:par>
                          <p:cTn id="67" fill="hold">
                            <p:stCondLst>
                              <p:cond delay="4400"/>
                            </p:stCondLst>
                            <p:childTnLst>
                              <p:par>
                                <p:cTn id="68" presetID="10" presetClass="entr" presetSubtype="0" fill="hold" nodeType="afterEffect">
                                  <p:stCondLst>
                                    <p:cond delay="0"/>
                                  </p:stCondLst>
                                  <p:childTnLst>
                                    <p:set>
                                      <p:cBhvr>
                                        <p:cTn id="69" dur="1" fill="hold">
                                          <p:stCondLst>
                                            <p:cond delay="0"/>
                                          </p:stCondLst>
                                        </p:cTn>
                                        <p:tgtEl>
                                          <p:spTgt spid="272"/>
                                        </p:tgtEl>
                                        <p:attrNameLst>
                                          <p:attrName>style.visibility</p:attrName>
                                        </p:attrNameLst>
                                      </p:cBhvr>
                                      <p:to>
                                        <p:strVal val="visible"/>
                                      </p:to>
                                    </p:set>
                                    <p:animEffect transition="in" filter="fade">
                                      <p:cBhvr>
                                        <p:cTn id="70" dur="400"/>
                                        <p:tgtEl>
                                          <p:spTgt spid="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6"/>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Every requirement checked on the CAD model</a:t>
            </a:r>
            <a:endParaRPr/>
          </a:p>
        </p:txBody>
      </p:sp>
      <p:sp>
        <p:nvSpPr>
          <p:cNvPr id="283" name="Google Shape;283;p6"/>
          <p:cNvSpPr/>
          <p:nvPr/>
        </p:nvSpPr>
        <p:spPr>
          <a:xfrm>
            <a:off x="484632" y="1645920"/>
            <a:ext cx="3406140" cy="114300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 name="Google Shape;284;p6"/>
          <p:cNvSpPr txBox="1"/>
          <p:nvPr/>
        </p:nvSpPr>
        <p:spPr>
          <a:xfrm>
            <a:off x="667512" y="1700784"/>
            <a:ext cx="3040380" cy="56692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3000" b="1" i="0">
                <a:solidFill>
                  <a:srgbClr val="005686"/>
                </a:solidFill>
                <a:latin typeface="Calibri"/>
                <a:ea typeface="Calibri"/>
                <a:cs typeface="Calibri"/>
                <a:sym typeface="Calibri"/>
              </a:rPr>
              <a:t>143 mm</a:t>
            </a:r>
            <a:endParaRPr/>
          </a:p>
        </p:txBody>
      </p:sp>
      <p:sp>
        <p:nvSpPr>
          <p:cNvPr id="285" name="Google Shape;285;p6"/>
          <p:cNvSpPr txBox="1"/>
          <p:nvPr/>
        </p:nvSpPr>
        <p:spPr>
          <a:xfrm>
            <a:off x="667512" y="2249424"/>
            <a:ext cx="3040380" cy="29260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1" i="0">
                <a:solidFill>
                  <a:srgbClr val="1E2B36"/>
                </a:solidFill>
                <a:latin typeface="Calibri"/>
                <a:ea typeface="Calibri"/>
                <a:cs typeface="Calibri"/>
                <a:sym typeface="Calibri"/>
              </a:rPr>
              <a:t>freeboard</a:t>
            </a:r>
            <a:endParaRPr/>
          </a:p>
        </p:txBody>
      </p:sp>
      <p:sp>
        <p:nvSpPr>
          <p:cNvPr id="286" name="Google Shape;286;p6"/>
          <p:cNvSpPr txBox="1"/>
          <p:nvPr/>
        </p:nvSpPr>
        <p:spPr>
          <a:xfrm>
            <a:off x="667512" y="2514600"/>
            <a:ext cx="3040380" cy="27432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200" b="0" i="0">
                <a:solidFill>
                  <a:srgbClr val="5B6B78"/>
                </a:solidFill>
                <a:latin typeface="Calibri"/>
                <a:ea typeface="Calibri"/>
                <a:cs typeface="Calibri"/>
                <a:sym typeface="Calibri"/>
              </a:rPr>
              <a:t>requirement ≥ 100 mm</a:t>
            </a:r>
            <a:endParaRPr/>
          </a:p>
        </p:txBody>
      </p:sp>
      <p:sp>
        <p:nvSpPr>
          <p:cNvPr id="287" name="Google Shape;287;p6"/>
          <p:cNvSpPr/>
          <p:nvPr/>
        </p:nvSpPr>
        <p:spPr>
          <a:xfrm>
            <a:off x="4119372" y="1645920"/>
            <a:ext cx="3406140" cy="114300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6"/>
          <p:cNvSpPr txBox="1"/>
          <p:nvPr/>
        </p:nvSpPr>
        <p:spPr>
          <a:xfrm>
            <a:off x="4302252" y="1700784"/>
            <a:ext cx="3040380" cy="56692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3000" b="1" i="0">
                <a:solidFill>
                  <a:srgbClr val="005686"/>
                </a:solidFill>
                <a:latin typeface="Calibri"/>
                <a:ea typeface="Calibri"/>
                <a:cs typeface="Calibri"/>
                <a:sym typeface="Calibri"/>
              </a:rPr>
              <a:t>2.27×</a:t>
            </a:r>
            <a:endParaRPr/>
          </a:p>
        </p:txBody>
      </p:sp>
      <p:sp>
        <p:nvSpPr>
          <p:cNvPr id="289" name="Google Shape;289;p6"/>
          <p:cNvSpPr txBox="1"/>
          <p:nvPr/>
        </p:nvSpPr>
        <p:spPr>
          <a:xfrm>
            <a:off x="4302252" y="2249424"/>
            <a:ext cx="3040380" cy="29260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1" i="0">
                <a:solidFill>
                  <a:srgbClr val="1E2B36"/>
                </a:solidFill>
                <a:latin typeface="Calibri"/>
                <a:ea typeface="Calibri"/>
                <a:cs typeface="Calibri"/>
                <a:sym typeface="Calibri"/>
              </a:rPr>
              <a:t>reserve buoyancy</a:t>
            </a:r>
            <a:endParaRPr/>
          </a:p>
        </p:txBody>
      </p:sp>
      <p:sp>
        <p:nvSpPr>
          <p:cNvPr id="290" name="Google Shape;290;p6"/>
          <p:cNvSpPr txBox="1"/>
          <p:nvPr/>
        </p:nvSpPr>
        <p:spPr>
          <a:xfrm>
            <a:off x="4302252" y="2514600"/>
            <a:ext cx="3040380" cy="27432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200" b="0" i="0">
                <a:solidFill>
                  <a:srgbClr val="5B6B78"/>
                </a:solidFill>
                <a:latin typeface="Calibri"/>
                <a:ea typeface="Calibri"/>
                <a:cs typeface="Calibri"/>
                <a:sym typeface="Calibri"/>
              </a:rPr>
              <a:t>requirement ≥ 2.0×</a:t>
            </a:r>
            <a:endParaRPr/>
          </a:p>
        </p:txBody>
      </p:sp>
      <p:sp>
        <p:nvSpPr>
          <p:cNvPr id="291" name="Google Shape;291;p6"/>
          <p:cNvSpPr/>
          <p:nvPr/>
        </p:nvSpPr>
        <p:spPr>
          <a:xfrm>
            <a:off x="484632" y="2971800"/>
            <a:ext cx="3406140" cy="114300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2" name="Google Shape;292;p6"/>
          <p:cNvSpPr txBox="1"/>
          <p:nvPr/>
        </p:nvSpPr>
        <p:spPr>
          <a:xfrm>
            <a:off x="667512" y="3026664"/>
            <a:ext cx="3040380" cy="56692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3000" b="1" i="0">
                <a:solidFill>
                  <a:srgbClr val="005686"/>
                </a:solidFill>
                <a:latin typeface="Calibri"/>
                <a:ea typeface="Calibri"/>
                <a:cs typeface="Calibri"/>
                <a:sym typeface="Calibri"/>
              </a:rPr>
              <a:t>60°</a:t>
            </a:r>
            <a:endParaRPr/>
          </a:p>
        </p:txBody>
      </p:sp>
      <p:sp>
        <p:nvSpPr>
          <p:cNvPr id="293" name="Google Shape;293;p6"/>
          <p:cNvSpPr txBox="1"/>
          <p:nvPr/>
        </p:nvSpPr>
        <p:spPr>
          <a:xfrm>
            <a:off x="667512" y="3575304"/>
            <a:ext cx="3040380" cy="29260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1" i="0">
                <a:solidFill>
                  <a:srgbClr val="1E2B36"/>
                </a:solidFill>
                <a:latin typeface="Calibri"/>
                <a:ea typeface="Calibri"/>
                <a:cs typeface="Calibri"/>
                <a:sym typeface="Calibri"/>
              </a:rPr>
              <a:t>righting arm still positive at</a:t>
            </a:r>
            <a:endParaRPr/>
          </a:p>
        </p:txBody>
      </p:sp>
      <p:sp>
        <p:nvSpPr>
          <p:cNvPr id="294" name="Google Shape;294;p6"/>
          <p:cNvSpPr txBox="1"/>
          <p:nvPr/>
        </p:nvSpPr>
        <p:spPr>
          <a:xfrm>
            <a:off x="667512" y="3840480"/>
            <a:ext cx="3040380" cy="27432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200" b="0" i="0">
                <a:solidFill>
                  <a:srgbClr val="5B6B78"/>
                </a:solidFill>
                <a:latin typeface="Calibri"/>
                <a:ea typeface="Calibri"/>
                <a:cs typeface="Calibri"/>
                <a:sym typeface="Calibri"/>
              </a:rPr>
              <a:t>max 180 mm at 25°</a:t>
            </a:r>
            <a:endParaRPr/>
          </a:p>
        </p:txBody>
      </p:sp>
      <p:sp>
        <p:nvSpPr>
          <p:cNvPr id="295" name="Google Shape;295;p6"/>
          <p:cNvSpPr/>
          <p:nvPr/>
        </p:nvSpPr>
        <p:spPr>
          <a:xfrm>
            <a:off x="4119372" y="2971800"/>
            <a:ext cx="3406140" cy="114300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 name="Google Shape;296;p6"/>
          <p:cNvSpPr txBox="1"/>
          <p:nvPr/>
        </p:nvSpPr>
        <p:spPr>
          <a:xfrm>
            <a:off x="4302252" y="3026664"/>
            <a:ext cx="3040380" cy="56692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3000" b="1" i="0">
                <a:solidFill>
                  <a:srgbClr val="005686"/>
                </a:solidFill>
                <a:latin typeface="Calibri"/>
                <a:ea typeface="Calibri"/>
                <a:cs typeface="Calibri"/>
                <a:sym typeface="Calibri"/>
              </a:rPr>
              <a:t>642 N</a:t>
            </a:r>
            <a:endParaRPr/>
          </a:p>
        </p:txBody>
      </p:sp>
      <p:sp>
        <p:nvSpPr>
          <p:cNvPr id="297" name="Google Shape;297;p6"/>
          <p:cNvSpPr txBox="1"/>
          <p:nvPr/>
        </p:nvSpPr>
        <p:spPr>
          <a:xfrm>
            <a:off x="4302252" y="3575304"/>
            <a:ext cx="3040380" cy="29260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1" i="0">
                <a:solidFill>
                  <a:srgbClr val="1E2B36"/>
                </a:solidFill>
                <a:latin typeface="Calibri"/>
                <a:ea typeface="Calibri"/>
                <a:cs typeface="Calibri"/>
                <a:sym typeface="Calibri"/>
              </a:rPr>
              <a:t>flood + debris load at the float</a:t>
            </a:r>
            <a:endParaRPr/>
          </a:p>
        </p:txBody>
      </p:sp>
      <p:sp>
        <p:nvSpPr>
          <p:cNvPr id="298" name="Google Shape;298;p6"/>
          <p:cNvSpPr txBox="1"/>
          <p:nvPr/>
        </p:nvSpPr>
        <p:spPr>
          <a:xfrm>
            <a:off x="4302252" y="3840480"/>
            <a:ext cx="3040380" cy="27432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200" b="0" i="0">
                <a:solidFill>
                  <a:srgbClr val="5B6B78"/>
                </a:solidFill>
                <a:latin typeface="Calibri"/>
                <a:ea typeface="Calibri"/>
                <a:cs typeface="Calibri"/>
                <a:sym typeface="Calibri"/>
              </a:rPr>
              <a:t>142 N drag at 1.5 m/s + 500 N debris</a:t>
            </a:r>
            <a:endParaRPr/>
          </a:p>
        </p:txBody>
      </p:sp>
      <p:sp>
        <p:nvSpPr>
          <p:cNvPr id="299" name="Google Shape;299;p6"/>
          <p:cNvSpPr/>
          <p:nvPr/>
        </p:nvSpPr>
        <p:spPr>
          <a:xfrm>
            <a:off x="484632" y="4297680"/>
            <a:ext cx="3406140" cy="114300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6"/>
          <p:cNvSpPr txBox="1"/>
          <p:nvPr/>
        </p:nvSpPr>
        <p:spPr>
          <a:xfrm>
            <a:off x="667512" y="4352544"/>
            <a:ext cx="3040380" cy="56692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3000" b="1" i="0">
                <a:solidFill>
                  <a:srgbClr val="005686"/>
                </a:solidFill>
                <a:latin typeface="Calibri"/>
                <a:ea typeface="Calibri"/>
                <a:cs typeface="Calibri"/>
                <a:sym typeface="Calibri"/>
              </a:rPr>
              <a:t>2.66</a:t>
            </a:r>
            <a:endParaRPr/>
          </a:p>
        </p:txBody>
      </p:sp>
      <p:sp>
        <p:nvSpPr>
          <p:cNvPr id="301" name="Google Shape;301;p6"/>
          <p:cNvSpPr txBox="1"/>
          <p:nvPr/>
        </p:nvSpPr>
        <p:spPr>
          <a:xfrm>
            <a:off x="667512" y="4901184"/>
            <a:ext cx="3040380" cy="29260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1" i="0">
                <a:solidFill>
                  <a:srgbClr val="1E2B36"/>
                </a:solidFill>
                <a:latin typeface="Calibri"/>
                <a:ea typeface="Calibri"/>
                <a:cs typeface="Calibri"/>
                <a:sym typeface="Calibri"/>
              </a:rPr>
              <a:t>pole safety factor, static load case</a:t>
            </a:r>
            <a:endParaRPr/>
          </a:p>
        </p:txBody>
      </p:sp>
      <p:sp>
        <p:nvSpPr>
          <p:cNvPr id="302" name="Google Shape;302;p6"/>
          <p:cNvSpPr txBox="1"/>
          <p:nvPr/>
        </p:nvSpPr>
        <p:spPr>
          <a:xfrm>
            <a:off x="667512" y="5166360"/>
            <a:ext cx="3040380" cy="27432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200" b="0" i="0">
                <a:solidFill>
                  <a:srgbClr val="5B6B78"/>
                </a:solidFill>
                <a:latin typeface="Calibri"/>
                <a:ea typeface="Calibri"/>
                <a:cs typeface="Calibri"/>
                <a:sym typeface="Calibri"/>
              </a:rPr>
              <a:t>pinned + carriage moment: 64 vs 170 MPa</a:t>
            </a:r>
            <a:endParaRPr/>
          </a:p>
        </p:txBody>
      </p:sp>
      <p:sp>
        <p:nvSpPr>
          <p:cNvPr id="303" name="Google Shape;303;p6"/>
          <p:cNvSpPr/>
          <p:nvPr/>
        </p:nvSpPr>
        <p:spPr>
          <a:xfrm>
            <a:off x="4119372" y="4297680"/>
            <a:ext cx="3406140" cy="114300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4" name="Google Shape;304;p6"/>
          <p:cNvSpPr txBox="1"/>
          <p:nvPr/>
        </p:nvSpPr>
        <p:spPr>
          <a:xfrm>
            <a:off x="4302252" y="4352544"/>
            <a:ext cx="3040380" cy="56692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3000" b="1" i="0">
                <a:solidFill>
                  <a:srgbClr val="005686"/>
                </a:solidFill>
                <a:latin typeface="Calibri"/>
                <a:ea typeface="Calibri"/>
                <a:cs typeface="Calibri"/>
                <a:sym typeface="Calibri"/>
              </a:rPr>
              <a:t>8.6×</a:t>
            </a:r>
            <a:endParaRPr/>
          </a:p>
        </p:txBody>
      </p:sp>
      <p:sp>
        <p:nvSpPr>
          <p:cNvPr id="305" name="Google Shape;305;p6"/>
          <p:cNvSpPr txBox="1"/>
          <p:nvPr/>
        </p:nvSpPr>
        <p:spPr>
          <a:xfrm>
            <a:off x="4302252" y="4901184"/>
            <a:ext cx="3040380" cy="29260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1" i="0">
                <a:solidFill>
                  <a:srgbClr val="1E2B36"/>
                </a:solidFill>
                <a:latin typeface="Calibri"/>
                <a:ea typeface="Calibri"/>
                <a:cs typeface="Calibri"/>
                <a:sym typeface="Calibri"/>
              </a:rPr>
              <a:t>carriage anti-jam margin</a:t>
            </a:r>
            <a:endParaRPr/>
          </a:p>
        </p:txBody>
      </p:sp>
      <p:sp>
        <p:nvSpPr>
          <p:cNvPr id="306" name="Google Shape;306;p6"/>
          <p:cNvSpPr txBox="1"/>
          <p:nvPr/>
        </p:nvSpPr>
        <p:spPr>
          <a:xfrm>
            <a:off x="4302252" y="5166360"/>
            <a:ext cx="3040380" cy="27432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200" b="0" i="0">
                <a:solidFill>
                  <a:srgbClr val="5B6B78"/>
                </a:solidFill>
                <a:latin typeface="Calibri"/>
                <a:ea typeface="Calibri"/>
                <a:cs typeface="Calibri"/>
                <a:sym typeface="Calibri"/>
              </a:rPr>
              <a:t>1.7× even with seized rollers</a:t>
            </a:r>
            <a:endParaRPr/>
          </a:p>
        </p:txBody>
      </p:sp>
      <p:sp>
        <p:nvSpPr>
          <p:cNvPr id="307" name="Google Shape;307;p6"/>
          <p:cNvSpPr/>
          <p:nvPr/>
        </p:nvSpPr>
        <p:spPr>
          <a:xfrm>
            <a:off x="484632" y="5596128"/>
            <a:ext cx="7040880" cy="347472"/>
          </a:xfrm>
          <a:prstGeom prst="roundRect">
            <a:avLst>
              <a:gd name="adj" fmla="val 30000"/>
            </a:avLst>
          </a:prstGeom>
          <a:solidFill>
            <a:srgbClr val="005686"/>
          </a:solidFill>
          <a:ln>
            <a:noFill/>
          </a:ln>
        </p:spPr>
        <p:txBody>
          <a:bodyPr spcFirstLastPara="1" wrap="square" lIns="54850" tIns="18275" rIns="54850" bIns="18275" anchor="ctr" anchorCtr="0">
            <a:noAutofit/>
          </a:bodyPr>
          <a:lstStyle/>
          <a:p>
            <a:pPr marL="0" marR="0" lvl="0" indent="0" algn="ctr" rtl="0">
              <a:spcBef>
                <a:spcPts val="0"/>
              </a:spcBef>
              <a:spcAft>
                <a:spcPts val="0"/>
              </a:spcAft>
              <a:buNone/>
            </a:pPr>
            <a:r>
              <a:rPr lang="en-US" sz="1300" b="1" i="0">
                <a:solidFill>
                  <a:srgbClr val="FFFFFF"/>
                </a:solidFill>
                <a:latin typeface="Calibri"/>
                <a:ea typeface="Calibri"/>
                <a:cs typeface="Calibri"/>
                <a:sym typeface="Calibri"/>
              </a:rPr>
              <a:t>14 of 14 design checks pass · values computed from the R3 CAD geometry</a:t>
            </a:r>
            <a:endParaRPr/>
          </a:p>
        </p:txBody>
      </p:sp>
      <p:pic>
        <p:nvPicPr>
          <p:cNvPr id="308" name="Google Shape;308;p6" descr="0dc8b62994.png"/>
          <p:cNvPicPr preferRelativeResize="0"/>
          <p:nvPr/>
        </p:nvPicPr>
        <p:blipFill rotWithShape="1">
          <a:blip r:embed="rId3">
            <a:alphaModFix/>
          </a:blip>
          <a:srcRect/>
          <a:stretch/>
        </p:blipFill>
        <p:spPr>
          <a:xfrm>
            <a:off x="7818120" y="1645920"/>
            <a:ext cx="3886200" cy="3602535"/>
          </a:xfrm>
          <a:prstGeom prst="rect">
            <a:avLst/>
          </a:prstGeom>
          <a:noFill/>
          <a:ln>
            <a:noFill/>
          </a:ln>
        </p:spPr>
      </p:pic>
      <p:sp>
        <p:nvSpPr>
          <p:cNvPr id="309" name="Google Shape;309;p6"/>
          <p:cNvSpPr txBox="1"/>
          <p:nvPr/>
        </p:nvSpPr>
        <p:spPr>
          <a:xfrm>
            <a:off x="7818120" y="5303520"/>
            <a:ext cx="3886200" cy="73152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200" b="0" i="0">
                <a:solidFill>
                  <a:srgbClr val="5B6B78"/>
                </a:solidFill>
                <a:latin typeface="Calibri"/>
                <a:ea typeface="Calibri"/>
                <a:cs typeface="Calibri"/>
                <a:sym typeface="Calibri"/>
              </a:rPr>
              <a:t>SOLIDWORKS Simulation of the pole under the flood + debris load. Fixed ends give 4.4; we quote 2.66. Static case: dynamic impact and anchors still to verify.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3"/>
                                        </p:tgtEl>
                                        <p:attrNameLst>
                                          <p:attrName>style.visibility</p:attrName>
                                        </p:attrNameLst>
                                      </p:cBhvr>
                                      <p:to>
                                        <p:strVal val="visible"/>
                                      </p:to>
                                    </p:set>
                                    <p:animEffect transition="in" filter="fade">
                                      <p:cBhvr>
                                        <p:cTn id="7" dur="300"/>
                                        <p:tgtEl>
                                          <p:spTgt spid="283"/>
                                        </p:tgtEl>
                                      </p:cBhvr>
                                    </p:animEffect>
                                  </p:childTnLst>
                                </p:cTn>
                              </p:par>
                              <p:par>
                                <p:cTn id="8" presetID="10" presetClass="entr" presetSubtype="0" fill="hold" nodeType="withEffect">
                                  <p:stCondLst>
                                    <p:cond delay="0"/>
                                  </p:stCondLst>
                                  <p:childTnLst>
                                    <p:set>
                                      <p:cBhvr>
                                        <p:cTn id="9" dur="1" fill="hold">
                                          <p:stCondLst>
                                            <p:cond delay="0"/>
                                          </p:stCondLst>
                                        </p:cTn>
                                        <p:tgtEl>
                                          <p:spTgt spid="284"/>
                                        </p:tgtEl>
                                        <p:attrNameLst>
                                          <p:attrName>style.visibility</p:attrName>
                                        </p:attrNameLst>
                                      </p:cBhvr>
                                      <p:to>
                                        <p:strVal val="visible"/>
                                      </p:to>
                                    </p:set>
                                    <p:animEffect transition="in" filter="fade">
                                      <p:cBhvr>
                                        <p:cTn id="10" dur="300"/>
                                        <p:tgtEl>
                                          <p:spTgt spid="284"/>
                                        </p:tgtEl>
                                      </p:cBhvr>
                                    </p:animEffect>
                                  </p:childTnLst>
                                </p:cTn>
                              </p:par>
                              <p:par>
                                <p:cTn id="11" presetID="10" presetClass="entr" presetSubtype="0" fill="hold" nodeType="withEffect">
                                  <p:stCondLst>
                                    <p:cond delay="0"/>
                                  </p:stCondLst>
                                  <p:childTnLst>
                                    <p:set>
                                      <p:cBhvr>
                                        <p:cTn id="12" dur="1" fill="hold">
                                          <p:stCondLst>
                                            <p:cond delay="0"/>
                                          </p:stCondLst>
                                        </p:cTn>
                                        <p:tgtEl>
                                          <p:spTgt spid="285"/>
                                        </p:tgtEl>
                                        <p:attrNameLst>
                                          <p:attrName>style.visibility</p:attrName>
                                        </p:attrNameLst>
                                      </p:cBhvr>
                                      <p:to>
                                        <p:strVal val="visible"/>
                                      </p:to>
                                    </p:set>
                                    <p:animEffect transition="in" filter="fade">
                                      <p:cBhvr>
                                        <p:cTn id="13" dur="300"/>
                                        <p:tgtEl>
                                          <p:spTgt spid="285"/>
                                        </p:tgtEl>
                                      </p:cBhvr>
                                    </p:animEffect>
                                  </p:childTnLst>
                                </p:cTn>
                              </p:par>
                              <p:par>
                                <p:cTn id="14" presetID="10" presetClass="entr" presetSubtype="0" fill="hold" nodeType="withEffect">
                                  <p:stCondLst>
                                    <p:cond delay="0"/>
                                  </p:stCondLst>
                                  <p:childTnLst>
                                    <p:set>
                                      <p:cBhvr>
                                        <p:cTn id="15" dur="1" fill="hold">
                                          <p:stCondLst>
                                            <p:cond delay="0"/>
                                          </p:stCondLst>
                                        </p:cTn>
                                        <p:tgtEl>
                                          <p:spTgt spid="286"/>
                                        </p:tgtEl>
                                        <p:attrNameLst>
                                          <p:attrName>style.visibility</p:attrName>
                                        </p:attrNameLst>
                                      </p:cBhvr>
                                      <p:to>
                                        <p:strVal val="visible"/>
                                      </p:to>
                                    </p:set>
                                    <p:animEffect transition="in" filter="fade">
                                      <p:cBhvr>
                                        <p:cTn id="16" dur="300"/>
                                        <p:tgtEl>
                                          <p:spTgt spid="286"/>
                                        </p:tgtEl>
                                      </p:cBhvr>
                                    </p:animEffect>
                                  </p:childTnLst>
                                </p:cTn>
                              </p:par>
                            </p:childTnLst>
                          </p:cTn>
                        </p:par>
                        <p:par>
                          <p:cTn id="17" fill="hold">
                            <p:stCondLst>
                              <p:cond delay="300"/>
                            </p:stCondLst>
                            <p:childTnLst>
                              <p:par>
                                <p:cTn id="18" presetID="10" presetClass="entr" presetSubtype="0" fill="hold" nodeType="afterEffect">
                                  <p:stCondLst>
                                    <p:cond delay="0"/>
                                  </p:stCondLst>
                                  <p:childTnLst>
                                    <p:set>
                                      <p:cBhvr>
                                        <p:cTn id="19" dur="1" fill="hold">
                                          <p:stCondLst>
                                            <p:cond delay="0"/>
                                          </p:stCondLst>
                                        </p:cTn>
                                        <p:tgtEl>
                                          <p:spTgt spid="287"/>
                                        </p:tgtEl>
                                        <p:attrNameLst>
                                          <p:attrName>style.visibility</p:attrName>
                                        </p:attrNameLst>
                                      </p:cBhvr>
                                      <p:to>
                                        <p:strVal val="visible"/>
                                      </p:to>
                                    </p:set>
                                    <p:animEffect transition="in" filter="fade">
                                      <p:cBhvr>
                                        <p:cTn id="20" dur="300"/>
                                        <p:tgtEl>
                                          <p:spTgt spid="287"/>
                                        </p:tgtEl>
                                      </p:cBhvr>
                                    </p:animEffect>
                                  </p:childTnLst>
                                </p:cTn>
                              </p:par>
                              <p:par>
                                <p:cTn id="21" presetID="10" presetClass="entr" presetSubtype="0" fill="hold" nodeType="withEffect">
                                  <p:stCondLst>
                                    <p:cond delay="0"/>
                                  </p:stCondLst>
                                  <p:childTnLst>
                                    <p:set>
                                      <p:cBhvr>
                                        <p:cTn id="22" dur="1" fill="hold">
                                          <p:stCondLst>
                                            <p:cond delay="0"/>
                                          </p:stCondLst>
                                        </p:cTn>
                                        <p:tgtEl>
                                          <p:spTgt spid="288"/>
                                        </p:tgtEl>
                                        <p:attrNameLst>
                                          <p:attrName>style.visibility</p:attrName>
                                        </p:attrNameLst>
                                      </p:cBhvr>
                                      <p:to>
                                        <p:strVal val="visible"/>
                                      </p:to>
                                    </p:set>
                                    <p:animEffect transition="in" filter="fade">
                                      <p:cBhvr>
                                        <p:cTn id="23" dur="300"/>
                                        <p:tgtEl>
                                          <p:spTgt spid="288"/>
                                        </p:tgtEl>
                                      </p:cBhvr>
                                    </p:animEffect>
                                  </p:childTnLst>
                                </p:cTn>
                              </p:par>
                              <p:par>
                                <p:cTn id="24" presetID="10" presetClass="entr" presetSubtype="0" fill="hold" nodeType="withEffect">
                                  <p:stCondLst>
                                    <p:cond delay="0"/>
                                  </p:stCondLst>
                                  <p:childTnLst>
                                    <p:set>
                                      <p:cBhvr>
                                        <p:cTn id="25" dur="1" fill="hold">
                                          <p:stCondLst>
                                            <p:cond delay="0"/>
                                          </p:stCondLst>
                                        </p:cTn>
                                        <p:tgtEl>
                                          <p:spTgt spid="289"/>
                                        </p:tgtEl>
                                        <p:attrNameLst>
                                          <p:attrName>style.visibility</p:attrName>
                                        </p:attrNameLst>
                                      </p:cBhvr>
                                      <p:to>
                                        <p:strVal val="visible"/>
                                      </p:to>
                                    </p:set>
                                    <p:animEffect transition="in" filter="fade">
                                      <p:cBhvr>
                                        <p:cTn id="26" dur="300"/>
                                        <p:tgtEl>
                                          <p:spTgt spid="289"/>
                                        </p:tgtEl>
                                      </p:cBhvr>
                                    </p:animEffect>
                                  </p:childTnLst>
                                </p:cTn>
                              </p:par>
                              <p:par>
                                <p:cTn id="27" presetID="10" presetClass="entr" presetSubtype="0" fill="hold" nodeType="withEffect">
                                  <p:stCondLst>
                                    <p:cond delay="0"/>
                                  </p:stCondLst>
                                  <p:childTnLst>
                                    <p:set>
                                      <p:cBhvr>
                                        <p:cTn id="28" dur="1" fill="hold">
                                          <p:stCondLst>
                                            <p:cond delay="0"/>
                                          </p:stCondLst>
                                        </p:cTn>
                                        <p:tgtEl>
                                          <p:spTgt spid="290"/>
                                        </p:tgtEl>
                                        <p:attrNameLst>
                                          <p:attrName>style.visibility</p:attrName>
                                        </p:attrNameLst>
                                      </p:cBhvr>
                                      <p:to>
                                        <p:strVal val="visible"/>
                                      </p:to>
                                    </p:set>
                                    <p:animEffect transition="in" filter="fade">
                                      <p:cBhvr>
                                        <p:cTn id="29" dur="300"/>
                                        <p:tgtEl>
                                          <p:spTgt spid="290"/>
                                        </p:tgtEl>
                                      </p:cBhvr>
                                    </p:animEffect>
                                  </p:childTnLst>
                                </p:cTn>
                              </p:par>
                            </p:childTnLst>
                          </p:cTn>
                        </p:par>
                        <p:par>
                          <p:cTn id="30" fill="hold">
                            <p:stCondLst>
                              <p:cond delay="600"/>
                            </p:stCondLst>
                            <p:childTnLst>
                              <p:par>
                                <p:cTn id="31" presetID="10" presetClass="entr" presetSubtype="0" fill="hold" nodeType="afterEffect">
                                  <p:stCondLst>
                                    <p:cond delay="0"/>
                                  </p:stCondLst>
                                  <p:childTnLst>
                                    <p:set>
                                      <p:cBhvr>
                                        <p:cTn id="32" dur="1" fill="hold">
                                          <p:stCondLst>
                                            <p:cond delay="0"/>
                                          </p:stCondLst>
                                        </p:cTn>
                                        <p:tgtEl>
                                          <p:spTgt spid="291"/>
                                        </p:tgtEl>
                                        <p:attrNameLst>
                                          <p:attrName>style.visibility</p:attrName>
                                        </p:attrNameLst>
                                      </p:cBhvr>
                                      <p:to>
                                        <p:strVal val="visible"/>
                                      </p:to>
                                    </p:set>
                                    <p:animEffect transition="in" filter="fade">
                                      <p:cBhvr>
                                        <p:cTn id="33" dur="300"/>
                                        <p:tgtEl>
                                          <p:spTgt spid="291"/>
                                        </p:tgtEl>
                                      </p:cBhvr>
                                    </p:animEffect>
                                  </p:childTnLst>
                                </p:cTn>
                              </p:par>
                              <p:par>
                                <p:cTn id="34" presetID="10" presetClass="entr" presetSubtype="0" fill="hold" nodeType="withEffect">
                                  <p:stCondLst>
                                    <p:cond delay="0"/>
                                  </p:stCondLst>
                                  <p:childTnLst>
                                    <p:set>
                                      <p:cBhvr>
                                        <p:cTn id="35" dur="1" fill="hold">
                                          <p:stCondLst>
                                            <p:cond delay="0"/>
                                          </p:stCondLst>
                                        </p:cTn>
                                        <p:tgtEl>
                                          <p:spTgt spid="292"/>
                                        </p:tgtEl>
                                        <p:attrNameLst>
                                          <p:attrName>style.visibility</p:attrName>
                                        </p:attrNameLst>
                                      </p:cBhvr>
                                      <p:to>
                                        <p:strVal val="visible"/>
                                      </p:to>
                                    </p:set>
                                    <p:animEffect transition="in" filter="fade">
                                      <p:cBhvr>
                                        <p:cTn id="36" dur="300"/>
                                        <p:tgtEl>
                                          <p:spTgt spid="292"/>
                                        </p:tgtEl>
                                      </p:cBhvr>
                                    </p:animEffect>
                                  </p:childTnLst>
                                </p:cTn>
                              </p:par>
                              <p:par>
                                <p:cTn id="37" presetID="10" presetClass="entr" presetSubtype="0" fill="hold" nodeType="withEffect">
                                  <p:stCondLst>
                                    <p:cond delay="0"/>
                                  </p:stCondLst>
                                  <p:childTnLst>
                                    <p:set>
                                      <p:cBhvr>
                                        <p:cTn id="38" dur="1" fill="hold">
                                          <p:stCondLst>
                                            <p:cond delay="0"/>
                                          </p:stCondLst>
                                        </p:cTn>
                                        <p:tgtEl>
                                          <p:spTgt spid="293"/>
                                        </p:tgtEl>
                                        <p:attrNameLst>
                                          <p:attrName>style.visibility</p:attrName>
                                        </p:attrNameLst>
                                      </p:cBhvr>
                                      <p:to>
                                        <p:strVal val="visible"/>
                                      </p:to>
                                    </p:set>
                                    <p:animEffect transition="in" filter="fade">
                                      <p:cBhvr>
                                        <p:cTn id="39" dur="300"/>
                                        <p:tgtEl>
                                          <p:spTgt spid="293"/>
                                        </p:tgtEl>
                                      </p:cBhvr>
                                    </p:animEffect>
                                  </p:childTnLst>
                                </p:cTn>
                              </p:par>
                              <p:par>
                                <p:cTn id="40" presetID="10" presetClass="entr" presetSubtype="0" fill="hold" nodeType="withEffect">
                                  <p:stCondLst>
                                    <p:cond delay="0"/>
                                  </p:stCondLst>
                                  <p:childTnLst>
                                    <p:set>
                                      <p:cBhvr>
                                        <p:cTn id="41" dur="1" fill="hold">
                                          <p:stCondLst>
                                            <p:cond delay="0"/>
                                          </p:stCondLst>
                                        </p:cTn>
                                        <p:tgtEl>
                                          <p:spTgt spid="294"/>
                                        </p:tgtEl>
                                        <p:attrNameLst>
                                          <p:attrName>style.visibility</p:attrName>
                                        </p:attrNameLst>
                                      </p:cBhvr>
                                      <p:to>
                                        <p:strVal val="visible"/>
                                      </p:to>
                                    </p:set>
                                    <p:animEffect transition="in" filter="fade">
                                      <p:cBhvr>
                                        <p:cTn id="42" dur="300"/>
                                        <p:tgtEl>
                                          <p:spTgt spid="294"/>
                                        </p:tgtEl>
                                      </p:cBhvr>
                                    </p:animEffect>
                                  </p:childTnLst>
                                </p:cTn>
                              </p:par>
                            </p:childTnLst>
                          </p:cTn>
                        </p:par>
                        <p:par>
                          <p:cTn id="43" fill="hold">
                            <p:stCondLst>
                              <p:cond delay="900"/>
                            </p:stCondLst>
                            <p:childTnLst>
                              <p:par>
                                <p:cTn id="44" presetID="10" presetClass="entr" presetSubtype="0" fill="hold" nodeType="afterEffect">
                                  <p:stCondLst>
                                    <p:cond delay="0"/>
                                  </p:stCondLst>
                                  <p:childTnLst>
                                    <p:set>
                                      <p:cBhvr>
                                        <p:cTn id="45" dur="1" fill="hold">
                                          <p:stCondLst>
                                            <p:cond delay="0"/>
                                          </p:stCondLst>
                                        </p:cTn>
                                        <p:tgtEl>
                                          <p:spTgt spid="295"/>
                                        </p:tgtEl>
                                        <p:attrNameLst>
                                          <p:attrName>style.visibility</p:attrName>
                                        </p:attrNameLst>
                                      </p:cBhvr>
                                      <p:to>
                                        <p:strVal val="visible"/>
                                      </p:to>
                                    </p:set>
                                    <p:animEffect transition="in" filter="fade">
                                      <p:cBhvr>
                                        <p:cTn id="46" dur="300"/>
                                        <p:tgtEl>
                                          <p:spTgt spid="295"/>
                                        </p:tgtEl>
                                      </p:cBhvr>
                                    </p:animEffect>
                                  </p:childTnLst>
                                </p:cTn>
                              </p:par>
                              <p:par>
                                <p:cTn id="47" presetID="10" presetClass="entr" presetSubtype="0" fill="hold" nodeType="withEffect">
                                  <p:stCondLst>
                                    <p:cond delay="0"/>
                                  </p:stCondLst>
                                  <p:childTnLst>
                                    <p:set>
                                      <p:cBhvr>
                                        <p:cTn id="48" dur="1" fill="hold">
                                          <p:stCondLst>
                                            <p:cond delay="0"/>
                                          </p:stCondLst>
                                        </p:cTn>
                                        <p:tgtEl>
                                          <p:spTgt spid="296"/>
                                        </p:tgtEl>
                                        <p:attrNameLst>
                                          <p:attrName>style.visibility</p:attrName>
                                        </p:attrNameLst>
                                      </p:cBhvr>
                                      <p:to>
                                        <p:strVal val="visible"/>
                                      </p:to>
                                    </p:set>
                                    <p:animEffect transition="in" filter="fade">
                                      <p:cBhvr>
                                        <p:cTn id="49" dur="300"/>
                                        <p:tgtEl>
                                          <p:spTgt spid="296"/>
                                        </p:tgtEl>
                                      </p:cBhvr>
                                    </p:animEffect>
                                  </p:childTnLst>
                                </p:cTn>
                              </p:par>
                              <p:par>
                                <p:cTn id="50" presetID="10" presetClass="entr" presetSubtype="0" fill="hold" nodeType="withEffect">
                                  <p:stCondLst>
                                    <p:cond delay="0"/>
                                  </p:stCondLst>
                                  <p:childTnLst>
                                    <p:set>
                                      <p:cBhvr>
                                        <p:cTn id="51" dur="1" fill="hold">
                                          <p:stCondLst>
                                            <p:cond delay="0"/>
                                          </p:stCondLst>
                                        </p:cTn>
                                        <p:tgtEl>
                                          <p:spTgt spid="297"/>
                                        </p:tgtEl>
                                        <p:attrNameLst>
                                          <p:attrName>style.visibility</p:attrName>
                                        </p:attrNameLst>
                                      </p:cBhvr>
                                      <p:to>
                                        <p:strVal val="visible"/>
                                      </p:to>
                                    </p:set>
                                    <p:animEffect transition="in" filter="fade">
                                      <p:cBhvr>
                                        <p:cTn id="52" dur="300"/>
                                        <p:tgtEl>
                                          <p:spTgt spid="297"/>
                                        </p:tgtEl>
                                      </p:cBhvr>
                                    </p:animEffect>
                                  </p:childTnLst>
                                </p:cTn>
                              </p:par>
                              <p:par>
                                <p:cTn id="53" presetID="10" presetClass="entr" presetSubtype="0" fill="hold" nodeType="withEffect">
                                  <p:stCondLst>
                                    <p:cond delay="0"/>
                                  </p:stCondLst>
                                  <p:childTnLst>
                                    <p:set>
                                      <p:cBhvr>
                                        <p:cTn id="54" dur="1" fill="hold">
                                          <p:stCondLst>
                                            <p:cond delay="0"/>
                                          </p:stCondLst>
                                        </p:cTn>
                                        <p:tgtEl>
                                          <p:spTgt spid="298"/>
                                        </p:tgtEl>
                                        <p:attrNameLst>
                                          <p:attrName>style.visibility</p:attrName>
                                        </p:attrNameLst>
                                      </p:cBhvr>
                                      <p:to>
                                        <p:strVal val="visible"/>
                                      </p:to>
                                    </p:set>
                                    <p:animEffect transition="in" filter="fade">
                                      <p:cBhvr>
                                        <p:cTn id="55" dur="300"/>
                                        <p:tgtEl>
                                          <p:spTgt spid="298"/>
                                        </p:tgtEl>
                                      </p:cBhvr>
                                    </p:animEffect>
                                  </p:childTnLst>
                                </p:cTn>
                              </p:par>
                            </p:childTnLst>
                          </p:cTn>
                        </p:par>
                        <p:par>
                          <p:cTn id="56" fill="hold">
                            <p:stCondLst>
                              <p:cond delay="1200"/>
                            </p:stCondLst>
                            <p:childTnLst>
                              <p:par>
                                <p:cTn id="57" presetID="10" presetClass="entr" presetSubtype="0" fill="hold" nodeType="afterEffect">
                                  <p:stCondLst>
                                    <p:cond delay="0"/>
                                  </p:stCondLst>
                                  <p:childTnLst>
                                    <p:set>
                                      <p:cBhvr>
                                        <p:cTn id="58" dur="1" fill="hold">
                                          <p:stCondLst>
                                            <p:cond delay="0"/>
                                          </p:stCondLst>
                                        </p:cTn>
                                        <p:tgtEl>
                                          <p:spTgt spid="299"/>
                                        </p:tgtEl>
                                        <p:attrNameLst>
                                          <p:attrName>style.visibility</p:attrName>
                                        </p:attrNameLst>
                                      </p:cBhvr>
                                      <p:to>
                                        <p:strVal val="visible"/>
                                      </p:to>
                                    </p:set>
                                    <p:animEffect transition="in" filter="fade">
                                      <p:cBhvr>
                                        <p:cTn id="59" dur="300"/>
                                        <p:tgtEl>
                                          <p:spTgt spid="299"/>
                                        </p:tgtEl>
                                      </p:cBhvr>
                                    </p:animEffect>
                                  </p:childTnLst>
                                </p:cTn>
                              </p:par>
                              <p:par>
                                <p:cTn id="60" presetID="10" presetClass="entr" presetSubtype="0" fill="hold" nodeType="withEffect">
                                  <p:stCondLst>
                                    <p:cond delay="0"/>
                                  </p:stCondLst>
                                  <p:childTnLst>
                                    <p:set>
                                      <p:cBhvr>
                                        <p:cTn id="61" dur="1" fill="hold">
                                          <p:stCondLst>
                                            <p:cond delay="0"/>
                                          </p:stCondLst>
                                        </p:cTn>
                                        <p:tgtEl>
                                          <p:spTgt spid="300"/>
                                        </p:tgtEl>
                                        <p:attrNameLst>
                                          <p:attrName>style.visibility</p:attrName>
                                        </p:attrNameLst>
                                      </p:cBhvr>
                                      <p:to>
                                        <p:strVal val="visible"/>
                                      </p:to>
                                    </p:set>
                                    <p:animEffect transition="in" filter="fade">
                                      <p:cBhvr>
                                        <p:cTn id="62" dur="300"/>
                                        <p:tgtEl>
                                          <p:spTgt spid="300"/>
                                        </p:tgtEl>
                                      </p:cBhvr>
                                    </p:animEffect>
                                  </p:childTnLst>
                                </p:cTn>
                              </p:par>
                              <p:par>
                                <p:cTn id="63" presetID="10" presetClass="entr" presetSubtype="0" fill="hold" nodeType="withEffect">
                                  <p:stCondLst>
                                    <p:cond delay="0"/>
                                  </p:stCondLst>
                                  <p:childTnLst>
                                    <p:set>
                                      <p:cBhvr>
                                        <p:cTn id="64" dur="1" fill="hold">
                                          <p:stCondLst>
                                            <p:cond delay="0"/>
                                          </p:stCondLst>
                                        </p:cTn>
                                        <p:tgtEl>
                                          <p:spTgt spid="301"/>
                                        </p:tgtEl>
                                        <p:attrNameLst>
                                          <p:attrName>style.visibility</p:attrName>
                                        </p:attrNameLst>
                                      </p:cBhvr>
                                      <p:to>
                                        <p:strVal val="visible"/>
                                      </p:to>
                                    </p:set>
                                    <p:animEffect transition="in" filter="fade">
                                      <p:cBhvr>
                                        <p:cTn id="65" dur="300"/>
                                        <p:tgtEl>
                                          <p:spTgt spid="301"/>
                                        </p:tgtEl>
                                      </p:cBhvr>
                                    </p:animEffect>
                                  </p:childTnLst>
                                </p:cTn>
                              </p:par>
                              <p:par>
                                <p:cTn id="66" presetID="10" presetClass="entr" presetSubtype="0" fill="hold" nodeType="withEffect">
                                  <p:stCondLst>
                                    <p:cond delay="0"/>
                                  </p:stCondLst>
                                  <p:childTnLst>
                                    <p:set>
                                      <p:cBhvr>
                                        <p:cTn id="67" dur="1" fill="hold">
                                          <p:stCondLst>
                                            <p:cond delay="0"/>
                                          </p:stCondLst>
                                        </p:cTn>
                                        <p:tgtEl>
                                          <p:spTgt spid="302"/>
                                        </p:tgtEl>
                                        <p:attrNameLst>
                                          <p:attrName>style.visibility</p:attrName>
                                        </p:attrNameLst>
                                      </p:cBhvr>
                                      <p:to>
                                        <p:strVal val="visible"/>
                                      </p:to>
                                    </p:set>
                                    <p:animEffect transition="in" filter="fade">
                                      <p:cBhvr>
                                        <p:cTn id="68" dur="300"/>
                                        <p:tgtEl>
                                          <p:spTgt spid="302"/>
                                        </p:tgtEl>
                                      </p:cBhvr>
                                    </p:animEffect>
                                  </p:childTnLst>
                                </p:cTn>
                              </p:par>
                            </p:childTnLst>
                          </p:cTn>
                        </p:par>
                        <p:par>
                          <p:cTn id="69" fill="hold">
                            <p:stCondLst>
                              <p:cond delay="1500"/>
                            </p:stCondLst>
                            <p:childTnLst>
                              <p:par>
                                <p:cTn id="70" presetID="10" presetClass="entr" presetSubtype="0" fill="hold" nodeType="afterEffect">
                                  <p:stCondLst>
                                    <p:cond delay="0"/>
                                  </p:stCondLst>
                                  <p:childTnLst>
                                    <p:set>
                                      <p:cBhvr>
                                        <p:cTn id="71" dur="1" fill="hold">
                                          <p:stCondLst>
                                            <p:cond delay="0"/>
                                          </p:stCondLst>
                                        </p:cTn>
                                        <p:tgtEl>
                                          <p:spTgt spid="303"/>
                                        </p:tgtEl>
                                        <p:attrNameLst>
                                          <p:attrName>style.visibility</p:attrName>
                                        </p:attrNameLst>
                                      </p:cBhvr>
                                      <p:to>
                                        <p:strVal val="visible"/>
                                      </p:to>
                                    </p:set>
                                    <p:animEffect transition="in" filter="fade">
                                      <p:cBhvr>
                                        <p:cTn id="72" dur="300"/>
                                        <p:tgtEl>
                                          <p:spTgt spid="303"/>
                                        </p:tgtEl>
                                      </p:cBhvr>
                                    </p:animEffect>
                                  </p:childTnLst>
                                </p:cTn>
                              </p:par>
                              <p:par>
                                <p:cTn id="73" presetID="10" presetClass="entr" presetSubtype="0" fill="hold" nodeType="withEffect">
                                  <p:stCondLst>
                                    <p:cond delay="0"/>
                                  </p:stCondLst>
                                  <p:childTnLst>
                                    <p:set>
                                      <p:cBhvr>
                                        <p:cTn id="74" dur="1" fill="hold">
                                          <p:stCondLst>
                                            <p:cond delay="0"/>
                                          </p:stCondLst>
                                        </p:cTn>
                                        <p:tgtEl>
                                          <p:spTgt spid="304"/>
                                        </p:tgtEl>
                                        <p:attrNameLst>
                                          <p:attrName>style.visibility</p:attrName>
                                        </p:attrNameLst>
                                      </p:cBhvr>
                                      <p:to>
                                        <p:strVal val="visible"/>
                                      </p:to>
                                    </p:set>
                                    <p:animEffect transition="in" filter="fade">
                                      <p:cBhvr>
                                        <p:cTn id="75" dur="300"/>
                                        <p:tgtEl>
                                          <p:spTgt spid="304"/>
                                        </p:tgtEl>
                                      </p:cBhvr>
                                    </p:animEffect>
                                  </p:childTnLst>
                                </p:cTn>
                              </p:par>
                              <p:par>
                                <p:cTn id="76" presetID="10" presetClass="entr" presetSubtype="0" fill="hold" nodeType="withEffect">
                                  <p:stCondLst>
                                    <p:cond delay="0"/>
                                  </p:stCondLst>
                                  <p:childTnLst>
                                    <p:set>
                                      <p:cBhvr>
                                        <p:cTn id="77" dur="1" fill="hold">
                                          <p:stCondLst>
                                            <p:cond delay="0"/>
                                          </p:stCondLst>
                                        </p:cTn>
                                        <p:tgtEl>
                                          <p:spTgt spid="305"/>
                                        </p:tgtEl>
                                        <p:attrNameLst>
                                          <p:attrName>style.visibility</p:attrName>
                                        </p:attrNameLst>
                                      </p:cBhvr>
                                      <p:to>
                                        <p:strVal val="visible"/>
                                      </p:to>
                                    </p:set>
                                    <p:animEffect transition="in" filter="fade">
                                      <p:cBhvr>
                                        <p:cTn id="78" dur="300"/>
                                        <p:tgtEl>
                                          <p:spTgt spid="305"/>
                                        </p:tgtEl>
                                      </p:cBhvr>
                                    </p:animEffect>
                                  </p:childTnLst>
                                </p:cTn>
                              </p:par>
                              <p:par>
                                <p:cTn id="79" presetID="10" presetClass="entr" presetSubtype="0" fill="hold" nodeType="withEffect">
                                  <p:stCondLst>
                                    <p:cond delay="0"/>
                                  </p:stCondLst>
                                  <p:childTnLst>
                                    <p:set>
                                      <p:cBhvr>
                                        <p:cTn id="80" dur="1" fill="hold">
                                          <p:stCondLst>
                                            <p:cond delay="0"/>
                                          </p:stCondLst>
                                        </p:cTn>
                                        <p:tgtEl>
                                          <p:spTgt spid="306"/>
                                        </p:tgtEl>
                                        <p:attrNameLst>
                                          <p:attrName>style.visibility</p:attrName>
                                        </p:attrNameLst>
                                      </p:cBhvr>
                                      <p:to>
                                        <p:strVal val="visible"/>
                                      </p:to>
                                    </p:set>
                                    <p:animEffect transition="in" filter="fade">
                                      <p:cBhvr>
                                        <p:cTn id="81" dur="300"/>
                                        <p:tgtEl>
                                          <p:spTgt spid="306"/>
                                        </p:tgtEl>
                                      </p:cBhvr>
                                    </p:animEffect>
                                  </p:childTnLst>
                                </p:cTn>
                              </p:par>
                            </p:childTnLst>
                          </p:cTn>
                        </p:par>
                        <p:par>
                          <p:cTn id="82" fill="hold">
                            <p:stCondLst>
                              <p:cond delay="1800"/>
                            </p:stCondLst>
                            <p:childTnLst>
                              <p:par>
                                <p:cTn id="83" presetID="10" presetClass="entr" presetSubtype="0" fill="hold" nodeType="afterEffect">
                                  <p:stCondLst>
                                    <p:cond delay="0"/>
                                  </p:stCondLst>
                                  <p:childTnLst>
                                    <p:set>
                                      <p:cBhvr>
                                        <p:cTn id="84" dur="1" fill="hold">
                                          <p:stCondLst>
                                            <p:cond delay="0"/>
                                          </p:stCondLst>
                                        </p:cTn>
                                        <p:tgtEl>
                                          <p:spTgt spid="307"/>
                                        </p:tgtEl>
                                        <p:attrNameLst>
                                          <p:attrName>style.visibility</p:attrName>
                                        </p:attrNameLst>
                                      </p:cBhvr>
                                      <p:to>
                                        <p:strVal val="visible"/>
                                      </p:to>
                                    </p:set>
                                    <p:animEffect transition="in" filter="fade">
                                      <p:cBhvr>
                                        <p:cTn id="85" dur="500"/>
                                        <p:tgtEl>
                                          <p:spTgt spid="307"/>
                                        </p:tgtEl>
                                      </p:cBhvr>
                                    </p:animEffect>
                                  </p:childTnLst>
                                </p:cTn>
                              </p:par>
                            </p:childTnLst>
                          </p:cTn>
                        </p:par>
                        <p:par>
                          <p:cTn id="86" fill="hold">
                            <p:stCondLst>
                              <p:cond delay="2300"/>
                            </p:stCondLst>
                            <p:childTnLst>
                              <p:par>
                                <p:cTn id="87" presetID="10" presetClass="entr" presetSubtype="0" fill="hold" nodeType="afterEffect">
                                  <p:stCondLst>
                                    <p:cond delay="0"/>
                                  </p:stCondLst>
                                  <p:childTnLst>
                                    <p:set>
                                      <p:cBhvr>
                                        <p:cTn id="88" dur="1" fill="hold">
                                          <p:stCondLst>
                                            <p:cond delay="0"/>
                                          </p:stCondLst>
                                        </p:cTn>
                                        <p:tgtEl>
                                          <p:spTgt spid="308"/>
                                        </p:tgtEl>
                                        <p:attrNameLst>
                                          <p:attrName>style.visibility</p:attrName>
                                        </p:attrNameLst>
                                      </p:cBhvr>
                                      <p:to>
                                        <p:strVal val="visible"/>
                                      </p:to>
                                    </p:set>
                                    <p:animEffect transition="in" filter="fade">
                                      <p:cBhvr>
                                        <p:cTn id="89" dur="500"/>
                                        <p:tgtEl>
                                          <p:spTgt spid="308"/>
                                        </p:tgtEl>
                                      </p:cBhvr>
                                    </p:animEffect>
                                  </p:childTnLst>
                                </p:cTn>
                              </p:par>
                              <p:par>
                                <p:cTn id="90" presetID="10" presetClass="entr" presetSubtype="0" fill="hold" nodeType="withEffect">
                                  <p:stCondLst>
                                    <p:cond delay="0"/>
                                  </p:stCondLst>
                                  <p:childTnLst>
                                    <p:set>
                                      <p:cBhvr>
                                        <p:cTn id="91" dur="1" fill="hold">
                                          <p:stCondLst>
                                            <p:cond delay="0"/>
                                          </p:stCondLst>
                                        </p:cTn>
                                        <p:tgtEl>
                                          <p:spTgt spid="309"/>
                                        </p:tgtEl>
                                        <p:attrNameLst>
                                          <p:attrName>style.visibility</p:attrName>
                                        </p:attrNameLst>
                                      </p:cBhvr>
                                      <p:to>
                                        <p:strVal val="visible"/>
                                      </p:to>
                                    </p:set>
                                    <p:animEffect transition="in" filter="fade">
                                      <p:cBhvr>
                                        <p:cTn id="92" dur="5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7"/>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66 parts, one mould, off-the-shelf electronics</a:t>
            </a:r>
            <a:endParaRPr/>
          </a:p>
        </p:txBody>
      </p:sp>
      <p:sp>
        <p:nvSpPr>
          <p:cNvPr id="316" name="Google Shape;316;p7"/>
          <p:cNvSpPr/>
          <p:nvPr/>
        </p:nvSpPr>
        <p:spPr>
          <a:xfrm>
            <a:off x="4846320" y="1709928"/>
            <a:ext cx="1828800" cy="384048"/>
          </a:xfrm>
          <a:prstGeom prst="roundRect">
            <a:avLst>
              <a:gd name="adj" fmla="val 30000"/>
            </a:avLst>
          </a:prstGeom>
          <a:solidFill>
            <a:srgbClr val="005686"/>
          </a:solidFill>
          <a:ln>
            <a:noFill/>
          </a:ln>
        </p:spPr>
        <p:txBody>
          <a:bodyPr spcFirstLastPara="1" wrap="square" lIns="54850" tIns="18275" rIns="54850" bIns="18275" anchor="ctr" anchorCtr="0">
            <a:noAutofit/>
          </a:bodyPr>
          <a:lstStyle/>
          <a:p>
            <a:pPr marL="0" marR="0" lvl="0" indent="0" algn="ctr" rtl="0">
              <a:spcBef>
                <a:spcPts val="0"/>
              </a:spcBef>
              <a:spcAft>
                <a:spcPts val="0"/>
              </a:spcAft>
              <a:buNone/>
            </a:pPr>
            <a:r>
              <a:rPr lang="en-US" sz="1400" b="1" i="0">
                <a:solidFill>
                  <a:srgbClr val="FFFFFF"/>
                </a:solidFill>
                <a:latin typeface="Calibri"/>
                <a:ea typeface="Calibri"/>
                <a:cs typeface="Calibri"/>
                <a:sym typeface="Calibri"/>
              </a:rPr>
              <a:t>PE hulls</a:t>
            </a:r>
            <a:endParaRPr/>
          </a:p>
        </p:txBody>
      </p:sp>
      <p:sp>
        <p:nvSpPr>
          <p:cNvPr id="317" name="Google Shape;317;p7"/>
          <p:cNvSpPr txBox="1"/>
          <p:nvPr/>
        </p:nvSpPr>
        <p:spPr>
          <a:xfrm>
            <a:off x="6812280" y="1645920"/>
            <a:ext cx="4892040" cy="512064"/>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500" b="0" i="0">
                <a:solidFill>
                  <a:srgbClr val="1E2B36"/>
                </a:solidFill>
                <a:latin typeface="Calibri"/>
                <a:ea typeface="Calibri"/>
                <a:cs typeface="Calibri"/>
                <a:sym typeface="Calibri"/>
              </a:rPr>
              <a:t>UV-stabilised, rotomoulded: one mould makes both hulls</a:t>
            </a:r>
            <a:endParaRPr/>
          </a:p>
        </p:txBody>
      </p:sp>
      <p:sp>
        <p:nvSpPr>
          <p:cNvPr id="318" name="Google Shape;318;p7"/>
          <p:cNvSpPr/>
          <p:nvPr/>
        </p:nvSpPr>
        <p:spPr>
          <a:xfrm>
            <a:off x="4846320" y="2240279"/>
            <a:ext cx="1828800" cy="384048"/>
          </a:xfrm>
          <a:prstGeom prst="roundRect">
            <a:avLst>
              <a:gd name="adj" fmla="val 30000"/>
            </a:avLst>
          </a:prstGeom>
          <a:solidFill>
            <a:srgbClr val="005686"/>
          </a:solidFill>
          <a:ln>
            <a:noFill/>
          </a:ln>
        </p:spPr>
        <p:txBody>
          <a:bodyPr spcFirstLastPara="1" wrap="square" lIns="54850" tIns="18275" rIns="54850" bIns="18275" anchor="ctr" anchorCtr="0">
            <a:noAutofit/>
          </a:bodyPr>
          <a:lstStyle/>
          <a:p>
            <a:pPr marL="0" marR="0" lvl="0" indent="0" algn="ctr" rtl="0">
              <a:spcBef>
                <a:spcPts val="0"/>
              </a:spcBef>
              <a:spcAft>
                <a:spcPts val="0"/>
              </a:spcAft>
              <a:buNone/>
            </a:pPr>
            <a:r>
              <a:rPr lang="en-US" sz="1400" b="1" i="0">
                <a:solidFill>
                  <a:srgbClr val="FFFFFF"/>
                </a:solidFill>
                <a:latin typeface="Calibri"/>
                <a:ea typeface="Calibri"/>
                <a:cs typeface="Calibri"/>
                <a:sym typeface="Calibri"/>
              </a:rPr>
              <a:t>6061 aluminium</a:t>
            </a:r>
            <a:endParaRPr/>
          </a:p>
        </p:txBody>
      </p:sp>
      <p:sp>
        <p:nvSpPr>
          <p:cNvPr id="319" name="Google Shape;319;p7"/>
          <p:cNvSpPr txBox="1"/>
          <p:nvPr/>
        </p:nvSpPr>
        <p:spPr>
          <a:xfrm>
            <a:off x="6812280" y="2176272"/>
            <a:ext cx="4892040" cy="512064"/>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500" b="0" i="0">
                <a:solidFill>
                  <a:srgbClr val="1E2B36"/>
                </a:solidFill>
                <a:latin typeface="Calibri"/>
                <a:ea typeface="Calibri"/>
                <a:cs typeface="Calibri"/>
                <a:sym typeface="Calibri"/>
              </a:rPr>
              <a:t>deck and carriage: cut, bent and TIG-welded</a:t>
            </a:r>
            <a:endParaRPr/>
          </a:p>
        </p:txBody>
      </p:sp>
      <p:sp>
        <p:nvSpPr>
          <p:cNvPr id="320" name="Google Shape;320;p7"/>
          <p:cNvSpPr/>
          <p:nvPr/>
        </p:nvSpPr>
        <p:spPr>
          <a:xfrm>
            <a:off x="4846320" y="2770632"/>
            <a:ext cx="1828800" cy="384048"/>
          </a:xfrm>
          <a:prstGeom prst="roundRect">
            <a:avLst>
              <a:gd name="adj" fmla="val 30000"/>
            </a:avLst>
          </a:prstGeom>
          <a:solidFill>
            <a:srgbClr val="005686"/>
          </a:solidFill>
          <a:ln>
            <a:noFill/>
          </a:ln>
        </p:spPr>
        <p:txBody>
          <a:bodyPr spcFirstLastPara="1" wrap="square" lIns="54850" tIns="18275" rIns="54850" bIns="18275" anchor="ctr" anchorCtr="0">
            <a:noAutofit/>
          </a:bodyPr>
          <a:lstStyle/>
          <a:p>
            <a:pPr marL="0" marR="0" lvl="0" indent="0" algn="ctr" rtl="0">
              <a:spcBef>
                <a:spcPts val="0"/>
              </a:spcBef>
              <a:spcAft>
                <a:spcPts val="0"/>
              </a:spcAft>
              <a:buNone/>
            </a:pPr>
            <a:r>
              <a:rPr lang="en-US" sz="1400" b="1" i="0">
                <a:solidFill>
                  <a:srgbClr val="FFFFFF"/>
                </a:solidFill>
                <a:latin typeface="Calibri"/>
                <a:ea typeface="Calibri"/>
                <a:cs typeface="Calibri"/>
                <a:sym typeface="Calibri"/>
              </a:rPr>
              <a:t>316L stainless</a:t>
            </a:r>
            <a:endParaRPr/>
          </a:p>
        </p:txBody>
      </p:sp>
      <p:sp>
        <p:nvSpPr>
          <p:cNvPr id="321" name="Google Shape;321;p7"/>
          <p:cNvSpPr txBox="1"/>
          <p:nvPr/>
        </p:nvSpPr>
        <p:spPr>
          <a:xfrm>
            <a:off x="6812280" y="2706624"/>
            <a:ext cx="4892040" cy="512064"/>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500" b="0" i="0">
                <a:solidFill>
                  <a:srgbClr val="1E2B36"/>
                </a:solidFill>
                <a:latin typeface="Calibri"/>
                <a:ea typeface="Calibri"/>
                <a:cs typeface="Calibri"/>
                <a:sym typeface="Calibri"/>
              </a:rPr>
              <a:t>pole and brackets: standard 2-inch pipe and 6 mm plate</a:t>
            </a:r>
            <a:endParaRPr/>
          </a:p>
        </p:txBody>
      </p:sp>
      <p:sp>
        <p:nvSpPr>
          <p:cNvPr id="322" name="Google Shape;322;p7"/>
          <p:cNvSpPr/>
          <p:nvPr/>
        </p:nvSpPr>
        <p:spPr>
          <a:xfrm>
            <a:off x="4846320" y="3300984"/>
            <a:ext cx="1828800" cy="384048"/>
          </a:xfrm>
          <a:prstGeom prst="roundRect">
            <a:avLst>
              <a:gd name="adj" fmla="val 30000"/>
            </a:avLst>
          </a:prstGeom>
          <a:solidFill>
            <a:srgbClr val="005686"/>
          </a:solidFill>
          <a:ln>
            <a:noFill/>
          </a:ln>
        </p:spPr>
        <p:txBody>
          <a:bodyPr spcFirstLastPara="1" wrap="square" lIns="54850" tIns="18275" rIns="54850" bIns="18275" anchor="ctr" anchorCtr="0">
            <a:noAutofit/>
          </a:bodyPr>
          <a:lstStyle/>
          <a:p>
            <a:pPr marL="0" marR="0" lvl="0" indent="0" algn="ctr" rtl="0">
              <a:spcBef>
                <a:spcPts val="0"/>
              </a:spcBef>
              <a:spcAft>
                <a:spcPts val="0"/>
              </a:spcAft>
              <a:buNone/>
            </a:pPr>
            <a:r>
              <a:rPr lang="en-US" sz="1400" b="1" i="0">
                <a:solidFill>
                  <a:srgbClr val="FFFFFF"/>
                </a:solidFill>
                <a:latin typeface="Calibri"/>
                <a:ea typeface="Calibri"/>
                <a:cs typeface="Calibri"/>
                <a:sym typeface="Calibri"/>
              </a:rPr>
              <a:t>Off the shelf</a:t>
            </a:r>
            <a:endParaRPr/>
          </a:p>
        </p:txBody>
      </p:sp>
      <p:sp>
        <p:nvSpPr>
          <p:cNvPr id="323" name="Google Shape;323;p7"/>
          <p:cNvSpPr txBox="1"/>
          <p:nvPr/>
        </p:nvSpPr>
        <p:spPr>
          <a:xfrm>
            <a:off x="6812280" y="3236976"/>
            <a:ext cx="4892040" cy="512064"/>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500" b="0" i="0">
                <a:solidFill>
                  <a:srgbClr val="1E2B36"/>
                </a:solidFill>
                <a:latin typeface="Calibri"/>
                <a:ea typeface="Calibri"/>
                <a:cs typeface="Calibri"/>
                <a:sym typeface="Calibri"/>
              </a:rPr>
              <a:t>RS485 probes, ESP32, LTE modem, 20 W solar, LiFePO4 battery</a:t>
            </a:r>
            <a:endParaRPr/>
          </a:p>
        </p:txBody>
      </p:sp>
      <p:sp>
        <p:nvSpPr>
          <p:cNvPr id="324" name="Google Shape;324;p7"/>
          <p:cNvSpPr/>
          <p:nvPr/>
        </p:nvSpPr>
        <p:spPr>
          <a:xfrm>
            <a:off x="4846320" y="3913632"/>
            <a:ext cx="6858000" cy="2139696"/>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5" name="Google Shape;325;p7"/>
          <p:cNvSpPr txBox="1"/>
          <p:nvPr/>
        </p:nvSpPr>
        <p:spPr>
          <a:xfrm>
            <a:off x="5010912" y="3968496"/>
            <a:ext cx="6583680" cy="34747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CAD caught our two biggest mistakes</a:t>
            </a:r>
            <a:endParaRPr/>
          </a:p>
        </p:txBody>
      </p:sp>
      <p:pic>
        <p:nvPicPr>
          <p:cNvPr id="326" name="Google Shape;326;p7" descr="4b2856588c.png"/>
          <p:cNvPicPr preferRelativeResize="0"/>
          <p:nvPr/>
        </p:nvPicPr>
        <p:blipFill rotWithShape="1">
          <a:blip r:embed="rId3">
            <a:alphaModFix/>
          </a:blip>
          <a:srcRect/>
          <a:stretch/>
        </p:blipFill>
        <p:spPr>
          <a:xfrm>
            <a:off x="5010912" y="4352544"/>
            <a:ext cx="1400688" cy="1298448"/>
          </a:xfrm>
          <a:prstGeom prst="rect">
            <a:avLst/>
          </a:prstGeom>
          <a:noFill/>
          <a:ln>
            <a:noFill/>
          </a:ln>
        </p:spPr>
      </p:pic>
      <p:pic>
        <p:nvPicPr>
          <p:cNvPr id="327" name="Google Shape;327;p7" descr="7dde29f03d.png"/>
          <p:cNvPicPr preferRelativeResize="0"/>
          <p:nvPr/>
        </p:nvPicPr>
        <p:blipFill rotWithShape="1">
          <a:blip r:embed="rId4">
            <a:alphaModFix/>
          </a:blip>
          <a:srcRect/>
          <a:stretch/>
        </p:blipFill>
        <p:spPr>
          <a:xfrm>
            <a:off x="6638544" y="4352544"/>
            <a:ext cx="1354680" cy="1298448"/>
          </a:xfrm>
          <a:prstGeom prst="rect">
            <a:avLst/>
          </a:prstGeom>
          <a:noFill/>
          <a:ln>
            <a:noFill/>
          </a:ln>
        </p:spPr>
      </p:pic>
      <p:sp>
        <p:nvSpPr>
          <p:cNvPr id="328" name="Google Shape;328;p7"/>
          <p:cNvSpPr txBox="1"/>
          <p:nvPr/>
        </p:nvSpPr>
        <p:spPr>
          <a:xfrm>
            <a:off x="5010912" y="5669280"/>
            <a:ext cx="1481328" cy="32918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100" b="0" i="0">
                <a:solidFill>
                  <a:srgbClr val="5B6B78"/>
                </a:solidFill>
                <a:latin typeface="Calibri"/>
                <a:ea typeface="Calibri"/>
                <a:cs typeface="Calibri"/>
                <a:sym typeface="Calibri"/>
              </a:rPr>
              <a:t>v2 (old values): pole through the pod</a:t>
            </a:r>
            <a:endParaRPr/>
          </a:p>
        </p:txBody>
      </p:sp>
      <p:sp>
        <p:nvSpPr>
          <p:cNvPr id="329" name="Google Shape;329;p7"/>
          <p:cNvSpPr txBox="1"/>
          <p:nvPr/>
        </p:nvSpPr>
        <p:spPr>
          <a:xfrm>
            <a:off x="6638544" y="5669280"/>
            <a:ext cx="1481328" cy="32918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100" b="0" i="0">
                <a:solidFill>
                  <a:srgbClr val="5B6B78"/>
                </a:solidFill>
                <a:latin typeface="Calibri"/>
                <a:ea typeface="Calibri"/>
                <a:cs typeface="Calibri"/>
                <a:sym typeface="Calibri"/>
              </a:rPr>
              <a:t>R3: pole at the bow</a:t>
            </a:r>
            <a:endParaRPr/>
          </a:p>
        </p:txBody>
      </p:sp>
      <p:sp>
        <p:nvSpPr>
          <p:cNvPr id="330" name="Google Shape;330;p7"/>
          <p:cNvSpPr txBox="1"/>
          <p:nvPr/>
        </p:nvSpPr>
        <p:spPr>
          <a:xfrm>
            <a:off x="8275320" y="4352544"/>
            <a:ext cx="3291840" cy="164592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500" b="1" i="0">
                <a:solidFill>
                  <a:srgbClr val="1E2B36"/>
                </a:solidFill>
                <a:latin typeface="Calibri"/>
                <a:ea typeface="Calibri"/>
                <a:cs typeface="Calibri"/>
                <a:sym typeface="Calibri"/>
              </a:rPr>
              <a:t>Real mass from CAD: 25.4 → 48.5 kg, so the hulls grew (draft 55 → 117 mm)</a:t>
            </a:r>
            <a:endParaRPr/>
          </a:p>
          <a:p>
            <a:pPr marL="0" marR="0" lvl="0" indent="0" algn="l" rtl="0">
              <a:spcBef>
                <a:spcPts val="800"/>
              </a:spcBef>
              <a:spcAft>
                <a:spcPts val="0"/>
              </a:spcAft>
              <a:buNone/>
            </a:pPr>
            <a:r>
              <a:rPr lang="en-US" sz="1200" b="0" i="0">
                <a:solidFill>
                  <a:srgbClr val="5B6B78"/>
                </a:solidFill>
                <a:latin typeface="Calibri"/>
                <a:ea typeface="Calibri"/>
                <a:cs typeface="Calibri"/>
                <a:sym typeface="Calibri"/>
              </a:rPr>
              <a:t>Built with SOLIDWORKS, SOLIDWORKS Simulation, Pack and Go and ENOVIA Project Planner</a:t>
            </a:r>
            <a:endParaRPr/>
          </a:p>
        </p:txBody>
      </p:sp>
      <p:pic>
        <p:nvPicPr>
          <p:cNvPr id="331" name="Google Shape;331;p7"/>
          <p:cNvPicPr preferRelativeResize="0"/>
          <p:nvPr/>
        </p:nvPicPr>
        <p:blipFill rotWithShape="1">
          <a:blip r:embed="rId5">
            <a:alphaModFix/>
          </a:blip>
          <a:srcRect/>
          <a:stretch/>
        </p:blipFill>
        <p:spPr>
          <a:xfrm>
            <a:off x="482600" y="1625600"/>
            <a:ext cx="4025900" cy="2260600"/>
          </a:xfrm>
          <a:prstGeom prst="rect">
            <a:avLst/>
          </a:prstGeom>
          <a:noFill/>
          <a:ln w="12700" cap="flat" cmpd="sng">
            <a:solidFill>
              <a:srgbClr val="EAF3F8"/>
            </a:solidFill>
            <a:prstDash val="solid"/>
            <a:round/>
            <a:headEnd type="none" w="sm" len="sm"/>
            <a:tailEnd type="none" w="sm" len="sm"/>
          </a:ln>
        </p:spPr>
      </p:pic>
      <p:pic>
        <p:nvPicPr>
          <p:cNvPr id="332" name="Google Shape;332;p7"/>
          <p:cNvPicPr preferRelativeResize="0"/>
          <p:nvPr/>
        </p:nvPicPr>
        <p:blipFill rotWithShape="1">
          <a:blip r:embed="rId6">
            <a:alphaModFix/>
          </a:blip>
          <a:srcRect/>
          <a:stretch/>
        </p:blipFill>
        <p:spPr>
          <a:xfrm>
            <a:off x="482600" y="3962400"/>
            <a:ext cx="3683000" cy="2070100"/>
          </a:xfrm>
          <a:prstGeom prst="rect">
            <a:avLst/>
          </a:prstGeom>
          <a:noFill/>
          <a:ln w="12700" cap="flat" cmpd="sng">
            <a:solidFill>
              <a:srgbClr val="EAF3F8"/>
            </a:solidFill>
            <a:prstDash val="solid"/>
            <a:round/>
            <a:headEnd type="none" w="sm" len="sm"/>
            <a:tailEnd type="none" w="sm" len="sm"/>
          </a:ln>
        </p:spPr>
      </p:pic>
      <p:sp>
        <p:nvSpPr>
          <p:cNvPr id="333" name="Google Shape;333;p7"/>
          <p:cNvSpPr/>
          <p:nvPr/>
        </p:nvSpPr>
        <p:spPr>
          <a:xfrm>
            <a:off x="558800" y="4038600"/>
            <a:ext cx="1905000" cy="254000"/>
          </a:xfrm>
          <a:prstGeom prst="roundRect">
            <a:avLst>
              <a:gd name="adj" fmla="val 18000"/>
            </a:avLst>
          </a:prstGeom>
          <a:solidFill>
            <a:srgbClr val="125A8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900" b="1">
                <a:solidFill>
                  <a:srgbClr val="FFFFFF"/>
                </a:solidFill>
                <a:latin typeface="Calibri"/>
                <a:ea typeface="Calibri"/>
                <a:cs typeface="Calibri"/>
                <a:sym typeface="Calibri"/>
              </a:rPr>
              <a:t>The float in SOLIDWORKS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2"/>
                                        </p:tgtEl>
                                        <p:attrNameLst>
                                          <p:attrName>style.visibility</p:attrName>
                                        </p:attrNameLst>
                                      </p:cBhvr>
                                      <p:to>
                                        <p:strVal val="visible"/>
                                      </p:to>
                                    </p:set>
                                    <p:animEffect transition="in" filter="fade">
                                      <p:cBhvr>
                                        <p:cTn id="7" dur="400"/>
                                        <p:tgtEl>
                                          <p:spTgt spid="332"/>
                                        </p:tgtEl>
                                      </p:cBhvr>
                                    </p:animEffect>
                                  </p:childTnLst>
                                </p:cTn>
                              </p:par>
                              <p:par>
                                <p:cTn id="8" presetID="10" presetClass="entr" presetSubtype="0" fill="hold" nodeType="withEffect">
                                  <p:stCondLst>
                                    <p:cond delay="0"/>
                                  </p:stCondLst>
                                  <p:childTnLst>
                                    <p:set>
                                      <p:cBhvr>
                                        <p:cTn id="9" dur="1" fill="hold">
                                          <p:stCondLst>
                                            <p:cond delay="0"/>
                                          </p:stCondLst>
                                        </p:cTn>
                                        <p:tgtEl>
                                          <p:spTgt spid="333"/>
                                        </p:tgtEl>
                                        <p:attrNameLst>
                                          <p:attrName>style.visibility</p:attrName>
                                        </p:attrNameLst>
                                      </p:cBhvr>
                                      <p:to>
                                        <p:strVal val="visible"/>
                                      </p:to>
                                    </p:set>
                                    <p:animEffect transition="in" filter="fade">
                                      <p:cBhvr>
                                        <p:cTn id="10" dur="400"/>
                                        <p:tgtEl>
                                          <p:spTgt spid="333"/>
                                        </p:tgtEl>
                                      </p:cBhvr>
                                    </p:animEffect>
                                  </p:childTnLst>
                                </p:cTn>
                              </p:par>
                            </p:childTnLst>
                          </p:cTn>
                        </p:par>
                        <p:par>
                          <p:cTn id="11" fill="hold">
                            <p:stCondLst>
                              <p:cond delay="400"/>
                            </p:stCondLst>
                            <p:childTnLst>
                              <p:par>
                                <p:cTn id="12" presetID="10" presetClass="entr" presetSubtype="0" fill="hold" nodeType="afterEffect">
                                  <p:stCondLst>
                                    <p:cond delay="0"/>
                                  </p:stCondLst>
                                  <p:childTnLst>
                                    <p:set>
                                      <p:cBhvr>
                                        <p:cTn id="13" dur="1" fill="hold">
                                          <p:stCondLst>
                                            <p:cond delay="0"/>
                                          </p:stCondLst>
                                        </p:cTn>
                                        <p:tgtEl>
                                          <p:spTgt spid="316"/>
                                        </p:tgtEl>
                                        <p:attrNameLst>
                                          <p:attrName>style.visibility</p:attrName>
                                        </p:attrNameLst>
                                      </p:cBhvr>
                                      <p:to>
                                        <p:strVal val="visible"/>
                                      </p:to>
                                    </p:set>
                                    <p:animEffect transition="in" filter="fade">
                                      <p:cBhvr>
                                        <p:cTn id="14" dur="300"/>
                                        <p:tgtEl>
                                          <p:spTgt spid="316"/>
                                        </p:tgtEl>
                                      </p:cBhvr>
                                    </p:animEffect>
                                  </p:childTnLst>
                                </p:cTn>
                              </p:par>
                              <p:par>
                                <p:cTn id="15" presetID="10" presetClass="entr" presetSubtype="0" fill="hold" nodeType="withEffect">
                                  <p:stCondLst>
                                    <p:cond delay="0"/>
                                  </p:stCondLst>
                                  <p:childTnLst>
                                    <p:set>
                                      <p:cBhvr>
                                        <p:cTn id="16" dur="1" fill="hold">
                                          <p:stCondLst>
                                            <p:cond delay="0"/>
                                          </p:stCondLst>
                                        </p:cTn>
                                        <p:tgtEl>
                                          <p:spTgt spid="317"/>
                                        </p:tgtEl>
                                        <p:attrNameLst>
                                          <p:attrName>style.visibility</p:attrName>
                                        </p:attrNameLst>
                                      </p:cBhvr>
                                      <p:to>
                                        <p:strVal val="visible"/>
                                      </p:to>
                                    </p:set>
                                    <p:animEffect transition="in" filter="fade">
                                      <p:cBhvr>
                                        <p:cTn id="17" dur="300"/>
                                        <p:tgtEl>
                                          <p:spTgt spid="317"/>
                                        </p:tgtEl>
                                      </p:cBhvr>
                                    </p:animEffect>
                                  </p:childTnLst>
                                </p:cTn>
                              </p:par>
                            </p:childTnLst>
                          </p:cTn>
                        </p:par>
                        <p:par>
                          <p:cTn id="18" fill="hold">
                            <p:stCondLst>
                              <p:cond delay="700"/>
                            </p:stCondLst>
                            <p:childTnLst>
                              <p:par>
                                <p:cTn id="19" presetID="10" presetClass="entr" presetSubtype="0" fill="hold" nodeType="afterEffect">
                                  <p:stCondLst>
                                    <p:cond delay="0"/>
                                  </p:stCondLst>
                                  <p:childTnLst>
                                    <p:set>
                                      <p:cBhvr>
                                        <p:cTn id="20" dur="1" fill="hold">
                                          <p:stCondLst>
                                            <p:cond delay="0"/>
                                          </p:stCondLst>
                                        </p:cTn>
                                        <p:tgtEl>
                                          <p:spTgt spid="318"/>
                                        </p:tgtEl>
                                        <p:attrNameLst>
                                          <p:attrName>style.visibility</p:attrName>
                                        </p:attrNameLst>
                                      </p:cBhvr>
                                      <p:to>
                                        <p:strVal val="visible"/>
                                      </p:to>
                                    </p:set>
                                    <p:animEffect transition="in" filter="fade">
                                      <p:cBhvr>
                                        <p:cTn id="21" dur="300"/>
                                        <p:tgtEl>
                                          <p:spTgt spid="318"/>
                                        </p:tgtEl>
                                      </p:cBhvr>
                                    </p:animEffect>
                                  </p:childTnLst>
                                </p:cTn>
                              </p:par>
                              <p:par>
                                <p:cTn id="22" presetID="10" presetClass="entr" presetSubtype="0" fill="hold" nodeType="withEffect">
                                  <p:stCondLst>
                                    <p:cond delay="0"/>
                                  </p:stCondLst>
                                  <p:childTnLst>
                                    <p:set>
                                      <p:cBhvr>
                                        <p:cTn id="23" dur="1" fill="hold">
                                          <p:stCondLst>
                                            <p:cond delay="0"/>
                                          </p:stCondLst>
                                        </p:cTn>
                                        <p:tgtEl>
                                          <p:spTgt spid="319"/>
                                        </p:tgtEl>
                                        <p:attrNameLst>
                                          <p:attrName>style.visibility</p:attrName>
                                        </p:attrNameLst>
                                      </p:cBhvr>
                                      <p:to>
                                        <p:strVal val="visible"/>
                                      </p:to>
                                    </p:set>
                                    <p:animEffect transition="in" filter="fade">
                                      <p:cBhvr>
                                        <p:cTn id="24" dur="300"/>
                                        <p:tgtEl>
                                          <p:spTgt spid="319"/>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320"/>
                                        </p:tgtEl>
                                        <p:attrNameLst>
                                          <p:attrName>style.visibility</p:attrName>
                                        </p:attrNameLst>
                                      </p:cBhvr>
                                      <p:to>
                                        <p:strVal val="visible"/>
                                      </p:to>
                                    </p:set>
                                    <p:animEffect transition="in" filter="fade">
                                      <p:cBhvr>
                                        <p:cTn id="28" dur="300"/>
                                        <p:tgtEl>
                                          <p:spTgt spid="320"/>
                                        </p:tgtEl>
                                      </p:cBhvr>
                                    </p:animEffect>
                                  </p:childTnLst>
                                </p:cTn>
                              </p:par>
                              <p:par>
                                <p:cTn id="29" presetID="10" presetClass="entr" presetSubtype="0" fill="hold" nodeType="withEffect">
                                  <p:stCondLst>
                                    <p:cond delay="0"/>
                                  </p:stCondLst>
                                  <p:childTnLst>
                                    <p:set>
                                      <p:cBhvr>
                                        <p:cTn id="30" dur="1" fill="hold">
                                          <p:stCondLst>
                                            <p:cond delay="0"/>
                                          </p:stCondLst>
                                        </p:cTn>
                                        <p:tgtEl>
                                          <p:spTgt spid="321"/>
                                        </p:tgtEl>
                                        <p:attrNameLst>
                                          <p:attrName>style.visibility</p:attrName>
                                        </p:attrNameLst>
                                      </p:cBhvr>
                                      <p:to>
                                        <p:strVal val="visible"/>
                                      </p:to>
                                    </p:set>
                                    <p:animEffect transition="in" filter="fade">
                                      <p:cBhvr>
                                        <p:cTn id="31" dur="300"/>
                                        <p:tgtEl>
                                          <p:spTgt spid="321"/>
                                        </p:tgtEl>
                                      </p:cBhvr>
                                    </p:animEffect>
                                  </p:childTnLst>
                                </p:cTn>
                              </p:par>
                            </p:childTnLst>
                          </p:cTn>
                        </p:par>
                        <p:par>
                          <p:cTn id="32" fill="hold">
                            <p:stCondLst>
                              <p:cond delay="1300"/>
                            </p:stCondLst>
                            <p:childTnLst>
                              <p:par>
                                <p:cTn id="33" presetID="10" presetClass="entr" presetSubtype="0" fill="hold" nodeType="afterEffect">
                                  <p:stCondLst>
                                    <p:cond delay="0"/>
                                  </p:stCondLst>
                                  <p:childTnLst>
                                    <p:set>
                                      <p:cBhvr>
                                        <p:cTn id="34" dur="1" fill="hold">
                                          <p:stCondLst>
                                            <p:cond delay="0"/>
                                          </p:stCondLst>
                                        </p:cTn>
                                        <p:tgtEl>
                                          <p:spTgt spid="322"/>
                                        </p:tgtEl>
                                        <p:attrNameLst>
                                          <p:attrName>style.visibility</p:attrName>
                                        </p:attrNameLst>
                                      </p:cBhvr>
                                      <p:to>
                                        <p:strVal val="visible"/>
                                      </p:to>
                                    </p:set>
                                    <p:animEffect transition="in" filter="fade">
                                      <p:cBhvr>
                                        <p:cTn id="35" dur="300"/>
                                        <p:tgtEl>
                                          <p:spTgt spid="322"/>
                                        </p:tgtEl>
                                      </p:cBhvr>
                                    </p:animEffect>
                                  </p:childTnLst>
                                </p:cTn>
                              </p:par>
                              <p:par>
                                <p:cTn id="36" presetID="10" presetClass="entr" presetSubtype="0" fill="hold" nodeType="withEffect">
                                  <p:stCondLst>
                                    <p:cond delay="0"/>
                                  </p:stCondLst>
                                  <p:childTnLst>
                                    <p:set>
                                      <p:cBhvr>
                                        <p:cTn id="37" dur="1" fill="hold">
                                          <p:stCondLst>
                                            <p:cond delay="0"/>
                                          </p:stCondLst>
                                        </p:cTn>
                                        <p:tgtEl>
                                          <p:spTgt spid="323"/>
                                        </p:tgtEl>
                                        <p:attrNameLst>
                                          <p:attrName>style.visibility</p:attrName>
                                        </p:attrNameLst>
                                      </p:cBhvr>
                                      <p:to>
                                        <p:strVal val="visible"/>
                                      </p:to>
                                    </p:set>
                                    <p:animEffect transition="in" filter="fade">
                                      <p:cBhvr>
                                        <p:cTn id="38" dur="300"/>
                                        <p:tgtEl>
                                          <p:spTgt spid="323"/>
                                        </p:tgtEl>
                                      </p:cBhvr>
                                    </p:animEffect>
                                  </p:childTnLst>
                                </p:cTn>
                              </p:par>
                            </p:childTnLst>
                          </p:cTn>
                        </p:par>
                        <p:par>
                          <p:cTn id="39" fill="hold">
                            <p:stCondLst>
                              <p:cond delay="1600"/>
                            </p:stCondLst>
                            <p:childTnLst>
                              <p:par>
                                <p:cTn id="40" presetID="10" presetClass="entr" presetSubtype="0" fill="hold" nodeType="afterEffect">
                                  <p:stCondLst>
                                    <p:cond delay="0"/>
                                  </p:stCondLst>
                                  <p:childTnLst>
                                    <p:set>
                                      <p:cBhvr>
                                        <p:cTn id="41" dur="1" fill="hold">
                                          <p:stCondLst>
                                            <p:cond delay="0"/>
                                          </p:stCondLst>
                                        </p:cTn>
                                        <p:tgtEl>
                                          <p:spTgt spid="324"/>
                                        </p:tgtEl>
                                        <p:attrNameLst>
                                          <p:attrName>style.visibility</p:attrName>
                                        </p:attrNameLst>
                                      </p:cBhvr>
                                      <p:to>
                                        <p:strVal val="visible"/>
                                      </p:to>
                                    </p:set>
                                    <p:animEffect transition="in" filter="fade">
                                      <p:cBhvr>
                                        <p:cTn id="42" dur="400"/>
                                        <p:tgtEl>
                                          <p:spTgt spid="324"/>
                                        </p:tgtEl>
                                      </p:cBhvr>
                                    </p:animEffect>
                                  </p:childTnLst>
                                </p:cTn>
                              </p:par>
                              <p:par>
                                <p:cTn id="43" presetID="10" presetClass="entr" presetSubtype="0" fill="hold" nodeType="withEffect">
                                  <p:stCondLst>
                                    <p:cond delay="0"/>
                                  </p:stCondLst>
                                  <p:childTnLst>
                                    <p:set>
                                      <p:cBhvr>
                                        <p:cTn id="44" dur="1" fill="hold">
                                          <p:stCondLst>
                                            <p:cond delay="0"/>
                                          </p:stCondLst>
                                        </p:cTn>
                                        <p:tgtEl>
                                          <p:spTgt spid="325"/>
                                        </p:tgtEl>
                                        <p:attrNameLst>
                                          <p:attrName>style.visibility</p:attrName>
                                        </p:attrNameLst>
                                      </p:cBhvr>
                                      <p:to>
                                        <p:strVal val="visible"/>
                                      </p:to>
                                    </p:set>
                                    <p:animEffect transition="in" filter="fade">
                                      <p:cBhvr>
                                        <p:cTn id="45" dur="400"/>
                                        <p:tgtEl>
                                          <p:spTgt spid="325"/>
                                        </p:tgtEl>
                                      </p:cBhvr>
                                    </p:animEffect>
                                  </p:childTnLst>
                                </p:cTn>
                              </p:par>
                              <p:par>
                                <p:cTn id="46" presetID="10" presetClass="entr" presetSubtype="0" fill="hold" nodeType="withEffect">
                                  <p:stCondLst>
                                    <p:cond delay="0"/>
                                  </p:stCondLst>
                                  <p:childTnLst>
                                    <p:set>
                                      <p:cBhvr>
                                        <p:cTn id="47" dur="1" fill="hold">
                                          <p:stCondLst>
                                            <p:cond delay="0"/>
                                          </p:stCondLst>
                                        </p:cTn>
                                        <p:tgtEl>
                                          <p:spTgt spid="326"/>
                                        </p:tgtEl>
                                        <p:attrNameLst>
                                          <p:attrName>style.visibility</p:attrName>
                                        </p:attrNameLst>
                                      </p:cBhvr>
                                      <p:to>
                                        <p:strVal val="visible"/>
                                      </p:to>
                                    </p:set>
                                    <p:animEffect transition="in" filter="fade">
                                      <p:cBhvr>
                                        <p:cTn id="48" dur="400"/>
                                        <p:tgtEl>
                                          <p:spTgt spid="326"/>
                                        </p:tgtEl>
                                      </p:cBhvr>
                                    </p:animEffect>
                                  </p:childTnLst>
                                </p:cTn>
                              </p:par>
                              <p:par>
                                <p:cTn id="49" presetID="10" presetClass="entr" presetSubtype="0" fill="hold" nodeType="withEffect">
                                  <p:stCondLst>
                                    <p:cond delay="0"/>
                                  </p:stCondLst>
                                  <p:childTnLst>
                                    <p:set>
                                      <p:cBhvr>
                                        <p:cTn id="50" dur="1" fill="hold">
                                          <p:stCondLst>
                                            <p:cond delay="0"/>
                                          </p:stCondLst>
                                        </p:cTn>
                                        <p:tgtEl>
                                          <p:spTgt spid="327"/>
                                        </p:tgtEl>
                                        <p:attrNameLst>
                                          <p:attrName>style.visibility</p:attrName>
                                        </p:attrNameLst>
                                      </p:cBhvr>
                                      <p:to>
                                        <p:strVal val="visible"/>
                                      </p:to>
                                    </p:set>
                                    <p:animEffect transition="in" filter="fade">
                                      <p:cBhvr>
                                        <p:cTn id="51" dur="400"/>
                                        <p:tgtEl>
                                          <p:spTgt spid="327"/>
                                        </p:tgtEl>
                                      </p:cBhvr>
                                    </p:animEffect>
                                  </p:childTnLst>
                                </p:cTn>
                              </p:par>
                              <p:par>
                                <p:cTn id="52" presetID="10" presetClass="entr" presetSubtype="0" fill="hold" nodeType="withEffect">
                                  <p:stCondLst>
                                    <p:cond delay="0"/>
                                  </p:stCondLst>
                                  <p:childTnLst>
                                    <p:set>
                                      <p:cBhvr>
                                        <p:cTn id="53" dur="1" fill="hold">
                                          <p:stCondLst>
                                            <p:cond delay="0"/>
                                          </p:stCondLst>
                                        </p:cTn>
                                        <p:tgtEl>
                                          <p:spTgt spid="328"/>
                                        </p:tgtEl>
                                        <p:attrNameLst>
                                          <p:attrName>style.visibility</p:attrName>
                                        </p:attrNameLst>
                                      </p:cBhvr>
                                      <p:to>
                                        <p:strVal val="visible"/>
                                      </p:to>
                                    </p:set>
                                    <p:animEffect transition="in" filter="fade">
                                      <p:cBhvr>
                                        <p:cTn id="54" dur="400"/>
                                        <p:tgtEl>
                                          <p:spTgt spid="328"/>
                                        </p:tgtEl>
                                      </p:cBhvr>
                                    </p:animEffect>
                                  </p:childTnLst>
                                </p:cTn>
                              </p:par>
                              <p:par>
                                <p:cTn id="55" presetID="10" presetClass="entr" presetSubtype="0" fill="hold" nodeType="withEffect">
                                  <p:stCondLst>
                                    <p:cond delay="0"/>
                                  </p:stCondLst>
                                  <p:childTnLst>
                                    <p:set>
                                      <p:cBhvr>
                                        <p:cTn id="56" dur="1" fill="hold">
                                          <p:stCondLst>
                                            <p:cond delay="0"/>
                                          </p:stCondLst>
                                        </p:cTn>
                                        <p:tgtEl>
                                          <p:spTgt spid="329"/>
                                        </p:tgtEl>
                                        <p:attrNameLst>
                                          <p:attrName>style.visibility</p:attrName>
                                        </p:attrNameLst>
                                      </p:cBhvr>
                                      <p:to>
                                        <p:strVal val="visible"/>
                                      </p:to>
                                    </p:set>
                                    <p:animEffect transition="in" filter="fade">
                                      <p:cBhvr>
                                        <p:cTn id="57" dur="400"/>
                                        <p:tgtEl>
                                          <p:spTgt spid="329"/>
                                        </p:tgtEl>
                                      </p:cBhvr>
                                    </p:animEffect>
                                  </p:childTnLst>
                                </p:cTn>
                              </p:par>
                              <p:par>
                                <p:cTn id="58" presetID="10" presetClass="entr" presetSubtype="0" fill="hold" nodeType="withEffect">
                                  <p:stCondLst>
                                    <p:cond delay="0"/>
                                  </p:stCondLst>
                                  <p:childTnLst>
                                    <p:set>
                                      <p:cBhvr>
                                        <p:cTn id="59" dur="1" fill="hold">
                                          <p:stCondLst>
                                            <p:cond delay="0"/>
                                          </p:stCondLst>
                                        </p:cTn>
                                        <p:tgtEl>
                                          <p:spTgt spid="330"/>
                                        </p:tgtEl>
                                        <p:attrNameLst>
                                          <p:attrName>style.visibility</p:attrName>
                                        </p:attrNameLst>
                                      </p:cBhvr>
                                      <p:to>
                                        <p:strVal val="visible"/>
                                      </p:to>
                                    </p:set>
                                    <p:animEffect transition="in" filter="fade">
                                      <p:cBhvr>
                                        <p:cTn id="60" dur="400"/>
                                        <p:tgtEl>
                                          <p:spTgt spid="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8"/>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A service for those who must act on spills</a:t>
            </a:r>
            <a:endParaRPr/>
          </a:p>
        </p:txBody>
      </p:sp>
      <p:sp>
        <p:nvSpPr>
          <p:cNvPr id="340" name="Google Shape;340;p8"/>
          <p:cNvSpPr/>
          <p:nvPr/>
        </p:nvSpPr>
        <p:spPr>
          <a:xfrm>
            <a:off x="484632" y="1645920"/>
            <a:ext cx="2633472" cy="1024128"/>
          </a:xfrm>
          <a:prstGeom prst="roundRect">
            <a:avLst>
              <a:gd name="adj" fmla="val 10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 name="Google Shape;341;p8"/>
          <p:cNvSpPr txBox="1"/>
          <p:nvPr/>
        </p:nvSpPr>
        <p:spPr>
          <a:xfrm>
            <a:off x="621792" y="1700784"/>
            <a:ext cx="2359152" cy="36576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Pollution boards</a:t>
            </a:r>
            <a:endParaRPr/>
          </a:p>
        </p:txBody>
      </p:sp>
      <p:sp>
        <p:nvSpPr>
          <p:cNvPr id="342" name="Google Shape;342;p8"/>
          <p:cNvSpPr txBox="1"/>
          <p:nvPr/>
        </p:nvSpPr>
        <p:spPr>
          <a:xfrm>
            <a:off x="621792" y="2066543"/>
            <a:ext cx="2359152" cy="56692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0" i="0">
                <a:solidFill>
                  <a:srgbClr val="1E2B36"/>
                </a:solidFill>
                <a:latin typeface="Calibri"/>
                <a:ea typeface="Calibri"/>
                <a:cs typeface="Calibri"/>
                <a:sym typeface="Calibri"/>
              </a:rPr>
              <a:t>catch discharges; know when to sample</a:t>
            </a:r>
            <a:endParaRPr/>
          </a:p>
        </p:txBody>
      </p:sp>
      <p:sp>
        <p:nvSpPr>
          <p:cNvPr id="343" name="Google Shape;343;p8"/>
          <p:cNvSpPr/>
          <p:nvPr/>
        </p:nvSpPr>
        <p:spPr>
          <a:xfrm>
            <a:off x="3346704" y="1645920"/>
            <a:ext cx="2633472" cy="1024128"/>
          </a:xfrm>
          <a:prstGeom prst="roundRect">
            <a:avLst>
              <a:gd name="adj" fmla="val 10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 name="Google Shape;344;p8"/>
          <p:cNvSpPr txBox="1"/>
          <p:nvPr/>
        </p:nvSpPr>
        <p:spPr>
          <a:xfrm>
            <a:off x="3483864" y="1700784"/>
            <a:ext cx="2359152" cy="36576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Water-works</a:t>
            </a:r>
            <a:endParaRPr/>
          </a:p>
        </p:txBody>
      </p:sp>
      <p:sp>
        <p:nvSpPr>
          <p:cNvPr id="345" name="Google Shape;345;p8"/>
          <p:cNvSpPr txBox="1"/>
          <p:nvPr/>
        </p:nvSpPr>
        <p:spPr>
          <a:xfrm>
            <a:off x="3483864" y="2066543"/>
            <a:ext cx="2359152" cy="56692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0" i="0">
                <a:solidFill>
                  <a:srgbClr val="1E2B36"/>
                </a:solidFill>
                <a:latin typeface="Calibri"/>
                <a:ea typeface="Calibri"/>
                <a:cs typeface="Calibri"/>
                <a:sym typeface="Calibri"/>
              </a:rPr>
              <a:t>close the intake in time</a:t>
            </a:r>
            <a:endParaRPr/>
          </a:p>
        </p:txBody>
      </p:sp>
      <p:sp>
        <p:nvSpPr>
          <p:cNvPr id="346" name="Google Shape;346;p8"/>
          <p:cNvSpPr/>
          <p:nvPr/>
        </p:nvSpPr>
        <p:spPr>
          <a:xfrm>
            <a:off x="6208776" y="1645920"/>
            <a:ext cx="2633472" cy="1024128"/>
          </a:xfrm>
          <a:prstGeom prst="roundRect">
            <a:avLst>
              <a:gd name="adj" fmla="val 10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 name="Google Shape;347;p8"/>
          <p:cNvSpPr txBox="1"/>
          <p:nvPr/>
        </p:nvSpPr>
        <p:spPr>
          <a:xfrm>
            <a:off x="6345936" y="1700784"/>
            <a:ext cx="2359152" cy="36576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Irrigation / WRD</a:t>
            </a:r>
            <a:endParaRPr/>
          </a:p>
        </p:txBody>
      </p:sp>
      <p:sp>
        <p:nvSpPr>
          <p:cNvPr id="348" name="Google Shape;348;p8"/>
          <p:cNvSpPr txBox="1"/>
          <p:nvPr/>
        </p:nvSpPr>
        <p:spPr>
          <a:xfrm>
            <a:off x="6345936" y="2066543"/>
            <a:ext cx="2359152" cy="56692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0" i="0">
                <a:solidFill>
                  <a:srgbClr val="1E2B36"/>
                </a:solidFill>
                <a:latin typeface="Calibri"/>
                <a:ea typeface="Calibri"/>
                <a:cs typeface="Calibri"/>
                <a:sym typeface="Calibri"/>
              </a:rPr>
              <a:t>a continuous record with river level</a:t>
            </a:r>
            <a:endParaRPr/>
          </a:p>
        </p:txBody>
      </p:sp>
      <p:sp>
        <p:nvSpPr>
          <p:cNvPr id="349" name="Google Shape;349;p8"/>
          <p:cNvSpPr/>
          <p:nvPr/>
        </p:nvSpPr>
        <p:spPr>
          <a:xfrm>
            <a:off x="9070848" y="1645920"/>
            <a:ext cx="2633472" cy="1024128"/>
          </a:xfrm>
          <a:prstGeom prst="roundRect">
            <a:avLst>
              <a:gd name="adj" fmla="val 10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 name="Google Shape;350;p8"/>
          <p:cNvSpPr txBox="1"/>
          <p:nvPr/>
        </p:nvSpPr>
        <p:spPr>
          <a:xfrm>
            <a:off x="9208008" y="1700784"/>
            <a:ext cx="2359152" cy="36576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Industrial estates</a:t>
            </a:r>
            <a:endParaRPr/>
          </a:p>
        </p:txBody>
      </p:sp>
      <p:sp>
        <p:nvSpPr>
          <p:cNvPr id="351" name="Google Shape;351;p8"/>
          <p:cNvSpPr txBox="1"/>
          <p:nvPr/>
        </p:nvSpPr>
        <p:spPr>
          <a:xfrm>
            <a:off x="9208008" y="2066543"/>
            <a:ext cx="2359152" cy="56692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0" i="0">
                <a:solidFill>
                  <a:srgbClr val="1E2B36"/>
                </a:solidFill>
                <a:latin typeface="Calibri"/>
                <a:ea typeface="Calibri"/>
                <a:cs typeface="Calibri"/>
                <a:sym typeface="Calibri"/>
              </a:rPr>
              <a:t>an independent downstream record</a:t>
            </a:r>
            <a:endParaRPr/>
          </a:p>
        </p:txBody>
      </p:sp>
      <p:sp>
        <p:nvSpPr>
          <p:cNvPr id="352" name="Google Shape;352;p8"/>
          <p:cNvSpPr/>
          <p:nvPr/>
        </p:nvSpPr>
        <p:spPr>
          <a:xfrm>
            <a:off x="484632" y="2834640"/>
            <a:ext cx="3749039" cy="2304288"/>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 name="Google Shape;353;p8"/>
          <p:cNvSpPr txBox="1"/>
          <p:nvPr/>
        </p:nvSpPr>
        <p:spPr>
          <a:xfrm>
            <a:off x="640080" y="2889504"/>
            <a:ext cx="3474720" cy="34747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What it costs</a:t>
            </a:r>
            <a:endParaRPr/>
          </a:p>
        </p:txBody>
      </p:sp>
      <p:graphicFrame>
        <p:nvGraphicFramePr>
          <p:cNvPr id="354" name="Google Shape;354;p8"/>
          <p:cNvGraphicFramePr/>
          <p:nvPr/>
        </p:nvGraphicFramePr>
        <p:xfrm>
          <a:off x="566928" y="3291840"/>
          <a:ext cx="178308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355" name="Google Shape;355;p8"/>
          <p:cNvSpPr txBox="1"/>
          <p:nvPr/>
        </p:nvSpPr>
        <p:spPr>
          <a:xfrm>
            <a:off x="2377440" y="3310128"/>
            <a:ext cx="1810512" cy="178308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2000" b="1" i="0">
                <a:solidFill>
                  <a:srgbClr val="1E2B36"/>
                </a:solidFill>
                <a:latin typeface="Calibri"/>
                <a:ea typeface="Calibri"/>
                <a:cs typeface="Calibri"/>
                <a:sym typeface="Calibri"/>
              </a:rPr>
              <a:t>≈ ₹1.57 lakh</a:t>
            </a:r>
            <a:endParaRPr/>
          </a:p>
          <a:p>
            <a:pPr marL="0" marR="0" lvl="0" indent="0" algn="l" rtl="0">
              <a:spcBef>
                <a:spcPts val="0"/>
              </a:spcBef>
              <a:spcAft>
                <a:spcPts val="0"/>
              </a:spcAft>
              <a:buNone/>
            </a:pPr>
            <a:r>
              <a:rPr lang="en-US" sz="1300" b="0" i="0">
                <a:solidFill>
                  <a:srgbClr val="5B6B78"/>
                </a:solidFill>
                <a:latin typeface="Calibri"/>
                <a:ea typeface="Calibri"/>
                <a:cs typeface="Calibri"/>
                <a:sym typeface="Calibri"/>
              </a:rPr>
              <a:t>per float, ex-GST, + ₹0.29 lakh bridge kit</a:t>
            </a:r>
            <a:endParaRPr/>
          </a:p>
          <a:p>
            <a:pPr marL="0" marR="0" lvl="0" indent="0" algn="l" rtl="0">
              <a:spcBef>
                <a:spcPts val="600"/>
              </a:spcBef>
              <a:spcAft>
                <a:spcPts val="0"/>
              </a:spcAft>
              <a:buNone/>
            </a:pPr>
            <a:r>
              <a:rPr lang="en-US" sz="1300" b="0" i="0">
                <a:solidFill>
                  <a:srgbClr val="005686"/>
                </a:solidFill>
                <a:latin typeface="Quattrocento Sans"/>
                <a:ea typeface="Quattrocento Sans"/>
                <a:cs typeface="Quattrocento Sans"/>
                <a:sym typeface="Quattrocento Sans"/>
              </a:rPr>
              <a:t>■ </a:t>
            </a:r>
            <a:r>
              <a:rPr lang="en-US" sz="1300" b="0" i="0">
                <a:solidFill>
                  <a:srgbClr val="1E2B36"/>
                </a:solidFill>
                <a:latin typeface="Calibri"/>
                <a:ea typeface="Calibri"/>
                <a:cs typeface="Calibri"/>
                <a:sym typeface="Calibri"/>
              </a:rPr>
              <a:t>probes 44 %</a:t>
            </a:r>
            <a:endParaRPr/>
          </a:p>
          <a:p>
            <a:pPr marL="0" marR="0" lvl="0" indent="0" algn="l" rtl="0">
              <a:spcBef>
                <a:spcPts val="0"/>
              </a:spcBef>
              <a:spcAft>
                <a:spcPts val="0"/>
              </a:spcAft>
              <a:buNone/>
            </a:pPr>
            <a:r>
              <a:rPr lang="en-US" sz="1300" b="0" i="0">
                <a:solidFill>
                  <a:srgbClr val="C9DBE7"/>
                </a:solidFill>
                <a:latin typeface="Quattrocento Sans"/>
                <a:ea typeface="Quattrocento Sans"/>
                <a:cs typeface="Quattrocento Sans"/>
                <a:sym typeface="Quattrocento Sans"/>
              </a:rPr>
              <a:t>■ </a:t>
            </a:r>
            <a:r>
              <a:rPr lang="en-US" sz="1300" b="0" i="0">
                <a:solidFill>
                  <a:srgbClr val="1E2B36"/>
                </a:solidFill>
                <a:latin typeface="Calibri"/>
                <a:ea typeface="Calibri"/>
                <a:cs typeface="Calibri"/>
                <a:sym typeface="Calibri"/>
              </a:rPr>
              <a:t>everything else 56 %</a:t>
            </a:r>
            <a:endParaRPr/>
          </a:p>
          <a:p>
            <a:pPr marL="0" marR="0" lvl="0" indent="0" algn="l" rtl="0">
              <a:spcBef>
                <a:spcPts val="600"/>
              </a:spcBef>
              <a:spcAft>
                <a:spcPts val="0"/>
              </a:spcAft>
              <a:buNone/>
            </a:pPr>
            <a:r>
              <a:rPr lang="en-US" sz="1300" b="0" i="0">
                <a:solidFill>
                  <a:srgbClr val="5B6B78"/>
                </a:solidFill>
                <a:latin typeface="Calibri"/>
                <a:ea typeface="Calibri"/>
                <a:cs typeface="Calibri"/>
                <a:sym typeface="Calibri"/>
              </a:rPr>
              <a:t>≈ ₹1.24 lakh at 100 units (estimate)</a:t>
            </a:r>
            <a:endParaRPr/>
          </a:p>
        </p:txBody>
      </p:sp>
      <p:sp>
        <p:nvSpPr>
          <p:cNvPr id="356" name="Google Shape;356;p8"/>
          <p:cNvSpPr/>
          <p:nvPr/>
        </p:nvSpPr>
        <p:spPr>
          <a:xfrm>
            <a:off x="4462272" y="2834640"/>
            <a:ext cx="3291840" cy="2304288"/>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7" name="Google Shape;357;p8"/>
          <p:cNvSpPr txBox="1"/>
          <p:nvPr/>
        </p:nvSpPr>
        <p:spPr>
          <a:xfrm>
            <a:off x="4617720" y="2889504"/>
            <a:ext cx="3017520" cy="34747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Versus a real-time station</a:t>
            </a:r>
            <a:endParaRPr/>
          </a:p>
        </p:txBody>
      </p:sp>
      <p:sp>
        <p:nvSpPr>
          <p:cNvPr id="358" name="Google Shape;358;p8"/>
          <p:cNvSpPr txBox="1"/>
          <p:nvPr/>
        </p:nvSpPr>
        <p:spPr>
          <a:xfrm>
            <a:off x="4617720" y="3273552"/>
            <a:ext cx="3017520" cy="54864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2800" b="1" i="0">
                <a:solidFill>
                  <a:srgbClr val="1E2B36"/>
                </a:solidFill>
                <a:latin typeface="Calibri"/>
                <a:ea typeface="Calibri"/>
                <a:cs typeface="Calibri"/>
                <a:sym typeface="Calibri"/>
              </a:rPr>
              <a:t>₹35–40 lakh</a:t>
            </a:r>
            <a:endParaRPr/>
          </a:p>
        </p:txBody>
      </p:sp>
      <p:sp>
        <p:nvSpPr>
          <p:cNvPr id="359" name="Google Shape;359;p8"/>
          <p:cNvSpPr txBox="1"/>
          <p:nvPr/>
        </p:nvSpPr>
        <p:spPr>
          <a:xfrm>
            <a:off x="4617720" y="3840480"/>
            <a:ext cx="3017520" cy="126187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0" i="0">
                <a:solidFill>
                  <a:srgbClr val="1E2B36"/>
                </a:solidFill>
                <a:latin typeface="Calibri"/>
                <a:ea typeface="Calibri"/>
                <a:cs typeface="Calibri"/>
                <a:sym typeface="Calibri"/>
              </a:rPr>
              <a:t>for one station's 10-parameter instruments (CSE)</a:t>
            </a:r>
            <a:endParaRPr/>
          </a:p>
          <a:p>
            <a:pPr marL="0" marR="0" lvl="0" indent="0" algn="l" rtl="0">
              <a:spcBef>
                <a:spcPts val="600"/>
              </a:spcBef>
              <a:spcAft>
                <a:spcPts val="0"/>
              </a:spcAft>
              <a:buNone/>
            </a:pPr>
            <a:r>
              <a:rPr lang="en-US" sz="1300" b="0" i="0">
                <a:solidFill>
                  <a:srgbClr val="5B6B78"/>
                </a:solidFill>
                <a:latin typeface="Calibri"/>
                <a:ea typeface="Calibri"/>
                <a:cs typeface="Calibri"/>
                <a:sym typeface="Calibri"/>
              </a:rPr>
              <a:t>Not like-for-like: stations measure more. We add the dense early-warning layer between them.</a:t>
            </a:r>
            <a:endParaRPr/>
          </a:p>
        </p:txBody>
      </p:sp>
      <p:sp>
        <p:nvSpPr>
          <p:cNvPr id="360" name="Google Shape;360;p8"/>
          <p:cNvSpPr/>
          <p:nvPr/>
        </p:nvSpPr>
        <p:spPr>
          <a:xfrm>
            <a:off x="7982712" y="2834640"/>
            <a:ext cx="3721608" cy="2304288"/>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1" name="Google Shape;361;p8"/>
          <p:cNvSpPr txBox="1"/>
          <p:nvPr/>
        </p:nvSpPr>
        <p:spPr>
          <a:xfrm>
            <a:off x="8138160" y="2889504"/>
            <a:ext cx="3474720" cy="34747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How we earn</a:t>
            </a:r>
            <a:endParaRPr/>
          </a:p>
        </p:txBody>
      </p:sp>
      <p:sp>
        <p:nvSpPr>
          <p:cNvPr id="362" name="Google Shape;362;p8"/>
          <p:cNvSpPr txBox="1"/>
          <p:nvPr/>
        </p:nvSpPr>
        <p:spPr>
          <a:xfrm>
            <a:off x="8138160" y="3236976"/>
            <a:ext cx="3474720" cy="38404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2000" b="1" i="0">
                <a:solidFill>
                  <a:srgbClr val="1E2B36"/>
                </a:solidFill>
                <a:latin typeface="Calibri"/>
                <a:ea typeface="Calibri"/>
                <a:cs typeface="Calibri"/>
                <a:sym typeface="Calibri"/>
              </a:rPr>
              <a:t>Monitoring as a service</a:t>
            </a:r>
            <a:endParaRPr/>
          </a:p>
        </p:txBody>
      </p:sp>
      <p:sp>
        <p:nvSpPr>
          <p:cNvPr id="363" name="Google Shape;363;p8"/>
          <p:cNvSpPr txBox="1"/>
          <p:nvPr/>
        </p:nvSpPr>
        <p:spPr>
          <a:xfrm>
            <a:off x="8138160" y="3657600"/>
            <a:ext cx="3474720" cy="1463040"/>
          </a:xfrm>
          <a:prstGeom prst="rect">
            <a:avLst/>
          </a:prstGeom>
          <a:noFill/>
          <a:ln>
            <a:noFill/>
          </a:ln>
        </p:spPr>
        <p:txBody>
          <a:bodyPr spcFirstLastPara="1" wrap="square" lIns="36575" tIns="18275" rIns="36575" bIns="18275" anchor="t" anchorCtr="0">
            <a:noAutofit/>
          </a:bodyPr>
          <a:lstStyle/>
          <a:p>
            <a:pPr marL="201168" marR="0" lvl="0" indent="-201168" algn="l" rtl="0">
              <a:spcBef>
                <a:spcPts val="0"/>
              </a:spcBef>
              <a:spcAft>
                <a:spcPts val="0"/>
              </a:spcAft>
              <a:buClr>
                <a:srgbClr val="005686"/>
              </a:buClr>
              <a:buSzPts val="1400"/>
              <a:buFont typeface="Arial"/>
              <a:buChar char="•"/>
            </a:pPr>
            <a:r>
              <a:rPr lang="en-US" sz="1400" b="0" i="0">
                <a:solidFill>
                  <a:srgbClr val="1E2B36"/>
                </a:solidFill>
                <a:latin typeface="Calibri"/>
                <a:ea typeface="Calibri"/>
                <a:cs typeface="Calibri"/>
                <a:sym typeface="Calibri"/>
              </a:rPr>
              <a:t>₹12,000 a month per float, 5-year contract: hardware, install, service, alerts, data</a:t>
            </a:r>
            <a:endParaRPr/>
          </a:p>
          <a:p>
            <a:pPr marL="201168" marR="0" lvl="0" indent="-201168" algn="l" rtl="0">
              <a:spcBef>
                <a:spcPts val="300"/>
              </a:spcBef>
              <a:spcAft>
                <a:spcPts val="0"/>
              </a:spcAft>
              <a:buClr>
                <a:srgbClr val="005686"/>
              </a:buClr>
              <a:buSzPts val="1400"/>
              <a:buFont typeface="Arial"/>
              <a:buChar char="•"/>
            </a:pPr>
            <a:r>
              <a:rPr lang="en-US" sz="1400" b="0" i="0">
                <a:solidFill>
                  <a:srgbClr val="1E2B36"/>
                </a:solidFill>
                <a:latin typeface="Calibri"/>
                <a:ea typeface="Calibri"/>
                <a:cs typeface="Calibri"/>
                <a:sym typeface="Calibri"/>
              </a:rPr>
              <a:t>Hardware paid back in ≈ 20 months; ≈ 46 % margin over 5 years</a:t>
            </a:r>
            <a:endParaRPr/>
          </a:p>
          <a:p>
            <a:pPr marL="201168" marR="0" lvl="0" indent="-201168" algn="l" rtl="0">
              <a:spcBef>
                <a:spcPts val="300"/>
              </a:spcBef>
              <a:spcAft>
                <a:spcPts val="0"/>
              </a:spcAft>
              <a:buClr>
                <a:srgbClr val="005686"/>
              </a:buClr>
              <a:buSzPts val="1400"/>
              <a:buFont typeface="Arial"/>
              <a:buChar char="•"/>
            </a:pPr>
            <a:r>
              <a:rPr lang="en-US" sz="1400" b="0" i="0">
                <a:solidFill>
                  <a:srgbClr val="1E2B36"/>
                </a:solidFill>
                <a:latin typeface="Calibri"/>
                <a:ea typeface="Calibri"/>
                <a:cs typeface="Calibri"/>
                <a:sym typeface="Calibri"/>
              </a:rPr>
              <a:t>Or buy: ≈ ₹3 lakh installed + maintenance contract</a:t>
            </a:r>
            <a:endParaRPr/>
          </a:p>
        </p:txBody>
      </p:sp>
      <p:sp>
        <p:nvSpPr>
          <p:cNvPr id="364" name="Google Shape;364;p8"/>
          <p:cNvSpPr/>
          <p:nvPr/>
        </p:nvSpPr>
        <p:spPr>
          <a:xfrm>
            <a:off x="484632" y="5303520"/>
            <a:ext cx="2926080" cy="457200"/>
          </a:xfrm>
          <a:prstGeom prst="homePlate">
            <a:avLst>
              <a:gd name="adj" fmla="val 50000"/>
            </a:avLst>
          </a:prstGeom>
          <a:solidFill>
            <a:srgbClr val="005686"/>
          </a:solidFill>
          <a:ln>
            <a:noFill/>
          </a:ln>
        </p:spPr>
        <p:txBody>
          <a:bodyPr spcFirstLastPara="1" wrap="square" lIns="54850" tIns="18275" rIns="54850" bIns="18275" anchor="ctr" anchorCtr="0">
            <a:noAutofit/>
          </a:bodyPr>
          <a:lstStyle/>
          <a:p>
            <a:pPr marL="0" marR="0" lvl="0" indent="0" algn="ctr" rtl="0">
              <a:spcBef>
                <a:spcPts val="0"/>
              </a:spcBef>
              <a:spcAft>
                <a:spcPts val="0"/>
              </a:spcAft>
              <a:buNone/>
            </a:pPr>
            <a:r>
              <a:rPr lang="en-US" sz="1400" b="1" i="0">
                <a:solidFill>
                  <a:srgbClr val="FFFFFF"/>
                </a:solidFill>
                <a:latin typeface="Calibri"/>
                <a:ea typeface="Calibri"/>
                <a:cs typeface="Calibri"/>
                <a:sym typeface="Calibri"/>
              </a:rPr>
              <a:t>Kopargaon pilot</a:t>
            </a:r>
            <a:endParaRPr/>
          </a:p>
        </p:txBody>
      </p:sp>
      <p:sp>
        <p:nvSpPr>
          <p:cNvPr id="365" name="Google Shape;365;p8"/>
          <p:cNvSpPr/>
          <p:nvPr/>
        </p:nvSpPr>
        <p:spPr>
          <a:xfrm>
            <a:off x="3255263" y="5303520"/>
            <a:ext cx="2926080" cy="457200"/>
          </a:xfrm>
          <a:prstGeom prst="chevron">
            <a:avLst>
              <a:gd name="adj" fmla="val 50000"/>
            </a:avLst>
          </a:prstGeom>
          <a:solidFill>
            <a:srgbClr val="005686"/>
          </a:solidFill>
          <a:ln>
            <a:noFill/>
          </a:ln>
        </p:spPr>
        <p:txBody>
          <a:bodyPr spcFirstLastPara="1" wrap="square" lIns="54850" tIns="18275" rIns="54850" bIns="18275" anchor="ctr" anchorCtr="0">
            <a:noAutofit/>
          </a:bodyPr>
          <a:lstStyle/>
          <a:p>
            <a:pPr marL="0" marR="0" lvl="0" indent="0" algn="ctr" rtl="0">
              <a:spcBef>
                <a:spcPts val="0"/>
              </a:spcBef>
              <a:spcAft>
                <a:spcPts val="0"/>
              </a:spcAft>
              <a:buNone/>
            </a:pPr>
            <a:r>
              <a:rPr lang="en-US" sz="1400" b="1" i="0">
                <a:solidFill>
                  <a:srgbClr val="FFFFFF"/>
                </a:solidFill>
                <a:latin typeface="Calibri"/>
                <a:ea typeface="Calibri"/>
                <a:cs typeface="Calibri"/>
                <a:sym typeface="Calibri"/>
              </a:rPr>
              <a:t>3 floats, one stretch</a:t>
            </a:r>
            <a:endParaRPr/>
          </a:p>
        </p:txBody>
      </p:sp>
      <p:sp>
        <p:nvSpPr>
          <p:cNvPr id="366" name="Google Shape;366;p8"/>
          <p:cNvSpPr/>
          <p:nvPr/>
        </p:nvSpPr>
        <p:spPr>
          <a:xfrm>
            <a:off x="6025896" y="5303520"/>
            <a:ext cx="2926080" cy="457200"/>
          </a:xfrm>
          <a:prstGeom prst="chevron">
            <a:avLst>
              <a:gd name="adj" fmla="val 50000"/>
            </a:avLst>
          </a:prstGeom>
          <a:solidFill>
            <a:srgbClr val="005686"/>
          </a:solidFill>
          <a:ln>
            <a:noFill/>
          </a:ln>
        </p:spPr>
        <p:txBody>
          <a:bodyPr spcFirstLastPara="1" wrap="square" lIns="54850" tIns="18275" rIns="54850" bIns="18275" anchor="ctr" anchorCtr="0">
            <a:noAutofit/>
          </a:bodyPr>
          <a:lstStyle/>
          <a:p>
            <a:pPr marL="0" marR="0" lvl="0" indent="0" algn="ctr" rtl="0">
              <a:spcBef>
                <a:spcPts val="0"/>
              </a:spcBef>
              <a:spcAft>
                <a:spcPts val="0"/>
              </a:spcAft>
              <a:buNone/>
            </a:pPr>
            <a:r>
              <a:rPr lang="en-US" sz="1400" b="1" i="0">
                <a:solidFill>
                  <a:srgbClr val="FFFFFF"/>
                </a:solidFill>
                <a:latin typeface="Calibri"/>
                <a:ea typeface="Calibri"/>
                <a:cs typeface="Calibri"/>
                <a:sym typeface="Calibri"/>
              </a:rPr>
              <a:t>MPCB regional programme</a:t>
            </a:r>
            <a:endParaRPr/>
          </a:p>
        </p:txBody>
      </p:sp>
      <p:sp>
        <p:nvSpPr>
          <p:cNvPr id="367" name="Google Shape;367;p8"/>
          <p:cNvSpPr/>
          <p:nvPr/>
        </p:nvSpPr>
        <p:spPr>
          <a:xfrm>
            <a:off x="8796528" y="5303520"/>
            <a:ext cx="2926080" cy="457200"/>
          </a:xfrm>
          <a:prstGeom prst="chevron">
            <a:avLst>
              <a:gd name="adj" fmla="val 50000"/>
            </a:avLst>
          </a:prstGeom>
          <a:solidFill>
            <a:srgbClr val="DA091C"/>
          </a:solidFill>
          <a:ln>
            <a:noFill/>
          </a:ln>
        </p:spPr>
        <p:txBody>
          <a:bodyPr spcFirstLastPara="1" wrap="square" lIns="54850" tIns="18275" rIns="54850" bIns="18275" anchor="ctr" anchorCtr="0">
            <a:noAutofit/>
          </a:bodyPr>
          <a:lstStyle/>
          <a:p>
            <a:pPr marL="0" marR="0" lvl="0" indent="0" algn="ctr" rtl="0">
              <a:spcBef>
                <a:spcPts val="0"/>
              </a:spcBef>
              <a:spcAft>
                <a:spcPts val="0"/>
              </a:spcAft>
              <a:buNone/>
            </a:pPr>
            <a:r>
              <a:rPr lang="en-US" sz="1400" b="1" i="0">
                <a:solidFill>
                  <a:srgbClr val="FFFFFF"/>
                </a:solidFill>
                <a:latin typeface="Calibri"/>
                <a:ea typeface="Calibri"/>
                <a:cs typeface="Calibri"/>
                <a:sym typeface="Calibri"/>
              </a:rPr>
              <a:t>Maharashtra's 54 polluted sites</a:t>
            </a:r>
            <a:endParaRPr/>
          </a:p>
        </p:txBody>
      </p:sp>
      <p:sp>
        <p:nvSpPr>
          <p:cNvPr id="368" name="Google Shape;368;p8"/>
          <p:cNvSpPr txBox="1"/>
          <p:nvPr/>
        </p:nvSpPr>
        <p:spPr>
          <a:xfrm>
            <a:off x="484632" y="5833872"/>
            <a:ext cx="11219688" cy="23774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000" b="0" i="0">
                <a:solidFill>
                  <a:srgbClr val="5B6B78"/>
                </a:solidFill>
                <a:latin typeface="Calibri"/>
                <a:ea typeface="Calibri"/>
                <a:cs typeface="Calibri"/>
                <a:sym typeface="Calibri"/>
              </a:rPr>
              <a:t>Sources: CPCB assessment (2025); CSE (station cost); our costed R3 bill of materials (Indian prices, 23 Oct 2026, ex-GST). Fee (5-year contract) and roll-out are proposals, at the 100-unit cost.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0"/>
                                        </p:tgtEl>
                                        <p:attrNameLst>
                                          <p:attrName>style.visibility</p:attrName>
                                        </p:attrNameLst>
                                      </p:cBhvr>
                                      <p:to>
                                        <p:strVal val="visible"/>
                                      </p:to>
                                    </p:set>
                                    <p:animEffect transition="in" filter="fade">
                                      <p:cBhvr>
                                        <p:cTn id="7" dur="300"/>
                                        <p:tgtEl>
                                          <p:spTgt spid="340"/>
                                        </p:tgtEl>
                                      </p:cBhvr>
                                    </p:animEffect>
                                  </p:childTnLst>
                                </p:cTn>
                              </p:par>
                              <p:par>
                                <p:cTn id="8" presetID="10" presetClass="entr" presetSubtype="0" fill="hold" nodeType="withEffect">
                                  <p:stCondLst>
                                    <p:cond delay="0"/>
                                  </p:stCondLst>
                                  <p:childTnLst>
                                    <p:set>
                                      <p:cBhvr>
                                        <p:cTn id="9" dur="1" fill="hold">
                                          <p:stCondLst>
                                            <p:cond delay="0"/>
                                          </p:stCondLst>
                                        </p:cTn>
                                        <p:tgtEl>
                                          <p:spTgt spid="341"/>
                                        </p:tgtEl>
                                        <p:attrNameLst>
                                          <p:attrName>style.visibility</p:attrName>
                                        </p:attrNameLst>
                                      </p:cBhvr>
                                      <p:to>
                                        <p:strVal val="visible"/>
                                      </p:to>
                                    </p:set>
                                    <p:animEffect transition="in" filter="fade">
                                      <p:cBhvr>
                                        <p:cTn id="10" dur="300"/>
                                        <p:tgtEl>
                                          <p:spTgt spid="341"/>
                                        </p:tgtEl>
                                      </p:cBhvr>
                                    </p:animEffect>
                                  </p:childTnLst>
                                </p:cTn>
                              </p:par>
                              <p:par>
                                <p:cTn id="11" presetID="10" presetClass="entr" presetSubtype="0" fill="hold" nodeType="withEffect">
                                  <p:stCondLst>
                                    <p:cond delay="0"/>
                                  </p:stCondLst>
                                  <p:childTnLst>
                                    <p:set>
                                      <p:cBhvr>
                                        <p:cTn id="12" dur="1" fill="hold">
                                          <p:stCondLst>
                                            <p:cond delay="0"/>
                                          </p:stCondLst>
                                        </p:cTn>
                                        <p:tgtEl>
                                          <p:spTgt spid="342"/>
                                        </p:tgtEl>
                                        <p:attrNameLst>
                                          <p:attrName>style.visibility</p:attrName>
                                        </p:attrNameLst>
                                      </p:cBhvr>
                                      <p:to>
                                        <p:strVal val="visible"/>
                                      </p:to>
                                    </p:set>
                                    <p:animEffect transition="in" filter="fade">
                                      <p:cBhvr>
                                        <p:cTn id="13" dur="300"/>
                                        <p:tgtEl>
                                          <p:spTgt spid="342"/>
                                        </p:tgtEl>
                                      </p:cBhvr>
                                    </p:animEffect>
                                  </p:childTnLst>
                                </p:cTn>
                              </p:par>
                            </p:childTnLst>
                          </p:cTn>
                        </p:par>
                        <p:par>
                          <p:cTn id="14" fill="hold">
                            <p:stCondLst>
                              <p:cond delay="300"/>
                            </p:stCondLst>
                            <p:childTnLst>
                              <p:par>
                                <p:cTn id="15" presetID="10" presetClass="entr" presetSubtype="0" fill="hold" nodeType="afterEffect">
                                  <p:stCondLst>
                                    <p:cond delay="0"/>
                                  </p:stCondLst>
                                  <p:childTnLst>
                                    <p:set>
                                      <p:cBhvr>
                                        <p:cTn id="16" dur="1" fill="hold">
                                          <p:stCondLst>
                                            <p:cond delay="0"/>
                                          </p:stCondLst>
                                        </p:cTn>
                                        <p:tgtEl>
                                          <p:spTgt spid="343"/>
                                        </p:tgtEl>
                                        <p:attrNameLst>
                                          <p:attrName>style.visibility</p:attrName>
                                        </p:attrNameLst>
                                      </p:cBhvr>
                                      <p:to>
                                        <p:strVal val="visible"/>
                                      </p:to>
                                    </p:set>
                                    <p:animEffect transition="in" filter="fade">
                                      <p:cBhvr>
                                        <p:cTn id="17" dur="300"/>
                                        <p:tgtEl>
                                          <p:spTgt spid="343"/>
                                        </p:tgtEl>
                                      </p:cBhvr>
                                    </p:animEffect>
                                  </p:childTnLst>
                                </p:cTn>
                              </p:par>
                              <p:par>
                                <p:cTn id="18" presetID="10" presetClass="entr" presetSubtype="0" fill="hold" nodeType="withEffect">
                                  <p:stCondLst>
                                    <p:cond delay="0"/>
                                  </p:stCondLst>
                                  <p:childTnLst>
                                    <p:set>
                                      <p:cBhvr>
                                        <p:cTn id="19" dur="1" fill="hold">
                                          <p:stCondLst>
                                            <p:cond delay="0"/>
                                          </p:stCondLst>
                                        </p:cTn>
                                        <p:tgtEl>
                                          <p:spTgt spid="344"/>
                                        </p:tgtEl>
                                        <p:attrNameLst>
                                          <p:attrName>style.visibility</p:attrName>
                                        </p:attrNameLst>
                                      </p:cBhvr>
                                      <p:to>
                                        <p:strVal val="visible"/>
                                      </p:to>
                                    </p:set>
                                    <p:animEffect transition="in" filter="fade">
                                      <p:cBhvr>
                                        <p:cTn id="20" dur="300"/>
                                        <p:tgtEl>
                                          <p:spTgt spid="344"/>
                                        </p:tgtEl>
                                      </p:cBhvr>
                                    </p:animEffect>
                                  </p:childTnLst>
                                </p:cTn>
                              </p:par>
                              <p:par>
                                <p:cTn id="21" presetID="10" presetClass="entr" presetSubtype="0" fill="hold" nodeType="withEffect">
                                  <p:stCondLst>
                                    <p:cond delay="0"/>
                                  </p:stCondLst>
                                  <p:childTnLst>
                                    <p:set>
                                      <p:cBhvr>
                                        <p:cTn id="22" dur="1" fill="hold">
                                          <p:stCondLst>
                                            <p:cond delay="0"/>
                                          </p:stCondLst>
                                        </p:cTn>
                                        <p:tgtEl>
                                          <p:spTgt spid="345"/>
                                        </p:tgtEl>
                                        <p:attrNameLst>
                                          <p:attrName>style.visibility</p:attrName>
                                        </p:attrNameLst>
                                      </p:cBhvr>
                                      <p:to>
                                        <p:strVal val="visible"/>
                                      </p:to>
                                    </p:set>
                                    <p:animEffect transition="in" filter="fade">
                                      <p:cBhvr>
                                        <p:cTn id="23" dur="300"/>
                                        <p:tgtEl>
                                          <p:spTgt spid="345"/>
                                        </p:tgtEl>
                                      </p:cBhvr>
                                    </p:animEffect>
                                  </p:childTnLst>
                                </p:cTn>
                              </p:par>
                            </p:childTnLst>
                          </p:cTn>
                        </p:par>
                        <p:par>
                          <p:cTn id="24" fill="hold">
                            <p:stCondLst>
                              <p:cond delay="600"/>
                            </p:stCondLst>
                            <p:childTnLst>
                              <p:par>
                                <p:cTn id="25" presetID="10" presetClass="entr" presetSubtype="0" fill="hold" nodeType="afterEffect">
                                  <p:stCondLst>
                                    <p:cond delay="0"/>
                                  </p:stCondLst>
                                  <p:childTnLst>
                                    <p:set>
                                      <p:cBhvr>
                                        <p:cTn id="26" dur="1" fill="hold">
                                          <p:stCondLst>
                                            <p:cond delay="0"/>
                                          </p:stCondLst>
                                        </p:cTn>
                                        <p:tgtEl>
                                          <p:spTgt spid="346"/>
                                        </p:tgtEl>
                                        <p:attrNameLst>
                                          <p:attrName>style.visibility</p:attrName>
                                        </p:attrNameLst>
                                      </p:cBhvr>
                                      <p:to>
                                        <p:strVal val="visible"/>
                                      </p:to>
                                    </p:set>
                                    <p:animEffect transition="in" filter="fade">
                                      <p:cBhvr>
                                        <p:cTn id="27" dur="300"/>
                                        <p:tgtEl>
                                          <p:spTgt spid="346"/>
                                        </p:tgtEl>
                                      </p:cBhvr>
                                    </p:animEffect>
                                  </p:childTnLst>
                                </p:cTn>
                              </p:par>
                              <p:par>
                                <p:cTn id="28" presetID="10" presetClass="entr" presetSubtype="0" fill="hold" nodeType="withEffect">
                                  <p:stCondLst>
                                    <p:cond delay="0"/>
                                  </p:stCondLst>
                                  <p:childTnLst>
                                    <p:set>
                                      <p:cBhvr>
                                        <p:cTn id="29" dur="1" fill="hold">
                                          <p:stCondLst>
                                            <p:cond delay="0"/>
                                          </p:stCondLst>
                                        </p:cTn>
                                        <p:tgtEl>
                                          <p:spTgt spid="347"/>
                                        </p:tgtEl>
                                        <p:attrNameLst>
                                          <p:attrName>style.visibility</p:attrName>
                                        </p:attrNameLst>
                                      </p:cBhvr>
                                      <p:to>
                                        <p:strVal val="visible"/>
                                      </p:to>
                                    </p:set>
                                    <p:animEffect transition="in" filter="fade">
                                      <p:cBhvr>
                                        <p:cTn id="30" dur="300"/>
                                        <p:tgtEl>
                                          <p:spTgt spid="347"/>
                                        </p:tgtEl>
                                      </p:cBhvr>
                                    </p:animEffect>
                                  </p:childTnLst>
                                </p:cTn>
                              </p:par>
                              <p:par>
                                <p:cTn id="31" presetID="10" presetClass="entr" presetSubtype="0" fill="hold" nodeType="withEffect">
                                  <p:stCondLst>
                                    <p:cond delay="0"/>
                                  </p:stCondLst>
                                  <p:childTnLst>
                                    <p:set>
                                      <p:cBhvr>
                                        <p:cTn id="32" dur="1" fill="hold">
                                          <p:stCondLst>
                                            <p:cond delay="0"/>
                                          </p:stCondLst>
                                        </p:cTn>
                                        <p:tgtEl>
                                          <p:spTgt spid="348"/>
                                        </p:tgtEl>
                                        <p:attrNameLst>
                                          <p:attrName>style.visibility</p:attrName>
                                        </p:attrNameLst>
                                      </p:cBhvr>
                                      <p:to>
                                        <p:strVal val="visible"/>
                                      </p:to>
                                    </p:set>
                                    <p:animEffect transition="in" filter="fade">
                                      <p:cBhvr>
                                        <p:cTn id="33" dur="300"/>
                                        <p:tgtEl>
                                          <p:spTgt spid="348"/>
                                        </p:tgtEl>
                                      </p:cBhvr>
                                    </p:animEffect>
                                  </p:childTnLst>
                                </p:cTn>
                              </p:par>
                            </p:childTnLst>
                          </p:cTn>
                        </p:par>
                        <p:par>
                          <p:cTn id="34" fill="hold">
                            <p:stCondLst>
                              <p:cond delay="900"/>
                            </p:stCondLst>
                            <p:childTnLst>
                              <p:par>
                                <p:cTn id="35" presetID="10" presetClass="entr" presetSubtype="0" fill="hold" nodeType="afterEffect">
                                  <p:stCondLst>
                                    <p:cond delay="0"/>
                                  </p:stCondLst>
                                  <p:childTnLst>
                                    <p:set>
                                      <p:cBhvr>
                                        <p:cTn id="36" dur="1" fill="hold">
                                          <p:stCondLst>
                                            <p:cond delay="0"/>
                                          </p:stCondLst>
                                        </p:cTn>
                                        <p:tgtEl>
                                          <p:spTgt spid="349"/>
                                        </p:tgtEl>
                                        <p:attrNameLst>
                                          <p:attrName>style.visibility</p:attrName>
                                        </p:attrNameLst>
                                      </p:cBhvr>
                                      <p:to>
                                        <p:strVal val="visible"/>
                                      </p:to>
                                    </p:set>
                                    <p:animEffect transition="in" filter="fade">
                                      <p:cBhvr>
                                        <p:cTn id="37" dur="300"/>
                                        <p:tgtEl>
                                          <p:spTgt spid="349"/>
                                        </p:tgtEl>
                                      </p:cBhvr>
                                    </p:animEffect>
                                  </p:childTnLst>
                                </p:cTn>
                              </p:par>
                              <p:par>
                                <p:cTn id="38" presetID="10" presetClass="entr" presetSubtype="0" fill="hold" nodeType="withEffect">
                                  <p:stCondLst>
                                    <p:cond delay="0"/>
                                  </p:stCondLst>
                                  <p:childTnLst>
                                    <p:set>
                                      <p:cBhvr>
                                        <p:cTn id="39" dur="1" fill="hold">
                                          <p:stCondLst>
                                            <p:cond delay="0"/>
                                          </p:stCondLst>
                                        </p:cTn>
                                        <p:tgtEl>
                                          <p:spTgt spid="350"/>
                                        </p:tgtEl>
                                        <p:attrNameLst>
                                          <p:attrName>style.visibility</p:attrName>
                                        </p:attrNameLst>
                                      </p:cBhvr>
                                      <p:to>
                                        <p:strVal val="visible"/>
                                      </p:to>
                                    </p:set>
                                    <p:animEffect transition="in" filter="fade">
                                      <p:cBhvr>
                                        <p:cTn id="40" dur="300"/>
                                        <p:tgtEl>
                                          <p:spTgt spid="350"/>
                                        </p:tgtEl>
                                      </p:cBhvr>
                                    </p:animEffect>
                                  </p:childTnLst>
                                </p:cTn>
                              </p:par>
                              <p:par>
                                <p:cTn id="41" presetID="10" presetClass="entr" presetSubtype="0" fill="hold" nodeType="withEffect">
                                  <p:stCondLst>
                                    <p:cond delay="0"/>
                                  </p:stCondLst>
                                  <p:childTnLst>
                                    <p:set>
                                      <p:cBhvr>
                                        <p:cTn id="42" dur="1" fill="hold">
                                          <p:stCondLst>
                                            <p:cond delay="0"/>
                                          </p:stCondLst>
                                        </p:cTn>
                                        <p:tgtEl>
                                          <p:spTgt spid="351"/>
                                        </p:tgtEl>
                                        <p:attrNameLst>
                                          <p:attrName>style.visibility</p:attrName>
                                        </p:attrNameLst>
                                      </p:cBhvr>
                                      <p:to>
                                        <p:strVal val="visible"/>
                                      </p:to>
                                    </p:set>
                                    <p:animEffect transition="in" filter="fade">
                                      <p:cBhvr>
                                        <p:cTn id="43" dur="300"/>
                                        <p:tgtEl>
                                          <p:spTgt spid="351"/>
                                        </p:tgtEl>
                                      </p:cBhvr>
                                    </p:animEffect>
                                  </p:childTnLst>
                                </p:cTn>
                              </p:par>
                            </p:childTnLst>
                          </p:cTn>
                        </p:par>
                        <p:par>
                          <p:cTn id="44" fill="hold">
                            <p:stCondLst>
                              <p:cond delay="1200"/>
                            </p:stCondLst>
                            <p:childTnLst>
                              <p:par>
                                <p:cTn id="45" presetID="10" presetClass="entr" presetSubtype="0" fill="hold" nodeType="afterEffect">
                                  <p:stCondLst>
                                    <p:cond delay="0"/>
                                  </p:stCondLst>
                                  <p:childTnLst>
                                    <p:set>
                                      <p:cBhvr>
                                        <p:cTn id="46" dur="1" fill="hold">
                                          <p:stCondLst>
                                            <p:cond delay="0"/>
                                          </p:stCondLst>
                                        </p:cTn>
                                        <p:tgtEl>
                                          <p:spTgt spid="352"/>
                                        </p:tgtEl>
                                        <p:attrNameLst>
                                          <p:attrName>style.visibility</p:attrName>
                                        </p:attrNameLst>
                                      </p:cBhvr>
                                      <p:to>
                                        <p:strVal val="visible"/>
                                      </p:to>
                                    </p:set>
                                    <p:animEffect transition="in" filter="fade">
                                      <p:cBhvr>
                                        <p:cTn id="47" dur="350"/>
                                        <p:tgtEl>
                                          <p:spTgt spid="352"/>
                                        </p:tgtEl>
                                      </p:cBhvr>
                                    </p:animEffect>
                                  </p:childTnLst>
                                </p:cTn>
                              </p:par>
                              <p:par>
                                <p:cTn id="48" presetID="10" presetClass="entr" presetSubtype="0" fill="hold" nodeType="withEffect">
                                  <p:stCondLst>
                                    <p:cond delay="0"/>
                                  </p:stCondLst>
                                  <p:childTnLst>
                                    <p:set>
                                      <p:cBhvr>
                                        <p:cTn id="49" dur="1" fill="hold">
                                          <p:stCondLst>
                                            <p:cond delay="0"/>
                                          </p:stCondLst>
                                        </p:cTn>
                                        <p:tgtEl>
                                          <p:spTgt spid="353"/>
                                        </p:tgtEl>
                                        <p:attrNameLst>
                                          <p:attrName>style.visibility</p:attrName>
                                        </p:attrNameLst>
                                      </p:cBhvr>
                                      <p:to>
                                        <p:strVal val="visible"/>
                                      </p:to>
                                    </p:set>
                                    <p:animEffect transition="in" filter="fade">
                                      <p:cBhvr>
                                        <p:cTn id="50" dur="350"/>
                                        <p:tgtEl>
                                          <p:spTgt spid="353"/>
                                        </p:tgtEl>
                                      </p:cBhvr>
                                    </p:animEffect>
                                  </p:childTnLst>
                                </p:cTn>
                              </p:par>
                              <p:par>
                                <p:cTn id="51" presetID="10" presetClass="entr" presetSubtype="0" fill="hold" nodeType="withEffect">
                                  <p:stCondLst>
                                    <p:cond delay="0"/>
                                  </p:stCondLst>
                                  <p:childTnLst>
                                    <p:set>
                                      <p:cBhvr>
                                        <p:cTn id="52" dur="1" fill="hold">
                                          <p:stCondLst>
                                            <p:cond delay="0"/>
                                          </p:stCondLst>
                                        </p:cTn>
                                        <p:tgtEl>
                                          <p:spTgt spid="354"/>
                                        </p:tgtEl>
                                        <p:attrNameLst>
                                          <p:attrName>style.visibility</p:attrName>
                                        </p:attrNameLst>
                                      </p:cBhvr>
                                      <p:to>
                                        <p:strVal val="visible"/>
                                      </p:to>
                                    </p:set>
                                    <p:animEffect transition="in" filter="fade">
                                      <p:cBhvr>
                                        <p:cTn id="53" dur="350"/>
                                        <p:tgtEl>
                                          <p:spTgt spid="354"/>
                                        </p:tgtEl>
                                      </p:cBhvr>
                                    </p:animEffect>
                                  </p:childTnLst>
                                </p:cTn>
                              </p:par>
                              <p:par>
                                <p:cTn id="54" presetID="10" presetClass="entr" presetSubtype="0" fill="hold" nodeType="withEffect">
                                  <p:stCondLst>
                                    <p:cond delay="0"/>
                                  </p:stCondLst>
                                  <p:childTnLst>
                                    <p:set>
                                      <p:cBhvr>
                                        <p:cTn id="55" dur="1" fill="hold">
                                          <p:stCondLst>
                                            <p:cond delay="0"/>
                                          </p:stCondLst>
                                        </p:cTn>
                                        <p:tgtEl>
                                          <p:spTgt spid="355"/>
                                        </p:tgtEl>
                                        <p:attrNameLst>
                                          <p:attrName>style.visibility</p:attrName>
                                        </p:attrNameLst>
                                      </p:cBhvr>
                                      <p:to>
                                        <p:strVal val="visible"/>
                                      </p:to>
                                    </p:set>
                                    <p:animEffect transition="in" filter="fade">
                                      <p:cBhvr>
                                        <p:cTn id="56" dur="350"/>
                                        <p:tgtEl>
                                          <p:spTgt spid="355"/>
                                        </p:tgtEl>
                                      </p:cBhvr>
                                    </p:animEffect>
                                  </p:childTnLst>
                                </p:cTn>
                              </p:par>
                            </p:childTnLst>
                          </p:cTn>
                        </p:par>
                        <p:par>
                          <p:cTn id="57" fill="hold">
                            <p:stCondLst>
                              <p:cond delay="1550"/>
                            </p:stCondLst>
                            <p:childTnLst>
                              <p:par>
                                <p:cTn id="58" presetID="10" presetClass="entr" presetSubtype="0" fill="hold" nodeType="afterEffect">
                                  <p:stCondLst>
                                    <p:cond delay="0"/>
                                  </p:stCondLst>
                                  <p:childTnLst>
                                    <p:set>
                                      <p:cBhvr>
                                        <p:cTn id="59" dur="1" fill="hold">
                                          <p:stCondLst>
                                            <p:cond delay="0"/>
                                          </p:stCondLst>
                                        </p:cTn>
                                        <p:tgtEl>
                                          <p:spTgt spid="356"/>
                                        </p:tgtEl>
                                        <p:attrNameLst>
                                          <p:attrName>style.visibility</p:attrName>
                                        </p:attrNameLst>
                                      </p:cBhvr>
                                      <p:to>
                                        <p:strVal val="visible"/>
                                      </p:to>
                                    </p:set>
                                    <p:animEffect transition="in" filter="fade">
                                      <p:cBhvr>
                                        <p:cTn id="60" dur="350"/>
                                        <p:tgtEl>
                                          <p:spTgt spid="356"/>
                                        </p:tgtEl>
                                      </p:cBhvr>
                                    </p:animEffect>
                                  </p:childTnLst>
                                </p:cTn>
                              </p:par>
                              <p:par>
                                <p:cTn id="61" presetID="10" presetClass="entr" presetSubtype="0" fill="hold" nodeType="withEffect">
                                  <p:stCondLst>
                                    <p:cond delay="0"/>
                                  </p:stCondLst>
                                  <p:childTnLst>
                                    <p:set>
                                      <p:cBhvr>
                                        <p:cTn id="62" dur="1" fill="hold">
                                          <p:stCondLst>
                                            <p:cond delay="0"/>
                                          </p:stCondLst>
                                        </p:cTn>
                                        <p:tgtEl>
                                          <p:spTgt spid="357"/>
                                        </p:tgtEl>
                                        <p:attrNameLst>
                                          <p:attrName>style.visibility</p:attrName>
                                        </p:attrNameLst>
                                      </p:cBhvr>
                                      <p:to>
                                        <p:strVal val="visible"/>
                                      </p:to>
                                    </p:set>
                                    <p:animEffect transition="in" filter="fade">
                                      <p:cBhvr>
                                        <p:cTn id="63" dur="350"/>
                                        <p:tgtEl>
                                          <p:spTgt spid="357"/>
                                        </p:tgtEl>
                                      </p:cBhvr>
                                    </p:animEffect>
                                  </p:childTnLst>
                                </p:cTn>
                              </p:par>
                              <p:par>
                                <p:cTn id="64" presetID="10" presetClass="entr" presetSubtype="0" fill="hold" nodeType="withEffect">
                                  <p:stCondLst>
                                    <p:cond delay="0"/>
                                  </p:stCondLst>
                                  <p:childTnLst>
                                    <p:set>
                                      <p:cBhvr>
                                        <p:cTn id="65" dur="1" fill="hold">
                                          <p:stCondLst>
                                            <p:cond delay="0"/>
                                          </p:stCondLst>
                                        </p:cTn>
                                        <p:tgtEl>
                                          <p:spTgt spid="358"/>
                                        </p:tgtEl>
                                        <p:attrNameLst>
                                          <p:attrName>style.visibility</p:attrName>
                                        </p:attrNameLst>
                                      </p:cBhvr>
                                      <p:to>
                                        <p:strVal val="visible"/>
                                      </p:to>
                                    </p:set>
                                    <p:animEffect transition="in" filter="fade">
                                      <p:cBhvr>
                                        <p:cTn id="66" dur="350"/>
                                        <p:tgtEl>
                                          <p:spTgt spid="358"/>
                                        </p:tgtEl>
                                      </p:cBhvr>
                                    </p:animEffect>
                                  </p:childTnLst>
                                </p:cTn>
                              </p:par>
                              <p:par>
                                <p:cTn id="67" presetID="10" presetClass="entr" presetSubtype="0" fill="hold" nodeType="withEffect">
                                  <p:stCondLst>
                                    <p:cond delay="0"/>
                                  </p:stCondLst>
                                  <p:childTnLst>
                                    <p:set>
                                      <p:cBhvr>
                                        <p:cTn id="68" dur="1" fill="hold">
                                          <p:stCondLst>
                                            <p:cond delay="0"/>
                                          </p:stCondLst>
                                        </p:cTn>
                                        <p:tgtEl>
                                          <p:spTgt spid="359"/>
                                        </p:tgtEl>
                                        <p:attrNameLst>
                                          <p:attrName>style.visibility</p:attrName>
                                        </p:attrNameLst>
                                      </p:cBhvr>
                                      <p:to>
                                        <p:strVal val="visible"/>
                                      </p:to>
                                    </p:set>
                                    <p:animEffect transition="in" filter="fade">
                                      <p:cBhvr>
                                        <p:cTn id="69" dur="350"/>
                                        <p:tgtEl>
                                          <p:spTgt spid="359"/>
                                        </p:tgtEl>
                                      </p:cBhvr>
                                    </p:animEffect>
                                  </p:childTnLst>
                                </p:cTn>
                              </p:par>
                            </p:childTnLst>
                          </p:cTn>
                        </p:par>
                        <p:par>
                          <p:cTn id="70" fill="hold">
                            <p:stCondLst>
                              <p:cond delay="1900"/>
                            </p:stCondLst>
                            <p:childTnLst>
                              <p:par>
                                <p:cTn id="71" presetID="10" presetClass="entr" presetSubtype="0" fill="hold" nodeType="afterEffect">
                                  <p:stCondLst>
                                    <p:cond delay="0"/>
                                  </p:stCondLst>
                                  <p:childTnLst>
                                    <p:set>
                                      <p:cBhvr>
                                        <p:cTn id="72" dur="1" fill="hold">
                                          <p:stCondLst>
                                            <p:cond delay="0"/>
                                          </p:stCondLst>
                                        </p:cTn>
                                        <p:tgtEl>
                                          <p:spTgt spid="360"/>
                                        </p:tgtEl>
                                        <p:attrNameLst>
                                          <p:attrName>style.visibility</p:attrName>
                                        </p:attrNameLst>
                                      </p:cBhvr>
                                      <p:to>
                                        <p:strVal val="visible"/>
                                      </p:to>
                                    </p:set>
                                    <p:animEffect transition="in" filter="fade">
                                      <p:cBhvr>
                                        <p:cTn id="73" dur="350"/>
                                        <p:tgtEl>
                                          <p:spTgt spid="360"/>
                                        </p:tgtEl>
                                      </p:cBhvr>
                                    </p:animEffect>
                                  </p:childTnLst>
                                </p:cTn>
                              </p:par>
                              <p:par>
                                <p:cTn id="74" presetID="10" presetClass="entr" presetSubtype="0" fill="hold" nodeType="withEffect">
                                  <p:stCondLst>
                                    <p:cond delay="0"/>
                                  </p:stCondLst>
                                  <p:childTnLst>
                                    <p:set>
                                      <p:cBhvr>
                                        <p:cTn id="75" dur="1" fill="hold">
                                          <p:stCondLst>
                                            <p:cond delay="0"/>
                                          </p:stCondLst>
                                        </p:cTn>
                                        <p:tgtEl>
                                          <p:spTgt spid="361"/>
                                        </p:tgtEl>
                                        <p:attrNameLst>
                                          <p:attrName>style.visibility</p:attrName>
                                        </p:attrNameLst>
                                      </p:cBhvr>
                                      <p:to>
                                        <p:strVal val="visible"/>
                                      </p:to>
                                    </p:set>
                                    <p:animEffect transition="in" filter="fade">
                                      <p:cBhvr>
                                        <p:cTn id="76" dur="350"/>
                                        <p:tgtEl>
                                          <p:spTgt spid="361"/>
                                        </p:tgtEl>
                                      </p:cBhvr>
                                    </p:animEffect>
                                  </p:childTnLst>
                                </p:cTn>
                              </p:par>
                              <p:par>
                                <p:cTn id="77" presetID="10" presetClass="entr" presetSubtype="0" fill="hold" nodeType="withEffect">
                                  <p:stCondLst>
                                    <p:cond delay="0"/>
                                  </p:stCondLst>
                                  <p:childTnLst>
                                    <p:set>
                                      <p:cBhvr>
                                        <p:cTn id="78" dur="1" fill="hold">
                                          <p:stCondLst>
                                            <p:cond delay="0"/>
                                          </p:stCondLst>
                                        </p:cTn>
                                        <p:tgtEl>
                                          <p:spTgt spid="362"/>
                                        </p:tgtEl>
                                        <p:attrNameLst>
                                          <p:attrName>style.visibility</p:attrName>
                                        </p:attrNameLst>
                                      </p:cBhvr>
                                      <p:to>
                                        <p:strVal val="visible"/>
                                      </p:to>
                                    </p:set>
                                    <p:animEffect transition="in" filter="fade">
                                      <p:cBhvr>
                                        <p:cTn id="79" dur="350"/>
                                        <p:tgtEl>
                                          <p:spTgt spid="362"/>
                                        </p:tgtEl>
                                      </p:cBhvr>
                                    </p:animEffect>
                                  </p:childTnLst>
                                </p:cTn>
                              </p:par>
                              <p:par>
                                <p:cTn id="80" presetID="10" presetClass="entr" presetSubtype="0" fill="hold" nodeType="withEffect">
                                  <p:stCondLst>
                                    <p:cond delay="0"/>
                                  </p:stCondLst>
                                  <p:childTnLst>
                                    <p:set>
                                      <p:cBhvr>
                                        <p:cTn id="81" dur="1" fill="hold">
                                          <p:stCondLst>
                                            <p:cond delay="0"/>
                                          </p:stCondLst>
                                        </p:cTn>
                                        <p:tgtEl>
                                          <p:spTgt spid="363"/>
                                        </p:tgtEl>
                                        <p:attrNameLst>
                                          <p:attrName>style.visibility</p:attrName>
                                        </p:attrNameLst>
                                      </p:cBhvr>
                                      <p:to>
                                        <p:strVal val="visible"/>
                                      </p:to>
                                    </p:set>
                                    <p:animEffect transition="in" filter="fade">
                                      <p:cBhvr>
                                        <p:cTn id="82" dur="350"/>
                                        <p:tgtEl>
                                          <p:spTgt spid="363"/>
                                        </p:tgtEl>
                                      </p:cBhvr>
                                    </p:animEffect>
                                  </p:childTnLst>
                                </p:cTn>
                              </p:par>
                            </p:childTnLst>
                          </p:cTn>
                        </p:par>
                        <p:par>
                          <p:cTn id="83" fill="hold">
                            <p:stCondLst>
                              <p:cond delay="2250"/>
                            </p:stCondLst>
                            <p:childTnLst>
                              <p:par>
                                <p:cTn id="84" presetID="10" presetClass="entr" presetSubtype="0" fill="hold" nodeType="afterEffect">
                                  <p:stCondLst>
                                    <p:cond delay="0"/>
                                  </p:stCondLst>
                                  <p:childTnLst>
                                    <p:set>
                                      <p:cBhvr>
                                        <p:cTn id="85" dur="1" fill="hold">
                                          <p:stCondLst>
                                            <p:cond delay="0"/>
                                          </p:stCondLst>
                                        </p:cTn>
                                        <p:tgtEl>
                                          <p:spTgt spid="364"/>
                                        </p:tgtEl>
                                        <p:attrNameLst>
                                          <p:attrName>style.visibility</p:attrName>
                                        </p:attrNameLst>
                                      </p:cBhvr>
                                      <p:to>
                                        <p:strVal val="visible"/>
                                      </p:to>
                                    </p:set>
                                    <p:animEffect transition="in" filter="fade">
                                      <p:cBhvr>
                                        <p:cTn id="86" dur="500"/>
                                        <p:tgtEl>
                                          <p:spTgt spid="364"/>
                                        </p:tgtEl>
                                      </p:cBhvr>
                                    </p:animEffect>
                                  </p:childTnLst>
                                </p:cTn>
                              </p:par>
                            </p:childTnLst>
                          </p:cTn>
                        </p:par>
                        <p:par>
                          <p:cTn id="87" fill="hold">
                            <p:stCondLst>
                              <p:cond delay="2750"/>
                            </p:stCondLst>
                            <p:childTnLst>
                              <p:par>
                                <p:cTn id="88" presetID="10" presetClass="entr" presetSubtype="0" fill="hold" nodeType="afterEffect">
                                  <p:stCondLst>
                                    <p:cond delay="0"/>
                                  </p:stCondLst>
                                  <p:childTnLst>
                                    <p:set>
                                      <p:cBhvr>
                                        <p:cTn id="89" dur="1" fill="hold">
                                          <p:stCondLst>
                                            <p:cond delay="0"/>
                                          </p:stCondLst>
                                        </p:cTn>
                                        <p:tgtEl>
                                          <p:spTgt spid="365"/>
                                        </p:tgtEl>
                                        <p:attrNameLst>
                                          <p:attrName>style.visibility</p:attrName>
                                        </p:attrNameLst>
                                      </p:cBhvr>
                                      <p:to>
                                        <p:strVal val="visible"/>
                                      </p:to>
                                    </p:set>
                                    <p:animEffect transition="in" filter="fade">
                                      <p:cBhvr>
                                        <p:cTn id="90" dur="500"/>
                                        <p:tgtEl>
                                          <p:spTgt spid="365"/>
                                        </p:tgtEl>
                                      </p:cBhvr>
                                    </p:animEffect>
                                  </p:childTnLst>
                                </p:cTn>
                              </p:par>
                            </p:childTnLst>
                          </p:cTn>
                        </p:par>
                        <p:par>
                          <p:cTn id="91" fill="hold">
                            <p:stCondLst>
                              <p:cond delay="3250"/>
                            </p:stCondLst>
                            <p:childTnLst>
                              <p:par>
                                <p:cTn id="92" presetID="10" presetClass="entr" presetSubtype="0" fill="hold" nodeType="afterEffect">
                                  <p:stCondLst>
                                    <p:cond delay="0"/>
                                  </p:stCondLst>
                                  <p:childTnLst>
                                    <p:set>
                                      <p:cBhvr>
                                        <p:cTn id="93" dur="1" fill="hold">
                                          <p:stCondLst>
                                            <p:cond delay="0"/>
                                          </p:stCondLst>
                                        </p:cTn>
                                        <p:tgtEl>
                                          <p:spTgt spid="366"/>
                                        </p:tgtEl>
                                        <p:attrNameLst>
                                          <p:attrName>style.visibility</p:attrName>
                                        </p:attrNameLst>
                                      </p:cBhvr>
                                      <p:to>
                                        <p:strVal val="visible"/>
                                      </p:to>
                                    </p:set>
                                    <p:animEffect transition="in" filter="fade">
                                      <p:cBhvr>
                                        <p:cTn id="94" dur="500"/>
                                        <p:tgtEl>
                                          <p:spTgt spid="366"/>
                                        </p:tgtEl>
                                      </p:cBhvr>
                                    </p:animEffect>
                                  </p:childTnLst>
                                </p:cTn>
                              </p:par>
                            </p:childTnLst>
                          </p:cTn>
                        </p:par>
                        <p:par>
                          <p:cTn id="95" fill="hold">
                            <p:stCondLst>
                              <p:cond delay="3750"/>
                            </p:stCondLst>
                            <p:childTnLst>
                              <p:par>
                                <p:cTn id="96" presetID="10" presetClass="entr" presetSubtype="0" fill="hold" nodeType="afterEffect">
                                  <p:stCondLst>
                                    <p:cond delay="0"/>
                                  </p:stCondLst>
                                  <p:childTnLst>
                                    <p:set>
                                      <p:cBhvr>
                                        <p:cTn id="97" dur="1" fill="hold">
                                          <p:stCondLst>
                                            <p:cond delay="0"/>
                                          </p:stCondLst>
                                        </p:cTn>
                                        <p:tgtEl>
                                          <p:spTgt spid="367"/>
                                        </p:tgtEl>
                                        <p:attrNameLst>
                                          <p:attrName>style.visibility</p:attrName>
                                        </p:attrNameLst>
                                      </p:cBhvr>
                                      <p:to>
                                        <p:strVal val="visible"/>
                                      </p:to>
                                    </p:set>
                                    <p:animEffect transition="in" filter="fade">
                                      <p:cBhvr>
                                        <p:cTn id="98" dur="500"/>
                                        <p:tgtEl>
                                          <p:spTgt spid="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9"/>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Where we are, and what proves it next</a:t>
            </a:r>
            <a:endParaRPr/>
          </a:p>
        </p:txBody>
      </p:sp>
      <p:sp>
        <p:nvSpPr>
          <p:cNvPr id="375" name="Google Shape;375;p9"/>
          <p:cNvSpPr/>
          <p:nvPr/>
        </p:nvSpPr>
        <p:spPr>
          <a:xfrm>
            <a:off x="484632" y="1645920"/>
            <a:ext cx="6949440" cy="64008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6" name="Google Shape;376;p9"/>
          <p:cNvSpPr/>
          <p:nvPr/>
        </p:nvSpPr>
        <p:spPr>
          <a:xfrm>
            <a:off x="640080" y="1755648"/>
            <a:ext cx="420624" cy="420624"/>
          </a:xfrm>
          <a:prstGeom prst="ellipse">
            <a:avLst/>
          </a:prstGeom>
          <a:solidFill>
            <a:srgbClr val="1B7F3B"/>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700" b="1" i="0">
                <a:solidFill>
                  <a:srgbClr val="FFFFFF"/>
                </a:solidFill>
                <a:latin typeface="Quattrocento Sans"/>
                <a:ea typeface="Quattrocento Sans"/>
                <a:cs typeface="Quattrocento Sans"/>
                <a:sym typeface="Quattrocento Sans"/>
              </a:rPr>
              <a:t>✓</a:t>
            </a:r>
            <a:endParaRPr/>
          </a:p>
        </p:txBody>
      </p:sp>
      <p:sp>
        <p:nvSpPr>
          <p:cNvPr id="377" name="Google Shape;377;p9"/>
          <p:cNvSpPr txBox="1"/>
          <p:nvPr/>
        </p:nvSpPr>
        <p:spPr>
          <a:xfrm>
            <a:off x="1261872" y="1664208"/>
            <a:ext cx="6035040" cy="32918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Designed</a:t>
            </a:r>
            <a:endParaRPr/>
          </a:p>
        </p:txBody>
      </p:sp>
      <p:sp>
        <p:nvSpPr>
          <p:cNvPr id="378" name="Google Shape;378;p9"/>
          <p:cNvSpPr txBox="1"/>
          <p:nvPr/>
        </p:nvSpPr>
        <p:spPr>
          <a:xfrm>
            <a:off x="1261872" y="1975104"/>
            <a:ext cx="6035040" cy="29260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0" i="0">
                <a:solidFill>
                  <a:srgbClr val="1E2B36"/>
                </a:solidFill>
                <a:latin typeface="Calibri"/>
                <a:ea typeface="Calibri"/>
                <a:cs typeface="Calibri"/>
                <a:sym typeface="Calibri"/>
              </a:rPr>
              <a:t>66-part CAD, hand calculations, SOLIDWORKS Simulation</a:t>
            </a:r>
            <a:endParaRPr/>
          </a:p>
        </p:txBody>
      </p:sp>
      <p:sp>
        <p:nvSpPr>
          <p:cNvPr id="379" name="Google Shape;379;p9"/>
          <p:cNvSpPr/>
          <p:nvPr/>
        </p:nvSpPr>
        <p:spPr>
          <a:xfrm>
            <a:off x="484632" y="2359152"/>
            <a:ext cx="6949440" cy="64008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0" name="Google Shape;380;p9"/>
          <p:cNvSpPr/>
          <p:nvPr/>
        </p:nvSpPr>
        <p:spPr>
          <a:xfrm>
            <a:off x="640080" y="2468880"/>
            <a:ext cx="420624" cy="420624"/>
          </a:xfrm>
          <a:prstGeom prst="ellipse">
            <a:avLst/>
          </a:prstGeom>
          <a:solidFill>
            <a:srgbClr val="1B7F3B"/>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700" b="1" i="0">
                <a:solidFill>
                  <a:srgbClr val="FFFFFF"/>
                </a:solidFill>
                <a:latin typeface="Quattrocento Sans"/>
                <a:ea typeface="Quattrocento Sans"/>
                <a:cs typeface="Quattrocento Sans"/>
                <a:sym typeface="Quattrocento Sans"/>
              </a:rPr>
              <a:t>✓</a:t>
            </a:r>
            <a:endParaRPr/>
          </a:p>
        </p:txBody>
      </p:sp>
      <p:sp>
        <p:nvSpPr>
          <p:cNvPr id="381" name="Google Shape;381;p9"/>
          <p:cNvSpPr txBox="1"/>
          <p:nvPr/>
        </p:nvSpPr>
        <p:spPr>
          <a:xfrm>
            <a:off x="1261872" y="2377440"/>
            <a:ext cx="6035040" cy="32918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Simulated</a:t>
            </a:r>
            <a:endParaRPr/>
          </a:p>
        </p:txBody>
      </p:sp>
      <p:sp>
        <p:nvSpPr>
          <p:cNvPr id="382" name="Google Shape;382;p9"/>
          <p:cNvSpPr txBox="1"/>
          <p:nvPr/>
        </p:nvSpPr>
        <p:spPr>
          <a:xfrm>
            <a:off x="1261872" y="2688336"/>
            <a:ext cx="6035040" cy="29260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0" i="0">
                <a:solidFill>
                  <a:srgbClr val="1E2B36"/>
                </a:solidFill>
                <a:latin typeface="Calibri"/>
                <a:ea typeface="Calibri"/>
                <a:cs typeface="Calibri"/>
                <a:sym typeface="Calibri"/>
              </a:rPr>
              <a:t>synthetic-data test only: 4 of 4 injected spills flagged within 30 min</a:t>
            </a:r>
            <a:endParaRPr/>
          </a:p>
        </p:txBody>
      </p:sp>
      <p:sp>
        <p:nvSpPr>
          <p:cNvPr id="383" name="Google Shape;383;p9"/>
          <p:cNvSpPr/>
          <p:nvPr/>
        </p:nvSpPr>
        <p:spPr>
          <a:xfrm>
            <a:off x="484632" y="3072384"/>
            <a:ext cx="6949440" cy="640080"/>
          </a:xfrm>
          <a:prstGeom prst="roundRect">
            <a:avLst>
              <a:gd name="adj" fmla="val 7000"/>
            </a:avLst>
          </a:prstGeom>
          <a:solidFill>
            <a:srgbClr val="FFFFFF"/>
          </a:solidFill>
          <a:ln w="12700" cap="flat" cmpd="sng">
            <a:solidFill>
              <a:srgbClr val="C9DBE7"/>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4" name="Google Shape;384;p9"/>
          <p:cNvSpPr/>
          <p:nvPr/>
        </p:nvSpPr>
        <p:spPr>
          <a:xfrm>
            <a:off x="640080" y="3182112"/>
            <a:ext cx="420624" cy="420624"/>
          </a:xfrm>
          <a:prstGeom prst="ellipse">
            <a:avLst/>
          </a:prstGeom>
          <a:solidFill>
            <a:srgbClr val="FFFFFF"/>
          </a:solidFill>
          <a:ln w="19050" cap="flat" cmpd="sng">
            <a:solidFill>
              <a:srgbClr val="005686"/>
            </a:solidFill>
            <a:prstDash val="solid"/>
            <a:miter lim="8000"/>
            <a:headEnd type="none" w="sm" len="sm"/>
            <a:tailEnd type="none" w="sm" len="sm"/>
          </a:ln>
        </p:spPr>
        <p:txBody>
          <a:bodyPr spcFirstLastPara="1" wrap="square" lIns="0" tIns="18275" rIns="0" bIns="18275" anchor="ctr" anchorCtr="0">
            <a:noAutofit/>
          </a:bodyPr>
          <a:lstStyle/>
          <a:p>
            <a:pPr marL="0" marR="0" lvl="0" indent="0" algn="ctr" rtl="0">
              <a:spcBef>
                <a:spcPts val="0"/>
              </a:spcBef>
              <a:spcAft>
                <a:spcPts val="0"/>
              </a:spcAft>
              <a:buNone/>
            </a:pPr>
            <a:r>
              <a:rPr lang="en-US" sz="1600" b="1" i="0">
                <a:solidFill>
                  <a:srgbClr val="005686"/>
                </a:solidFill>
                <a:latin typeface="Calibri"/>
                <a:ea typeface="Calibri"/>
                <a:cs typeface="Calibri"/>
                <a:sym typeface="Calibri"/>
              </a:rPr>
              <a:t>3</a:t>
            </a:r>
            <a:endParaRPr/>
          </a:p>
        </p:txBody>
      </p:sp>
      <p:sp>
        <p:nvSpPr>
          <p:cNvPr id="385" name="Google Shape;385;p9"/>
          <p:cNvSpPr txBox="1"/>
          <p:nvPr/>
        </p:nvSpPr>
        <p:spPr>
          <a:xfrm>
            <a:off x="1261872" y="3090672"/>
            <a:ext cx="6035040" cy="32918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Before the finale: 1:5 model in water</a:t>
            </a:r>
            <a:endParaRPr/>
          </a:p>
        </p:txBody>
      </p:sp>
      <p:sp>
        <p:nvSpPr>
          <p:cNvPr id="386" name="Google Shape;386;p9"/>
          <p:cNvSpPr txBox="1"/>
          <p:nvPr/>
        </p:nvSpPr>
        <p:spPr>
          <a:xfrm>
            <a:off x="1261872" y="3401568"/>
            <a:ext cx="6035040" cy="29260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0" i="0">
                <a:solidFill>
                  <a:srgbClr val="1E2B36"/>
                </a:solidFill>
                <a:latin typeface="Calibri"/>
                <a:ea typeface="Calibri"/>
                <a:cs typeface="Calibri"/>
                <a:sym typeface="Calibri"/>
              </a:rPr>
              <a:t>draft, level trim and the float riding up its pole, measured</a:t>
            </a:r>
            <a:endParaRPr/>
          </a:p>
        </p:txBody>
      </p:sp>
      <p:sp>
        <p:nvSpPr>
          <p:cNvPr id="387" name="Google Shape;387;p9"/>
          <p:cNvSpPr/>
          <p:nvPr/>
        </p:nvSpPr>
        <p:spPr>
          <a:xfrm>
            <a:off x="484632" y="3785615"/>
            <a:ext cx="6949440" cy="640080"/>
          </a:xfrm>
          <a:prstGeom prst="roundRect">
            <a:avLst>
              <a:gd name="adj" fmla="val 7000"/>
            </a:avLst>
          </a:prstGeom>
          <a:solidFill>
            <a:srgbClr val="FFFFFF"/>
          </a:solidFill>
          <a:ln w="12700" cap="flat" cmpd="sng">
            <a:solidFill>
              <a:srgbClr val="C9DBE7"/>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8" name="Google Shape;388;p9"/>
          <p:cNvSpPr/>
          <p:nvPr/>
        </p:nvSpPr>
        <p:spPr>
          <a:xfrm>
            <a:off x="640080" y="3895344"/>
            <a:ext cx="420624" cy="420624"/>
          </a:xfrm>
          <a:prstGeom prst="ellipse">
            <a:avLst/>
          </a:prstGeom>
          <a:solidFill>
            <a:srgbClr val="FFFFFF"/>
          </a:solidFill>
          <a:ln w="19050" cap="flat" cmpd="sng">
            <a:solidFill>
              <a:srgbClr val="005686"/>
            </a:solidFill>
            <a:prstDash val="solid"/>
            <a:miter lim="8000"/>
            <a:headEnd type="none" w="sm" len="sm"/>
            <a:tailEnd type="none" w="sm" len="sm"/>
          </a:ln>
        </p:spPr>
        <p:txBody>
          <a:bodyPr spcFirstLastPara="1" wrap="square" lIns="0" tIns="18275" rIns="0" bIns="18275" anchor="ctr" anchorCtr="0">
            <a:noAutofit/>
          </a:bodyPr>
          <a:lstStyle/>
          <a:p>
            <a:pPr marL="0" marR="0" lvl="0" indent="0" algn="ctr" rtl="0">
              <a:spcBef>
                <a:spcPts val="0"/>
              </a:spcBef>
              <a:spcAft>
                <a:spcPts val="0"/>
              </a:spcAft>
              <a:buNone/>
            </a:pPr>
            <a:r>
              <a:rPr lang="en-US" sz="1600" b="1" i="0">
                <a:solidFill>
                  <a:srgbClr val="005686"/>
                </a:solidFill>
                <a:latin typeface="Calibri"/>
                <a:ea typeface="Calibri"/>
                <a:cs typeface="Calibri"/>
                <a:sym typeface="Calibri"/>
              </a:rPr>
              <a:t>4</a:t>
            </a:r>
            <a:endParaRPr/>
          </a:p>
        </p:txBody>
      </p:sp>
      <p:sp>
        <p:nvSpPr>
          <p:cNvPr id="389" name="Google Shape;389;p9"/>
          <p:cNvSpPr txBox="1"/>
          <p:nvPr/>
        </p:nvSpPr>
        <p:spPr>
          <a:xfrm>
            <a:off x="1261872" y="3803903"/>
            <a:ext cx="6035040" cy="32918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Before the finale: electronics bench demo</a:t>
            </a:r>
            <a:endParaRPr/>
          </a:p>
        </p:txBody>
      </p:sp>
      <p:sp>
        <p:nvSpPr>
          <p:cNvPr id="390" name="Google Shape;390;p9"/>
          <p:cNvSpPr txBox="1"/>
          <p:nvPr/>
        </p:nvSpPr>
        <p:spPr>
          <a:xfrm>
            <a:off x="1261872" y="4114800"/>
            <a:ext cx="6035040" cy="29260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0" i="0">
                <a:solidFill>
                  <a:srgbClr val="1E2B36"/>
                </a:solidFill>
                <a:latin typeface="Calibri"/>
                <a:ea typeface="Calibri"/>
                <a:cs typeface="Calibri"/>
                <a:sym typeface="Calibri"/>
              </a:rPr>
              <a:t>ESP32 with a real probe: reads, decides, acts (light, pump, alert)</a:t>
            </a:r>
            <a:endParaRPr/>
          </a:p>
        </p:txBody>
      </p:sp>
      <p:sp>
        <p:nvSpPr>
          <p:cNvPr id="391" name="Google Shape;391;p9"/>
          <p:cNvSpPr/>
          <p:nvPr/>
        </p:nvSpPr>
        <p:spPr>
          <a:xfrm>
            <a:off x="484632" y="4498848"/>
            <a:ext cx="6949440" cy="640080"/>
          </a:xfrm>
          <a:prstGeom prst="roundRect">
            <a:avLst>
              <a:gd name="adj" fmla="val 7000"/>
            </a:avLst>
          </a:prstGeom>
          <a:solidFill>
            <a:srgbClr val="FFFFFF"/>
          </a:solidFill>
          <a:ln w="12700" cap="flat" cmpd="sng">
            <a:solidFill>
              <a:srgbClr val="C9DBE7"/>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2" name="Google Shape;392;p9"/>
          <p:cNvSpPr/>
          <p:nvPr/>
        </p:nvSpPr>
        <p:spPr>
          <a:xfrm>
            <a:off x="640080" y="4608576"/>
            <a:ext cx="420624" cy="420624"/>
          </a:xfrm>
          <a:prstGeom prst="ellipse">
            <a:avLst/>
          </a:prstGeom>
          <a:solidFill>
            <a:srgbClr val="FFFFFF"/>
          </a:solidFill>
          <a:ln w="19050" cap="flat" cmpd="sng">
            <a:solidFill>
              <a:srgbClr val="005686"/>
            </a:solidFill>
            <a:prstDash val="solid"/>
            <a:miter lim="8000"/>
            <a:headEnd type="none" w="sm" len="sm"/>
            <a:tailEnd type="none" w="sm" len="sm"/>
          </a:ln>
        </p:spPr>
        <p:txBody>
          <a:bodyPr spcFirstLastPara="1" wrap="square" lIns="0" tIns="18275" rIns="0" bIns="18275" anchor="ctr" anchorCtr="0">
            <a:noAutofit/>
          </a:bodyPr>
          <a:lstStyle/>
          <a:p>
            <a:pPr marL="0" marR="0" lvl="0" indent="0" algn="ctr" rtl="0">
              <a:spcBef>
                <a:spcPts val="0"/>
              </a:spcBef>
              <a:spcAft>
                <a:spcPts val="0"/>
              </a:spcAft>
              <a:buNone/>
            </a:pPr>
            <a:r>
              <a:rPr lang="en-US" sz="1600" b="1" i="0">
                <a:solidFill>
                  <a:srgbClr val="005686"/>
                </a:solidFill>
                <a:latin typeface="Calibri"/>
                <a:ea typeface="Calibri"/>
                <a:cs typeface="Calibri"/>
                <a:sym typeface="Calibri"/>
              </a:rPr>
              <a:t>5</a:t>
            </a:r>
            <a:endParaRPr/>
          </a:p>
        </p:txBody>
      </p:sp>
      <p:sp>
        <p:nvSpPr>
          <p:cNvPr id="393" name="Google Shape;393;p9"/>
          <p:cNvSpPr txBox="1"/>
          <p:nvPr/>
        </p:nvSpPr>
        <p:spPr>
          <a:xfrm>
            <a:off x="1261872" y="4517136"/>
            <a:ext cx="6035040" cy="32918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After the finale: full-size tank test</a:t>
            </a:r>
            <a:endParaRPr/>
          </a:p>
        </p:txBody>
      </p:sp>
      <p:sp>
        <p:nvSpPr>
          <p:cNvPr id="394" name="Google Shape;394;p9"/>
          <p:cNvSpPr txBox="1"/>
          <p:nvPr/>
        </p:nvSpPr>
        <p:spPr>
          <a:xfrm>
            <a:off x="1261872" y="4828032"/>
            <a:ext cx="6035040" cy="29260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0" i="0">
                <a:solidFill>
                  <a:srgbClr val="1E2B36"/>
                </a:solidFill>
                <a:latin typeface="Calibri"/>
                <a:ea typeface="Calibri"/>
                <a:cs typeface="Calibri"/>
                <a:sym typeface="Calibri"/>
              </a:rPr>
              <a:t>draft, 2 m travel and roller friction, measured</a:t>
            </a:r>
            <a:endParaRPr/>
          </a:p>
        </p:txBody>
      </p:sp>
      <p:sp>
        <p:nvSpPr>
          <p:cNvPr id="395" name="Google Shape;395;p9"/>
          <p:cNvSpPr/>
          <p:nvPr/>
        </p:nvSpPr>
        <p:spPr>
          <a:xfrm>
            <a:off x="484632" y="5212080"/>
            <a:ext cx="6949440" cy="640080"/>
          </a:xfrm>
          <a:prstGeom prst="roundRect">
            <a:avLst>
              <a:gd name="adj" fmla="val 7000"/>
            </a:avLst>
          </a:prstGeom>
          <a:solidFill>
            <a:srgbClr val="FFFFFF"/>
          </a:solidFill>
          <a:ln w="12700" cap="flat" cmpd="sng">
            <a:solidFill>
              <a:srgbClr val="C9DBE7"/>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6" name="Google Shape;396;p9"/>
          <p:cNvSpPr/>
          <p:nvPr/>
        </p:nvSpPr>
        <p:spPr>
          <a:xfrm>
            <a:off x="640080" y="5321808"/>
            <a:ext cx="420624" cy="420624"/>
          </a:xfrm>
          <a:prstGeom prst="ellipse">
            <a:avLst/>
          </a:prstGeom>
          <a:solidFill>
            <a:srgbClr val="FFFFFF"/>
          </a:solidFill>
          <a:ln w="19050" cap="flat" cmpd="sng">
            <a:solidFill>
              <a:srgbClr val="005686"/>
            </a:solidFill>
            <a:prstDash val="solid"/>
            <a:miter lim="8000"/>
            <a:headEnd type="none" w="sm" len="sm"/>
            <a:tailEnd type="none" w="sm" len="sm"/>
          </a:ln>
        </p:spPr>
        <p:txBody>
          <a:bodyPr spcFirstLastPara="1" wrap="square" lIns="0" tIns="18275" rIns="0" bIns="18275" anchor="ctr" anchorCtr="0">
            <a:noAutofit/>
          </a:bodyPr>
          <a:lstStyle/>
          <a:p>
            <a:pPr marL="0" marR="0" lvl="0" indent="0" algn="ctr" rtl="0">
              <a:spcBef>
                <a:spcPts val="0"/>
              </a:spcBef>
              <a:spcAft>
                <a:spcPts val="0"/>
              </a:spcAft>
              <a:buNone/>
            </a:pPr>
            <a:r>
              <a:rPr lang="en-US" sz="1600" b="1" i="0">
                <a:solidFill>
                  <a:srgbClr val="005686"/>
                </a:solidFill>
                <a:latin typeface="Calibri"/>
                <a:ea typeface="Calibri"/>
                <a:cs typeface="Calibri"/>
                <a:sym typeface="Calibri"/>
              </a:rPr>
              <a:t>6</a:t>
            </a:r>
            <a:endParaRPr/>
          </a:p>
        </p:txBody>
      </p:sp>
      <p:sp>
        <p:nvSpPr>
          <p:cNvPr id="397" name="Google Shape;397;p9"/>
          <p:cNvSpPr txBox="1"/>
          <p:nvPr/>
        </p:nvSpPr>
        <p:spPr>
          <a:xfrm>
            <a:off x="1261872" y="5230368"/>
            <a:ext cx="6035040" cy="32918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After permits: 30-day Godavari pilot</a:t>
            </a:r>
            <a:endParaRPr/>
          </a:p>
        </p:txBody>
      </p:sp>
      <p:sp>
        <p:nvSpPr>
          <p:cNvPr id="398" name="Google Shape;398;p9"/>
          <p:cNvSpPr txBox="1"/>
          <p:nvPr/>
        </p:nvSpPr>
        <p:spPr>
          <a:xfrm>
            <a:off x="1261872" y="5541264"/>
            <a:ext cx="6035040" cy="29260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400" b="0" i="0">
                <a:solidFill>
                  <a:srgbClr val="1E2B36"/>
                </a:solidFill>
                <a:latin typeface="Calibri"/>
                <a:ea typeface="Calibri"/>
                <a:cs typeface="Calibri"/>
                <a:sym typeface="Calibri"/>
              </a:rPr>
              <a:t>probes checked against lab samples at Kopargaon</a:t>
            </a:r>
            <a:endParaRPr/>
          </a:p>
        </p:txBody>
      </p:sp>
      <p:pic>
        <p:nvPicPr>
          <p:cNvPr id="399" name="Google Shape;399;p9" descr="c8e7cee9ea.png"/>
          <p:cNvPicPr preferRelativeResize="0"/>
          <p:nvPr/>
        </p:nvPicPr>
        <p:blipFill rotWithShape="1">
          <a:blip r:embed="rId3">
            <a:alphaModFix/>
          </a:blip>
          <a:srcRect/>
          <a:stretch/>
        </p:blipFill>
        <p:spPr>
          <a:xfrm>
            <a:off x="7772400" y="1645920"/>
            <a:ext cx="3931920" cy="3768708"/>
          </a:xfrm>
          <a:prstGeom prst="rect">
            <a:avLst/>
          </a:prstGeom>
          <a:noFill/>
          <a:ln>
            <a:noFill/>
          </a:ln>
        </p:spPr>
      </p:pic>
      <p:sp>
        <p:nvSpPr>
          <p:cNvPr id="400" name="Google Shape;400;p9"/>
          <p:cNvSpPr/>
          <p:nvPr/>
        </p:nvSpPr>
        <p:spPr>
          <a:xfrm>
            <a:off x="7772400" y="5559552"/>
            <a:ext cx="3931920" cy="384048"/>
          </a:xfrm>
          <a:prstGeom prst="roundRect">
            <a:avLst>
              <a:gd name="adj" fmla="val 30000"/>
            </a:avLst>
          </a:prstGeom>
          <a:solidFill>
            <a:srgbClr val="FFFFFF"/>
          </a:solidFill>
          <a:ln w="12700" cap="flat" cmpd="sng">
            <a:solidFill>
              <a:srgbClr val="DA091C"/>
            </a:solidFill>
            <a:prstDash val="solid"/>
            <a:miter lim="8000"/>
            <a:headEnd type="none" w="sm" len="sm"/>
            <a:tailEnd type="none" w="sm" len="sm"/>
          </a:ln>
        </p:spPr>
        <p:txBody>
          <a:bodyPr spcFirstLastPara="1" wrap="square" lIns="54850" tIns="18275" rIns="54850" bIns="18275" anchor="ctr" anchorCtr="0">
            <a:noAutofit/>
          </a:bodyPr>
          <a:lstStyle/>
          <a:p>
            <a:pPr marL="0" marR="0" lvl="0" indent="0" algn="ctr" rtl="0">
              <a:spcBef>
                <a:spcPts val="0"/>
              </a:spcBef>
              <a:spcAft>
                <a:spcPts val="0"/>
              </a:spcAft>
              <a:buNone/>
            </a:pPr>
            <a:r>
              <a:rPr lang="en-US" sz="1400" b="1" i="0">
                <a:solidFill>
                  <a:srgbClr val="DA091C"/>
                </a:solidFill>
                <a:latin typeface="Calibri"/>
                <a:ea typeface="Calibri"/>
                <a:cs typeface="Calibri"/>
                <a:sym typeface="Calibri"/>
              </a:rPr>
              <a:t>Not tested in water yet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5"/>
                                        </p:tgtEl>
                                        <p:attrNameLst>
                                          <p:attrName>style.visibility</p:attrName>
                                        </p:attrNameLst>
                                      </p:cBhvr>
                                      <p:to>
                                        <p:strVal val="visible"/>
                                      </p:to>
                                    </p:set>
                                    <p:animEffect transition="in" filter="fade">
                                      <p:cBhvr>
                                        <p:cTn id="7" dur="300"/>
                                        <p:tgtEl>
                                          <p:spTgt spid="375"/>
                                        </p:tgtEl>
                                      </p:cBhvr>
                                    </p:animEffect>
                                  </p:childTnLst>
                                </p:cTn>
                              </p:par>
                              <p:par>
                                <p:cTn id="8" presetID="10" presetClass="entr" presetSubtype="0" fill="hold" nodeType="withEffect">
                                  <p:stCondLst>
                                    <p:cond delay="0"/>
                                  </p:stCondLst>
                                  <p:childTnLst>
                                    <p:set>
                                      <p:cBhvr>
                                        <p:cTn id="9" dur="1" fill="hold">
                                          <p:stCondLst>
                                            <p:cond delay="0"/>
                                          </p:stCondLst>
                                        </p:cTn>
                                        <p:tgtEl>
                                          <p:spTgt spid="376"/>
                                        </p:tgtEl>
                                        <p:attrNameLst>
                                          <p:attrName>style.visibility</p:attrName>
                                        </p:attrNameLst>
                                      </p:cBhvr>
                                      <p:to>
                                        <p:strVal val="visible"/>
                                      </p:to>
                                    </p:set>
                                    <p:animEffect transition="in" filter="fade">
                                      <p:cBhvr>
                                        <p:cTn id="10" dur="300"/>
                                        <p:tgtEl>
                                          <p:spTgt spid="376"/>
                                        </p:tgtEl>
                                      </p:cBhvr>
                                    </p:animEffect>
                                  </p:childTnLst>
                                </p:cTn>
                              </p:par>
                              <p:par>
                                <p:cTn id="11" presetID="10" presetClass="entr" presetSubtype="0" fill="hold" nodeType="withEffect">
                                  <p:stCondLst>
                                    <p:cond delay="0"/>
                                  </p:stCondLst>
                                  <p:childTnLst>
                                    <p:set>
                                      <p:cBhvr>
                                        <p:cTn id="12" dur="1" fill="hold">
                                          <p:stCondLst>
                                            <p:cond delay="0"/>
                                          </p:stCondLst>
                                        </p:cTn>
                                        <p:tgtEl>
                                          <p:spTgt spid="377"/>
                                        </p:tgtEl>
                                        <p:attrNameLst>
                                          <p:attrName>style.visibility</p:attrName>
                                        </p:attrNameLst>
                                      </p:cBhvr>
                                      <p:to>
                                        <p:strVal val="visible"/>
                                      </p:to>
                                    </p:set>
                                    <p:animEffect transition="in" filter="fade">
                                      <p:cBhvr>
                                        <p:cTn id="13" dur="300"/>
                                        <p:tgtEl>
                                          <p:spTgt spid="377"/>
                                        </p:tgtEl>
                                      </p:cBhvr>
                                    </p:animEffect>
                                  </p:childTnLst>
                                </p:cTn>
                              </p:par>
                              <p:par>
                                <p:cTn id="14" presetID="10" presetClass="entr" presetSubtype="0" fill="hold" nodeType="withEffect">
                                  <p:stCondLst>
                                    <p:cond delay="0"/>
                                  </p:stCondLst>
                                  <p:childTnLst>
                                    <p:set>
                                      <p:cBhvr>
                                        <p:cTn id="15" dur="1" fill="hold">
                                          <p:stCondLst>
                                            <p:cond delay="0"/>
                                          </p:stCondLst>
                                        </p:cTn>
                                        <p:tgtEl>
                                          <p:spTgt spid="378"/>
                                        </p:tgtEl>
                                        <p:attrNameLst>
                                          <p:attrName>style.visibility</p:attrName>
                                        </p:attrNameLst>
                                      </p:cBhvr>
                                      <p:to>
                                        <p:strVal val="visible"/>
                                      </p:to>
                                    </p:set>
                                    <p:animEffect transition="in" filter="fade">
                                      <p:cBhvr>
                                        <p:cTn id="16" dur="300"/>
                                        <p:tgtEl>
                                          <p:spTgt spid="378"/>
                                        </p:tgtEl>
                                      </p:cBhvr>
                                    </p:animEffect>
                                  </p:childTnLst>
                                </p:cTn>
                              </p:par>
                            </p:childTnLst>
                          </p:cTn>
                        </p:par>
                        <p:par>
                          <p:cTn id="17" fill="hold">
                            <p:stCondLst>
                              <p:cond delay="300"/>
                            </p:stCondLst>
                            <p:childTnLst>
                              <p:par>
                                <p:cTn id="18" presetID="10" presetClass="entr" presetSubtype="0" fill="hold" nodeType="afterEffect">
                                  <p:stCondLst>
                                    <p:cond delay="0"/>
                                  </p:stCondLst>
                                  <p:childTnLst>
                                    <p:set>
                                      <p:cBhvr>
                                        <p:cTn id="19" dur="1" fill="hold">
                                          <p:stCondLst>
                                            <p:cond delay="0"/>
                                          </p:stCondLst>
                                        </p:cTn>
                                        <p:tgtEl>
                                          <p:spTgt spid="379"/>
                                        </p:tgtEl>
                                        <p:attrNameLst>
                                          <p:attrName>style.visibility</p:attrName>
                                        </p:attrNameLst>
                                      </p:cBhvr>
                                      <p:to>
                                        <p:strVal val="visible"/>
                                      </p:to>
                                    </p:set>
                                    <p:animEffect transition="in" filter="fade">
                                      <p:cBhvr>
                                        <p:cTn id="20" dur="300"/>
                                        <p:tgtEl>
                                          <p:spTgt spid="379"/>
                                        </p:tgtEl>
                                      </p:cBhvr>
                                    </p:animEffect>
                                  </p:childTnLst>
                                </p:cTn>
                              </p:par>
                              <p:par>
                                <p:cTn id="21" presetID="10" presetClass="entr" presetSubtype="0" fill="hold" nodeType="withEffect">
                                  <p:stCondLst>
                                    <p:cond delay="0"/>
                                  </p:stCondLst>
                                  <p:childTnLst>
                                    <p:set>
                                      <p:cBhvr>
                                        <p:cTn id="22" dur="1" fill="hold">
                                          <p:stCondLst>
                                            <p:cond delay="0"/>
                                          </p:stCondLst>
                                        </p:cTn>
                                        <p:tgtEl>
                                          <p:spTgt spid="380"/>
                                        </p:tgtEl>
                                        <p:attrNameLst>
                                          <p:attrName>style.visibility</p:attrName>
                                        </p:attrNameLst>
                                      </p:cBhvr>
                                      <p:to>
                                        <p:strVal val="visible"/>
                                      </p:to>
                                    </p:set>
                                    <p:animEffect transition="in" filter="fade">
                                      <p:cBhvr>
                                        <p:cTn id="23" dur="300"/>
                                        <p:tgtEl>
                                          <p:spTgt spid="380"/>
                                        </p:tgtEl>
                                      </p:cBhvr>
                                    </p:animEffect>
                                  </p:childTnLst>
                                </p:cTn>
                              </p:par>
                              <p:par>
                                <p:cTn id="24" presetID="10" presetClass="entr" presetSubtype="0" fill="hold" nodeType="withEffect">
                                  <p:stCondLst>
                                    <p:cond delay="0"/>
                                  </p:stCondLst>
                                  <p:childTnLst>
                                    <p:set>
                                      <p:cBhvr>
                                        <p:cTn id="25" dur="1" fill="hold">
                                          <p:stCondLst>
                                            <p:cond delay="0"/>
                                          </p:stCondLst>
                                        </p:cTn>
                                        <p:tgtEl>
                                          <p:spTgt spid="381"/>
                                        </p:tgtEl>
                                        <p:attrNameLst>
                                          <p:attrName>style.visibility</p:attrName>
                                        </p:attrNameLst>
                                      </p:cBhvr>
                                      <p:to>
                                        <p:strVal val="visible"/>
                                      </p:to>
                                    </p:set>
                                    <p:animEffect transition="in" filter="fade">
                                      <p:cBhvr>
                                        <p:cTn id="26" dur="300"/>
                                        <p:tgtEl>
                                          <p:spTgt spid="381"/>
                                        </p:tgtEl>
                                      </p:cBhvr>
                                    </p:animEffect>
                                  </p:childTnLst>
                                </p:cTn>
                              </p:par>
                              <p:par>
                                <p:cTn id="27" presetID="10" presetClass="entr" presetSubtype="0" fill="hold" nodeType="withEffect">
                                  <p:stCondLst>
                                    <p:cond delay="0"/>
                                  </p:stCondLst>
                                  <p:childTnLst>
                                    <p:set>
                                      <p:cBhvr>
                                        <p:cTn id="28" dur="1" fill="hold">
                                          <p:stCondLst>
                                            <p:cond delay="0"/>
                                          </p:stCondLst>
                                        </p:cTn>
                                        <p:tgtEl>
                                          <p:spTgt spid="382"/>
                                        </p:tgtEl>
                                        <p:attrNameLst>
                                          <p:attrName>style.visibility</p:attrName>
                                        </p:attrNameLst>
                                      </p:cBhvr>
                                      <p:to>
                                        <p:strVal val="visible"/>
                                      </p:to>
                                    </p:set>
                                    <p:animEffect transition="in" filter="fade">
                                      <p:cBhvr>
                                        <p:cTn id="29" dur="300"/>
                                        <p:tgtEl>
                                          <p:spTgt spid="382"/>
                                        </p:tgtEl>
                                      </p:cBhvr>
                                    </p:animEffect>
                                  </p:childTnLst>
                                </p:cTn>
                              </p:par>
                            </p:childTnLst>
                          </p:cTn>
                        </p:par>
                        <p:par>
                          <p:cTn id="30" fill="hold">
                            <p:stCondLst>
                              <p:cond delay="600"/>
                            </p:stCondLst>
                            <p:childTnLst>
                              <p:par>
                                <p:cTn id="31" presetID="10" presetClass="entr" presetSubtype="0" fill="hold" nodeType="afterEffect">
                                  <p:stCondLst>
                                    <p:cond delay="0"/>
                                  </p:stCondLst>
                                  <p:childTnLst>
                                    <p:set>
                                      <p:cBhvr>
                                        <p:cTn id="32" dur="1" fill="hold">
                                          <p:stCondLst>
                                            <p:cond delay="0"/>
                                          </p:stCondLst>
                                        </p:cTn>
                                        <p:tgtEl>
                                          <p:spTgt spid="399"/>
                                        </p:tgtEl>
                                        <p:attrNameLst>
                                          <p:attrName>style.visibility</p:attrName>
                                        </p:attrNameLst>
                                      </p:cBhvr>
                                      <p:to>
                                        <p:strVal val="visible"/>
                                      </p:to>
                                    </p:set>
                                    <p:animEffect transition="in" filter="fade">
                                      <p:cBhvr>
                                        <p:cTn id="33" dur="500"/>
                                        <p:tgtEl>
                                          <p:spTgt spid="399"/>
                                        </p:tgtEl>
                                      </p:cBhvr>
                                    </p:animEffect>
                                  </p:childTnLst>
                                </p:cTn>
                              </p:par>
                            </p:childTnLst>
                          </p:cTn>
                        </p:par>
                        <p:par>
                          <p:cTn id="34" fill="hold">
                            <p:stCondLst>
                              <p:cond delay="1100"/>
                            </p:stCondLst>
                            <p:childTnLst>
                              <p:par>
                                <p:cTn id="35" presetID="10" presetClass="entr" presetSubtype="0" fill="hold" nodeType="afterEffect">
                                  <p:stCondLst>
                                    <p:cond delay="0"/>
                                  </p:stCondLst>
                                  <p:childTnLst>
                                    <p:set>
                                      <p:cBhvr>
                                        <p:cTn id="36" dur="1" fill="hold">
                                          <p:stCondLst>
                                            <p:cond delay="0"/>
                                          </p:stCondLst>
                                        </p:cTn>
                                        <p:tgtEl>
                                          <p:spTgt spid="383"/>
                                        </p:tgtEl>
                                        <p:attrNameLst>
                                          <p:attrName>style.visibility</p:attrName>
                                        </p:attrNameLst>
                                      </p:cBhvr>
                                      <p:to>
                                        <p:strVal val="visible"/>
                                      </p:to>
                                    </p:set>
                                    <p:animEffect transition="in" filter="fade">
                                      <p:cBhvr>
                                        <p:cTn id="37" dur="300"/>
                                        <p:tgtEl>
                                          <p:spTgt spid="383"/>
                                        </p:tgtEl>
                                      </p:cBhvr>
                                    </p:animEffect>
                                  </p:childTnLst>
                                </p:cTn>
                              </p:par>
                              <p:par>
                                <p:cTn id="38" presetID="10" presetClass="entr" presetSubtype="0" fill="hold" nodeType="withEffect">
                                  <p:stCondLst>
                                    <p:cond delay="0"/>
                                  </p:stCondLst>
                                  <p:childTnLst>
                                    <p:set>
                                      <p:cBhvr>
                                        <p:cTn id="39" dur="1" fill="hold">
                                          <p:stCondLst>
                                            <p:cond delay="0"/>
                                          </p:stCondLst>
                                        </p:cTn>
                                        <p:tgtEl>
                                          <p:spTgt spid="384"/>
                                        </p:tgtEl>
                                        <p:attrNameLst>
                                          <p:attrName>style.visibility</p:attrName>
                                        </p:attrNameLst>
                                      </p:cBhvr>
                                      <p:to>
                                        <p:strVal val="visible"/>
                                      </p:to>
                                    </p:set>
                                    <p:animEffect transition="in" filter="fade">
                                      <p:cBhvr>
                                        <p:cTn id="40" dur="300"/>
                                        <p:tgtEl>
                                          <p:spTgt spid="384"/>
                                        </p:tgtEl>
                                      </p:cBhvr>
                                    </p:animEffect>
                                  </p:childTnLst>
                                </p:cTn>
                              </p:par>
                              <p:par>
                                <p:cTn id="41" presetID="10" presetClass="entr" presetSubtype="0" fill="hold" nodeType="withEffect">
                                  <p:stCondLst>
                                    <p:cond delay="0"/>
                                  </p:stCondLst>
                                  <p:childTnLst>
                                    <p:set>
                                      <p:cBhvr>
                                        <p:cTn id="42" dur="1" fill="hold">
                                          <p:stCondLst>
                                            <p:cond delay="0"/>
                                          </p:stCondLst>
                                        </p:cTn>
                                        <p:tgtEl>
                                          <p:spTgt spid="385"/>
                                        </p:tgtEl>
                                        <p:attrNameLst>
                                          <p:attrName>style.visibility</p:attrName>
                                        </p:attrNameLst>
                                      </p:cBhvr>
                                      <p:to>
                                        <p:strVal val="visible"/>
                                      </p:to>
                                    </p:set>
                                    <p:animEffect transition="in" filter="fade">
                                      <p:cBhvr>
                                        <p:cTn id="43" dur="300"/>
                                        <p:tgtEl>
                                          <p:spTgt spid="385"/>
                                        </p:tgtEl>
                                      </p:cBhvr>
                                    </p:animEffect>
                                  </p:childTnLst>
                                </p:cTn>
                              </p:par>
                              <p:par>
                                <p:cTn id="44" presetID="10" presetClass="entr" presetSubtype="0" fill="hold" nodeType="withEffect">
                                  <p:stCondLst>
                                    <p:cond delay="0"/>
                                  </p:stCondLst>
                                  <p:childTnLst>
                                    <p:set>
                                      <p:cBhvr>
                                        <p:cTn id="45" dur="1" fill="hold">
                                          <p:stCondLst>
                                            <p:cond delay="0"/>
                                          </p:stCondLst>
                                        </p:cTn>
                                        <p:tgtEl>
                                          <p:spTgt spid="386"/>
                                        </p:tgtEl>
                                        <p:attrNameLst>
                                          <p:attrName>style.visibility</p:attrName>
                                        </p:attrNameLst>
                                      </p:cBhvr>
                                      <p:to>
                                        <p:strVal val="visible"/>
                                      </p:to>
                                    </p:set>
                                    <p:animEffect transition="in" filter="fade">
                                      <p:cBhvr>
                                        <p:cTn id="46" dur="300"/>
                                        <p:tgtEl>
                                          <p:spTgt spid="386"/>
                                        </p:tgtEl>
                                      </p:cBhvr>
                                    </p:animEffect>
                                  </p:childTnLst>
                                </p:cTn>
                              </p:par>
                            </p:childTnLst>
                          </p:cTn>
                        </p:par>
                        <p:par>
                          <p:cTn id="47" fill="hold">
                            <p:stCondLst>
                              <p:cond delay="1400"/>
                            </p:stCondLst>
                            <p:childTnLst>
                              <p:par>
                                <p:cTn id="48" presetID="10" presetClass="entr" presetSubtype="0" fill="hold" nodeType="afterEffect">
                                  <p:stCondLst>
                                    <p:cond delay="0"/>
                                  </p:stCondLst>
                                  <p:childTnLst>
                                    <p:set>
                                      <p:cBhvr>
                                        <p:cTn id="49" dur="1" fill="hold">
                                          <p:stCondLst>
                                            <p:cond delay="0"/>
                                          </p:stCondLst>
                                        </p:cTn>
                                        <p:tgtEl>
                                          <p:spTgt spid="387"/>
                                        </p:tgtEl>
                                        <p:attrNameLst>
                                          <p:attrName>style.visibility</p:attrName>
                                        </p:attrNameLst>
                                      </p:cBhvr>
                                      <p:to>
                                        <p:strVal val="visible"/>
                                      </p:to>
                                    </p:set>
                                    <p:animEffect transition="in" filter="fade">
                                      <p:cBhvr>
                                        <p:cTn id="50" dur="300"/>
                                        <p:tgtEl>
                                          <p:spTgt spid="387"/>
                                        </p:tgtEl>
                                      </p:cBhvr>
                                    </p:animEffect>
                                  </p:childTnLst>
                                </p:cTn>
                              </p:par>
                              <p:par>
                                <p:cTn id="51" presetID="10" presetClass="entr" presetSubtype="0" fill="hold" nodeType="withEffect">
                                  <p:stCondLst>
                                    <p:cond delay="0"/>
                                  </p:stCondLst>
                                  <p:childTnLst>
                                    <p:set>
                                      <p:cBhvr>
                                        <p:cTn id="52" dur="1" fill="hold">
                                          <p:stCondLst>
                                            <p:cond delay="0"/>
                                          </p:stCondLst>
                                        </p:cTn>
                                        <p:tgtEl>
                                          <p:spTgt spid="388"/>
                                        </p:tgtEl>
                                        <p:attrNameLst>
                                          <p:attrName>style.visibility</p:attrName>
                                        </p:attrNameLst>
                                      </p:cBhvr>
                                      <p:to>
                                        <p:strVal val="visible"/>
                                      </p:to>
                                    </p:set>
                                    <p:animEffect transition="in" filter="fade">
                                      <p:cBhvr>
                                        <p:cTn id="53" dur="300"/>
                                        <p:tgtEl>
                                          <p:spTgt spid="388"/>
                                        </p:tgtEl>
                                      </p:cBhvr>
                                    </p:animEffect>
                                  </p:childTnLst>
                                </p:cTn>
                              </p:par>
                              <p:par>
                                <p:cTn id="54" presetID="10" presetClass="entr" presetSubtype="0" fill="hold" nodeType="withEffect">
                                  <p:stCondLst>
                                    <p:cond delay="0"/>
                                  </p:stCondLst>
                                  <p:childTnLst>
                                    <p:set>
                                      <p:cBhvr>
                                        <p:cTn id="55" dur="1" fill="hold">
                                          <p:stCondLst>
                                            <p:cond delay="0"/>
                                          </p:stCondLst>
                                        </p:cTn>
                                        <p:tgtEl>
                                          <p:spTgt spid="389"/>
                                        </p:tgtEl>
                                        <p:attrNameLst>
                                          <p:attrName>style.visibility</p:attrName>
                                        </p:attrNameLst>
                                      </p:cBhvr>
                                      <p:to>
                                        <p:strVal val="visible"/>
                                      </p:to>
                                    </p:set>
                                    <p:animEffect transition="in" filter="fade">
                                      <p:cBhvr>
                                        <p:cTn id="56" dur="300"/>
                                        <p:tgtEl>
                                          <p:spTgt spid="389"/>
                                        </p:tgtEl>
                                      </p:cBhvr>
                                    </p:animEffect>
                                  </p:childTnLst>
                                </p:cTn>
                              </p:par>
                              <p:par>
                                <p:cTn id="57" presetID="10" presetClass="entr" presetSubtype="0" fill="hold" nodeType="withEffect">
                                  <p:stCondLst>
                                    <p:cond delay="0"/>
                                  </p:stCondLst>
                                  <p:childTnLst>
                                    <p:set>
                                      <p:cBhvr>
                                        <p:cTn id="58" dur="1" fill="hold">
                                          <p:stCondLst>
                                            <p:cond delay="0"/>
                                          </p:stCondLst>
                                        </p:cTn>
                                        <p:tgtEl>
                                          <p:spTgt spid="390"/>
                                        </p:tgtEl>
                                        <p:attrNameLst>
                                          <p:attrName>style.visibility</p:attrName>
                                        </p:attrNameLst>
                                      </p:cBhvr>
                                      <p:to>
                                        <p:strVal val="visible"/>
                                      </p:to>
                                    </p:set>
                                    <p:animEffect transition="in" filter="fade">
                                      <p:cBhvr>
                                        <p:cTn id="59" dur="300"/>
                                        <p:tgtEl>
                                          <p:spTgt spid="390"/>
                                        </p:tgtEl>
                                      </p:cBhvr>
                                    </p:animEffect>
                                  </p:childTnLst>
                                </p:cTn>
                              </p:par>
                            </p:childTnLst>
                          </p:cTn>
                        </p:par>
                        <p:par>
                          <p:cTn id="60" fill="hold">
                            <p:stCondLst>
                              <p:cond delay="1700"/>
                            </p:stCondLst>
                            <p:childTnLst>
                              <p:par>
                                <p:cTn id="61" presetID="10" presetClass="entr" presetSubtype="0" fill="hold" nodeType="afterEffect">
                                  <p:stCondLst>
                                    <p:cond delay="0"/>
                                  </p:stCondLst>
                                  <p:childTnLst>
                                    <p:set>
                                      <p:cBhvr>
                                        <p:cTn id="62" dur="1" fill="hold">
                                          <p:stCondLst>
                                            <p:cond delay="0"/>
                                          </p:stCondLst>
                                        </p:cTn>
                                        <p:tgtEl>
                                          <p:spTgt spid="391"/>
                                        </p:tgtEl>
                                        <p:attrNameLst>
                                          <p:attrName>style.visibility</p:attrName>
                                        </p:attrNameLst>
                                      </p:cBhvr>
                                      <p:to>
                                        <p:strVal val="visible"/>
                                      </p:to>
                                    </p:set>
                                    <p:animEffect transition="in" filter="fade">
                                      <p:cBhvr>
                                        <p:cTn id="63" dur="300"/>
                                        <p:tgtEl>
                                          <p:spTgt spid="391"/>
                                        </p:tgtEl>
                                      </p:cBhvr>
                                    </p:animEffect>
                                  </p:childTnLst>
                                </p:cTn>
                              </p:par>
                              <p:par>
                                <p:cTn id="64" presetID="10" presetClass="entr" presetSubtype="0" fill="hold" nodeType="withEffect">
                                  <p:stCondLst>
                                    <p:cond delay="0"/>
                                  </p:stCondLst>
                                  <p:childTnLst>
                                    <p:set>
                                      <p:cBhvr>
                                        <p:cTn id="65" dur="1" fill="hold">
                                          <p:stCondLst>
                                            <p:cond delay="0"/>
                                          </p:stCondLst>
                                        </p:cTn>
                                        <p:tgtEl>
                                          <p:spTgt spid="392"/>
                                        </p:tgtEl>
                                        <p:attrNameLst>
                                          <p:attrName>style.visibility</p:attrName>
                                        </p:attrNameLst>
                                      </p:cBhvr>
                                      <p:to>
                                        <p:strVal val="visible"/>
                                      </p:to>
                                    </p:set>
                                    <p:animEffect transition="in" filter="fade">
                                      <p:cBhvr>
                                        <p:cTn id="66" dur="300"/>
                                        <p:tgtEl>
                                          <p:spTgt spid="392"/>
                                        </p:tgtEl>
                                      </p:cBhvr>
                                    </p:animEffect>
                                  </p:childTnLst>
                                </p:cTn>
                              </p:par>
                              <p:par>
                                <p:cTn id="67" presetID="10" presetClass="entr" presetSubtype="0" fill="hold" nodeType="withEffect">
                                  <p:stCondLst>
                                    <p:cond delay="0"/>
                                  </p:stCondLst>
                                  <p:childTnLst>
                                    <p:set>
                                      <p:cBhvr>
                                        <p:cTn id="68" dur="1" fill="hold">
                                          <p:stCondLst>
                                            <p:cond delay="0"/>
                                          </p:stCondLst>
                                        </p:cTn>
                                        <p:tgtEl>
                                          <p:spTgt spid="393"/>
                                        </p:tgtEl>
                                        <p:attrNameLst>
                                          <p:attrName>style.visibility</p:attrName>
                                        </p:attrNameLst>
                                      </p:cBhvr>
                                      <p:to>
                                        <p:strVal val="visible"/>
                                      </p:to>
                                    </p:set>
                                    <p:animEffect transition="in" filter="fade">
                                      <p:cBhvr>
                                        <p:cTn id="69" dur="300"/>
                                        <p:tgtEl>
                                          <p:spTgt spid="393"/>
                                        </p:tgtEl>
                                      </p:cBhvr>
                                    </p:animEffect>
                                  </p:childTnLst>
                                </p:cTn>
                              </p:par>
                              <p:par>
                                <p:cTn id="70" presetID="10" presetClass="entr" presetSubtype="0" fill="hold" nodeType="withEffect">
                                  <p:stCondLst>
                                    <p:cond delay="0"/>
                                  </p:stCondLst>
                                  <p:childTnLst>
                                    <p:set>
                                      <p:cBhvr>
                                        <p:cTn id="71" dur="1" fill="hold">
                                          <p:stCondLst>
                                            <p:cond delay="0"/>
                                          </p:stCondLst>
                                        </p:cTn>
                                        <p:tgtEl>
                                          <p:spTgt spid="394"/>
                                        </p:tgtEl>
                                        <p:attrNameLst>
                                          <p:attrName>style.visibility</p:attrName>
                                        </p:attrNameLst>
                                      </p:cBhvr>
                                      <p:to>
                                        <p:strVal val="visible"/>
                                      </p:to>
                                    </p:set>
                                    <p:animEffect transition="in" filter="fade">
                                      <p:cBhvr>
                                        <p:cTn id="72" dur="300"/>
                                        <p:tgtEl>
                                          <p:spTgt spid="394"/>
                                        </p:tgtEl>
                                      </p:cBhvr>
                                    </p:animEffect>
                                  </p:childTnLst>
                                </p:cTn>
                              </p:par>
                            </p:childTnLst>
                          </p:cTn>
                        </p:par>
                        <p:par>
                          <p:cTn id="73" fill="hold">
                            <p:stCondLst>
                              <p:cond delay="2000"/>
                            </p:stCondLst>
                            <p:childTnLst>
                              <p:par>
                                <p:cTn id="74" presetID="10" presetClass="entr" presetSubtype="0" fill="hold" nodeType="afterEffect">
                                  <p:stCondLst>
                                    <p:cond delay="0"/>
                                  </p:stCondLst>
                                  <p:childTnLst>
                                    <p:set>
                                      <p:cBhvr>
                                        <p:cTn id="75" dur="1" fill="hold">
                                          <p:stCondLst>
                                            <p:cond delay="0"/>
                                          </p:stCondLst>
                                        </p:cTn>
                                        <p:tgtEl>
                                          <p:spTgt spid="395"/>
                                        </p:tgtEl>
                                        <p:attrNameLst>
                                          <p:attrName>style.visibility</p:attrName>
                                        </p:attrNameLst>
                                      </p:cBhvr>
                                      <p:to>
                                        <p:strVal val="visible"/>
                                      </p:to>
                                    </p:set>
                                    <p:animEffect transition="in" filter="fade">
                                      <p:cBhvr>
                                        <p:cTn id="76" dur="300"/>
                                        <p:tgtEl>
                                          <p:spTgt spid="395"/>
                                        </p:tgtEl>
                                      </p:cBhvr>
                                    </p:animEffect>
                                  </p:childTnLst>
                                </p:cTn>
                              </p:par>
                              <p:par>
                                <p:cTn id="77" presetID="10" presetClass="entr" presetSubtype="0" fill="hold" nodeType="withEffect">
                                  <p:stCondLst>
                                    <p:cond delay="0"/>
                                  </p:stCondLst>
                                  <p:childTnLst>
                                    <p:set>
                                      <p:cBhvr>
                                        <p:cTn id="78" dur="1" fill="hold">
                                          <p:stCondLst>
                                            <p:cond delay="0"/>
                                          </p:stCondLst>
                                        </p:cTn>
                                        <p:tgtEl>
                                          <p:spTgt spid="396"/>
                                        </p:tgtEl>
                                        <p:attrNameLst>
                                          <p:attrName>style.visibility</p:attrName>
                                        </p:attrNameLst>
                                      </p:cBhvr>
                                      <p:to>
                                        <p:strVal val="visible"/>
                                      </p:to>
                                    </p:set>
                                    <p:animEffect transition="in" filter="fade">
                                      <p:cBhvr>
                                        <p:cTn id="79" dur="300"/>
                                        <p:tgtEl>
                                          <p:spTgt spid="396"/>
                                        </p:tgtEl>
                                      </p:cBhvr>
                                    </p:animEffect>
                                  </p:childTnLst>
                                </p:cTn>
                              </p:par>
                              <p:par>
                                <p:cTn id="80" presetID="10" presetClass="entr" presetSubtype="0" fill="hold" nodeType="withEffect">
                                  <p:stCondLst>
                                    <p:cond delay="0"/>
                                  </p:stCondLst>
                                  <p:childTnLst>
                                    <p:set>
                                      <p:cBhvr>
                                        <p:cTn id="81" dur="1" fill="hold">
                                          <p:stCondLst>
                                            <p:cond delay="0"/>
                                          </p:stCondLst>
                                        </p:cTn>
                                        <p:tgtEl>
                                          <p:spTgt spid="397"/>
                                        </p:tgtEl>
                                        <p:attrNameLst>
                                          <p:attrName>style.visibility</p:attrName>
                                        </p:attrNameLst>
                                      </p:cBhvr>
                                      <p:to>
                                        <p:strVal val="visible"/>
                                      </p:to>
                                    </p:set>
                                    <p:animEffect transition="in" filter="fade">
                                      <p:cBhvr>
                                        <p:cTn id="82" dur="300"/>
                                        <p:tgtEl>
                                          <p:spTgt spid="397"/>
                                        </p:tgtEl>
                                      </p:cBhvr>
                                    </p:animEffect>
                                  </p:childTnLst>
                                </p:cTn>
                              </p:par>
                              <p:par>
                                <p:cTn id="83" presetID="10" presetClass="entr" presetSubtype="0" fill="hold" nodeType="withEffect">
                                  <p:stCondLst>
                                    <p:cond delay="0"/>
                                  </p:stCondLst>
                                  <p:childTnLst>
                                    <p:set>
                                      <p:cBhvr>
                                        <p:cTn id="84" dur="1" fill="hold">
                                          <p:stCondLst>
                                            <p:cond delay="0"/>
                                          </p:stCondLst>
                                        </p:cTn>
                                        <p:tgtEl>
                                          <p:spTgt spid="398"/>
                                        </p:tgtEl>
                                        <p:attrNameLst>
                                          <p:attrName>style.visibility</p:attrName>
                                        </p:attrNameLst>
                                      </p:cBhvr>
                                      <p:to>
                                        <p:strVal val="visible"/>
                                      </p:to>
                                    </p:set>
                                    <p:animEffect transition="in" filter="fade">
                                      <p:cBhvr>
                                        <p:cTn id="85" dur="300"/>
                                        <p:tgtEl>
                                          <p:spTgt spid="398"/>
                                        </p:tgtEl>
                                      </p:cBhvr>
                                    </p:animEffect>
                                  </p:childTnLst>
                                </p:cTn>
                              </p:par>
                            </p:childTnLst>
                          </p:cTn>
                        </p:par>
                        <p:par>
                          <p:cTn id="86" fill="hold">
                            <p:stCondLst>
                              <p:cond delay="2300"/>
                            </p:stCondLst>
                            <p:childTnLst>
                              <p:par>
                                <p:cTn id="87" presetID="10" presetClass="entr" presetSubtype="0" fill="hold" nodeType="afterEffect">
                                  <p:stCondLst>
                                    <p:cond delay="0"/>
                                  </p:stCondLst>
                                  <p:childTnLst>
                                    <p:set>
                                      <p:cBhvr>
                                        <p:cTn id="88" dur="1" fill="hold">
                                          <p:stCondLst>
                                            <p:cond delay="0"/>
                                          </p:stCondLst>
                                        </p:cTn>
                                        <p:tgtEl>
                                          <p:spTgt spid="400"/>
                                        </p:tgtEl>
                                        <p:attrNameLst>
                                          <p:attrName>style.visibility</p:attrName>
                                        </p:attrNameLst>
                                      </p:cBhvr>
                                      <p:to>
                                        <p:strVal val="visible"/>
                                      </p:to>
                                    </p:set>
                                    <p:animEffect transition="in" filter="fade">
                                      <p:cBhvr>
                                        <p:cTn id="89" dur="300"/>
                                        <p:tgtEl>
                                          <p:spTgt spid="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10"/>
          <p:cNvSpPr txBox="1">
            <a:spLocks noGrp="1"/>
          </p:cNvSpPr>
          <p:nvPr>
            <p:ph type="title"/>
          </p:nvPr>
        </p:nvSpPr>
        <p:spPr>
          <a:xfrm>
            <a:off x="484632" y="768096"/>
            <a:ext cx="11219688" cy="768096"/>
          </a:xfrm>
          <a:prstGeom prst="rect">
            <a:avLst/>
          </a:prstGeom>
          <a:noFill/>
          <a:ln>
            <a:noFill/>
          </a:ln>
        </p:spPr>
        <p:txBody>
          <a:bodyPr spcFirstLastPara="1" wrap="square" lIns="45700" tIns="18275" rIns="45700" bIns="18275" anchor="ctr" anchorCtr="0">
            <a:noAutofit/>
          </a:bodyPr>
          <a:lstStyle/>
          <a:p>
            <a:pPr marL="0" lvl="0" indent="0" algn="l" rtl="0">
              <a:lnSpc>
                <a:spcPct val="90000"/>
              </a:lnSpc>
              <a:spcBef>
                <a:spcPts val="0"/>
              </a:spcBef>
              <a:spcAft>
                <a:spcPts val="0"/>
              </a:spcAft>
              <a:buClr>
                <a:srgbClr val="125A88"/>
              </a:buClr>
              <a:buSzPts val="3400"/>
              <a:buFont typeface="Calibri"/>
              <a:buNone/>
            </a:pPr>
            <a:r>
              <a:rPr lang="en-US" sz="3400" b="1" i="0">
                <a:solidFill>
                  <a:srgbClr val="125A88"/>
                </a:solidFill>
                <a:latin typeface="Calibri"/>
                <a:ea typeface="Calibri"/>
                <a:cs typeface="Calibri"/>
                <a:sym typeface="Calibri"/>
              </a:rPr>
              <a:t>Prior art: what already exists, and what it does well</a:t>
            </a:r>
            <a:endParaRPr/>
          </a:p>
        </p:txBody>
      </p:sp>
      <p:sp>
        <p:nvSpPr>
          <p:cNvPr id="407" name="Google Shape;407;p10">
            <a:hlinkClick r:id="rId3" action="ppaction://hlinksldjump"/>
          </p:cNvPr>
          <p:cNvSpPr/>
          <p:nvPr/>
        </p:nvSpPr>
        <p:spPr>
          <a:xfrm>
            <a:off x="9985248" y="256032"/>
            <a:ext cx="1728216" cy="329184"/>
          </a:xfrm>
          <a:prstGeom prst="roundRect">
            <a:avLst>
              <a:gd name="adj" fmla="val 30000"/>
            </a:avLst>
          </a:prstGeom>
          <a:solidFill>
            <a:srgbClr val="EAF3F8"/>
          </a:solidFill>
          <a:ln>
            <a:noFill/>
          </a:ln>
        </p:spPr>
        <p:txBody>
          <a:bodyPr spcFirstLastPara="1" wrap="square" lIns="45700" tIns="18275" rIns="45700" bIns="18275" anchor="ctr" anchorCtr="0">
            <a:noAutofit/>
          </a:bodyPr>
          <a:lstStyle/>
          <a:p>
            <a:pPr marL="0" marR="0" lvl="0" indent="0" algn="ctr" rtl="0">
              <a:spcBef>
                <a:spcPts val="0"/>
              </a:spcBef>
              <a:spcAft>
                <a:spcPts val="0"/>
              </a:spcAft>
              <a:buNone/>
            </a:pPr>
            <a:r>
              <a:rPr lang="en-US" sz="1000" b="1" i="0">
                <a:solidFill>
                  <a:srgbClr val="005686"/>
                </a:solidFill>
                <a:latin typeface="Calibri"/>
                <a:ea typeface="Calibri"/>
                <a:cs typeface="Calibri"/>
                <a:sym typeface="Calibri"/>
              </a:rPr>
              <a:t>↩  Back to questions</a:t>
            </a:r>
            <a:endParaRPr/>
          </a:p>
        </p:txBody>
      </p:sp>
      <p:sp>
        <p:nvSpPr>
          <p:cNvPr id="408" name="Google Shape;408;p10"/>
          <p:cNvSpPr/>
          <p:nvPr/>
        </p:nvSpPr>
        <p:spPr>
          <a:xfrm>
            <a:off x="484632" y="1645920"/>
            <a:ext cx="2697480" cy="3703320"/>
          </a:xfrm>
          <a:prstGeom prst="roundRect">
            <a:avLst>
              <a:gd name="adj" fmla="val 5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09" name="Google Shape;409;p10" descr="cpcb_system.jpg"/>
          <p:cNvPicPr preferRelativeResize="0"/>
          <p:nvPr/>
        </p:nvPicPr>
        <p:blipFill rotWithShape="1">
          <a:blip r:embed="rId4">
            <a:alphaModFix/>
          </a:blip>
          <a:srcRect t="11918" b="11918"/>
          <a:stretch/>
        </p:blipFill>
        <p:spPr>
          <a:xfrm>
            <a:off x="557784" y="1719072"/>
            <a:ext cx="2551176" cy="1143000"/>
          </a:xfrm>
          <a:prstGeom prst="rect">
            <a:avLst/>
          </a:prstGeom>
          <a:noFill/>
          <a:ln>
            <a:noFill/>
          </a:ln>
        </p:spPr>
      </p:pic>
      <p:sp>
        <p:nvSpPr>
          <p:cNvPr id="410" name="Google Shape;410;p10"/>
          <p:cNvSpPr txBox="1"/>
          <p:nvPr/>
        </p:nvSpPr>
        <p:spPr>
          <a:xfrm>
            <a:off x="576072" y="2907792"/>
            <a:ext cx="2514600" cy="457200"/>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1300" b="1" i="0">
                <a:solidFill>
                  <a:srgbClr val="1E2B36"/>
                </a:solidFill>
                <a:latin typeface="Calibri"/>
                <a:ea typeface="Calibri"/>
                <a:cs typeface="Calibri"/>
                <a:sym typeface="Calibri"/>
              </a:rPr>
              <a:t>CPCB real-time stations (Ganga)</a:t>
            </a:r>
            <a:endParaRPr/>
          </a:p>
          <a:p>
            <a:pPr marL="0" marR="0" lvl="0" indent="0" algn="l" rtl="0">
              <a:spcBef>
                <a:spcPts val="0"/>
              </a:spcBef>
              <a:spcAft>
                <a:spcPts val="0"/>
              </a:spcAft>
              <a:buNone/>
            </a:pPr>
            <a:r>
              <a:rPr lang="en-US" sz="1000" b="1" i="0">
                <a:solidFill>
                  <a:srgbClr val="1B7F3B"/>
                </a:solidFill>
                <a:latin typeface="Calibri"/>
                <a:ea typeface="Calibri"/>
                <a:cs typeface="Calibri"/>
                <a:sym typeface="Calibri"/>
              </a:rPr>
              <a:t>Deployed system · India</a:t>
            </a:r>
            <a:endParaRPr/>
          </a:p>
        </p:txBody>
      </p:sp>
      <p:sp>
        <p:nvSpPr>
          <p:cNvPr id="411" name="Google Shape;411;p10"/>
          <p:cNvSpPr txBox="1"/>
          <p:nvPr/>
        </p:nvSpPr>
        <p:spPr>
          <a:xfrm>
            <a:off x="576072" y="3401568"/>
            <a:ext cx="2514600" cy="1691640"/>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1000" b="1" i="0">
                <a:solidFill>
                  <a:srgbClr val="1B7F3B"/>
                </a:solidFill>
                <a:latin typeface="Calibri"/>
                <a:ea typeface="Calibri"/>
                <a:cs typeface="Calibri"/>
                <a:sym typeface="Calibri"/>
              </a:rPr>
              <a:t>Does well</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 17 parameters incl. BOD, COD, ammonia, TOC, level</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Every 15 min over GSM/GPRS to a central server</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36 stations commissioned in 2017</a:t>
            </a:r>
            <a:endParaRPr/>
          </a:p>
          <a:p>
            <a:pPr marL="0" marR="0" lvl="0" indent="0" algn="l" rtl="0">
              <a:spcBef>
                <a:spcPts val="0"/>
              </a:spcBef>
              <a:spcAft>
                <a:spcPts val="0"/>
              </a:spcAft>
              <a:buNone/>
            </a:pPr>
            <a:r>
              <a:rPr lang="en-US" sz="1000" b="1" i="0">
                <a:solidFill>
                  <a:srgbClr val="A85C00"/>
                </a:solidFill>
                <a:latin typeface="Calibri"/>
                <a:ea typeface="Calibri"/>
                <a:cs typeface="Calibri"/>
                <a:sym typeface="Calibri"/>
              </a:rPr>
              <a:t>Trade-offs</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Instruments ≈ ₹35–40 lakh per station, so few stations</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a:t>
            </a:r>
            <a:r>
              <a:rPr lang="en-US" sz="1000">
                <a:solidFill>
                  <a:srgbClr val="1E2B36"/>
                </a:solidFill>
                <a:latin typeface="Calibri"/>
                <a:ea typeface="Calibri"/>
                <a:cs typeface="Calibri"/>
                <a:sym typeface="Calibri"/>
              </a:rPr>
              <a:t> Fixed sites</a:t>
            </a:r>
            <a:r>
              <a:rPr lang="en-US" sz="1000" b="0" i="0">
                <a:solidFill>
                  <a:srgbClr val="1E2B36"/>
                </a:solidFill>
                <a:latin typeface="Calibri"/>
                <a:ea typeface="Calibri"/>
                <a:cs typeface="Calibri"/>
                <a:sym typeface="Calibri"/>
              </a:rPr>
              <a:t> physical sampling n.p.v.</a:t>
            </a:r>
            <a:endParaRPr sz="1000" b="0" i="0">
              <a:solidFill>
                <a:srgbClr val="1E2B36"/>
              </a:solidFill>
              <a:latin typeface="Calibri"/>
              <a:ea typeface="Calibri"/>
              <a:cs typeface="Calibri"/>
              <a:sym typeface="Calibri"/>
            </a:endParaRPr>
          </a:p>
        </p:txBody>
      </p:sp>
      <p:sp>
        <p:nvSpPr>
          <p:cNvPr id="412" name="Google Shape;412;p10"/>
          <p:cNvSpPr txBox="1"/>
          <p:nvPr/>
        </p:nvSpPr>
        <p:spPr>
          <a:xfrm>
            <a:off x="576072" y="5074920"/>
            <a:ext cx="2514600" cy="256032"/>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900" b="0" i="0">
                <a:solidFill>
                  <a:srgbClr val="5B6B78"/>
                </a:solidFill>
                <a:latin typeface="Calibri"/>
                <a:ea typeface="Calibri"/>
                <a:cs typeface="Calibri"/>
                <a:sym typeface="Calibri"/>
              </a:rPr>
              <a:t>Source: </a:t>
            </a:r>
            <a:r>
              <a:rPr lang="en-US" sz="900" b="0" i="0" u="sng">
                <a:solidFill>
                  <a:srgbClr val="005686"/>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CPCB</a:t>
            </a:r>
            <a:r>
              <a:rPr lang="en-US" sz="900" b="0" i="0">
                <a:solidFill>
                  <a:srgbClr val="1E2B36"/>
                </a:solidFill>
                <a:latin typeface="Calibri"/>
                <a:ea typeface="Calibri"/>
                <a:cs typeface="Calibri"/>
                <a:sym typeface="Calibri"/>
              </a:rPr>
              <a:t>  </a:t>
            </a:r>
            <a:r>
              <a:rPr lang="en-US" sz="900" b="0" i="0" u="sng">
                <a:solidFill>
                  <a:srgbClr val="005686"/>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CSE</a:t>
            </a:r>
            <a:r>
              <a:rPr lang="en-US" sz="900" b="0" i="0">
                <a:solidFill>
                  <a:srgbClr val="1E2B36"/>
                </a:solidFill>
                <a:latin typeface="Calibri"/>
                <a:ea typeface="Calibri"/>
                <a:cs typeface="Calibri"/>
                <a:sym typeface="Calibri"/>
              </a:rPr>
              <a:t>  </a:t>
            </a:r>
            <a:endParaRPr/>
          </a:p>
        </p:txBody>
      </p:sp>
      <p:sp>
        <p:nvSpPr>
          <p:cNvPr id="413" name="Google Shape;413;p10"/>
          <p:cNvSpPr/>
          <p:nvPr/>
        </p:nvSpPr>
        <p:spPr>
          <a:xfrm>
            <a:off x="3328415" y="1645920"/>
            <a:ext cx="2697480" cy="3703320"/>
          </a:xfrm>
          <a:prstGeom prst="roundRect">
            <a:avLst>
              <a:gd name="adj" fmla="val 5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14" name="Google Shape;414;p10" descr="ysi_exo2.jpg"/>
          <p:cNvPicPr preferRelativeResize="0"/>
          <p:nvPr/>
        </p:nvPicPr>
        <p:blipFill rotWithShape="1">
          <a:blip r:embed="rId7">
            <a:alphaModFix/>
          </a:blip>
          <a:srcRect t="27599" b="27599"/>
          <a:stretch/>
        </p:blipFill>
        <p:spPr>
          <a:xfrm>
            <a:off x="3401568" y="1719072"/>
            <a:ext cx="2551176" cy="1143000"/>
          </a:xfrm>
          <a:prstGeom prst="rect">
            <a:avLst/>
          </a:prstGeom>
          <a:noFill/>
          <a:ln>
            <a:noFill/>
          </a:ln>
        </p:spPr>
      </p:pic>
      <p:sp>
        <p:nvSpPr>
          <p:cNvPr id="415" name="Google Shape;415;p10"/>
          <p:cNvSpPr txBox="1"/>
          <p:nvPr/>
        </p:nvSpPr>
        <p:spPr>
          <a:xfrm>
            <a:off x="3419856" y="2907792"/>
            <a:ext cx="2514600" cy="457200"/>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1300" b="1" i="0">
                <a:solidFill>
                  <a:srgbClr val="1E2B36"/>
                </a:solidFill>
                <a:latin typeface="Calibri"/>
                <a:ea typeface="Calibri"/>
                <a:cs typeface="Calibri"/>
                <a:sym typeface="Calibri"/>
              </a:rPr>
              <a:t>YSI EXO2 sonde (Xylem)</a:t>
            </a:r>
            <a:endParaRPr/>
          </a:p>
          <a:p>
            <a:pPr marL="0" marR="0" lvl="0" indent="0" algn="l" rtl="0">
              <a:spcBef>
                <a:spcPts val="0"/>
              </a:spcBef>
              <a:spcAft>
                <a:spcPts val="0"/>
              </a:spcAft>
              <a:buNone/>
            </a:pPr>
            <a:r>
              <a:rPr lang="en-US" sz="1000" b="1" i="0">
                <a:solidFill>
                  <a:srgbClr val="005686"/>
                </a:solidFill>
                <a:latin typeface="Calibri"/>
                <a:ea typeface="Calibri"/>
                <a:cs typeface="Calibri"/>
                <a:sym typeface="Calibri"/>
              </a:rPr>
              <a:t>Commercial product</a:t>
            </a:r>
            <a:endParaRPr/>
          </a:p>
        </p:txBody>
      </p:sp>
      <p:sp>
        <p:nvSpPr>
          <p:cNvPr id="416" name="Google Shape;416;p10"/>
          <p:cNvSpPr txBox="1"/>
          <p:nvPr/>
        </p:nvSpPr>
        <p:spPr>
          <a:xfrm>
            <a:off x="3419856" y="3401568"/>
            <a:ext cx="2514600" cy="1691640"/>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1000" b="1" i="0">
                <a:solidFill>
                  <a:srgbClr val="1B7F3B"/>
                </a:solidFill>
                <a:latin typeface="Calibri"/>
                <a:ea typeface="Calibri"/>
                <a:cs typeface="Calibri"/>
                <a:sym typeface="Calibri"/>
              </a:rPr>
              <a:t>Does well</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7 ports: up to 6 sensors + anti-fouling wiper</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RS-485, SDI-12, Modbus output</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 90 days on 4 D-cells at 15-min logging</a:t>
            </a:r>
            <a:endParaRPr/>
          </a:p>
          <a:p>
            <a:pPr marL="0" marR="0" lvl="0" indent="0" algn="l" rtl="0">
              <a:spcBef>
                <a:spcPts val="0"/>
              </a:spcBef>
              <a:spcAft>
                <a:spcPts val="0"/>
              </a:spcAft>
              <a:buNone/>
            </a:pPr>
            <a:r>
              <a:rPr lang="en-US" sz="1000" b="1" i="0">
                <a:solidFill>
                  <a:srgbClr val="A85C00"/>
                </a:solidFill>
                <a:latin typeface="Calibri"/>
                <a:ea typeface="Calibri"/>
                <a:cs typeface="Calibri"/>
                <a:sym typeface="Calibri"/>
              </a:rPr>
              <a:t>Trade-offs</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An instrument: needs a mount, logger and telemetry for live alerts</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Price on request</a:t>
            </a:r>
            <a:endParaRPr/>
          </a:p>
        </p:txBody>
      </p:sp>
      <p:sp>
        <p:nvSpPr>
          <p:cNvPr id="417" name="Google Shape;417;p10"/>
          <p:cNvSpPr txBox="1"/>
          <p:nvPr/>
        </p:nvSpPr>
        <p:spPr>
          <a:xfrm>
            <a:off x="3419856" y="5074920"/>
            <a:ext cx="2514600" cy="256032"/>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900" b="0" i="0">
                <a:solidFill>
                  <a:srgbClr val="5B6B78"/>
                </a:solidFill>
                <a:latin typeface="Calibri"/>
                <a:ea typeface="Calibri"/>
                <a:cs typeface="Calibri"/>
                <a:sym typeface="Calibri"/>
              </a:rPr>
              <a:t>Source: </a:t>
            </a:r>
            <a:r>
              <a:rPr lang="en-US" sz="900" b="0" i="0" u="sng">
                <a:solidFill>
                  <a:srgbClr val="005686"/>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YSI</a:t>
            </a:r>
            <a:r>
              <a:rPr lang="en-US" sz="900" b="0" i="0">
                <a:solidFill>
                  <a:srgbClr val="1E2B36"/>
                </a:solidFill>
                <a:latin typeface="Calibri"/>
                <a:ea typeface="Calibri"/>
                <a:cs typeface="Calibri"/>
                <a:sym typeface="Calibri"/>
              </a:rPr>
              <a:t>  </a:t>
            </a:r>
            <a:endParaRPr/>
          </a:p>
        </p:txBody>
      </p:sp>
      <p:sp>
        <p:nvSpPr>
          <p:cNvPr id="418" name="Google Shape;418;p10"/>
          <p:cNvSpPr/>
          <p:nvPr/>
        </p:nvSpPr>
        <p:spPr>
          <a:xfrm>
            <a:off x="6172200" y="1645920"/>
            <a:ext cx="2697480" cy="3703320"/>
          </a:xfrm>
          <a:prstGeom prst="roundRect">
            <a:avLst>
              <a:gd name="adj" fmla="val 5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19" name="Google Shape;419;p10" descr="nexsens_cb450.jpg"/>
          <p:cNvPicPr preferRelativeResize="0"/>
          <p:nvPr/>
        </p:nvPicPr>
        <p:blipFill rotWithShape="1">
          <a:blip r:embed="rId9">
            <a:alphaModFix/>
          </a:blip>
          <a:srcRect t="27599" b="27599"/>
          <a:stretch/>
        </p:blipFill>
        <p:spPr>
          <a:xfrm>
            <a:off x="6245352" y="1719072"/>
            <a:ext cx="2551176" cy="1143000"/>
          </a:xfrm>
          <a:prstGeom prst="rect">
            <a:avLst/>
          </a:prstGeom>
          <a:noFill/>
          <a:ln>
            <a:noFill/>
          </a:ln>
        </p:spPr>
      </p:pic>
      <p:sp>
        <p:nvSpPr>
          <p:cNvPr id="420" name="Google Shape;420;p10"/>
          <p:cNvSpPr txBox="1"/>
          <p:nvPr/>
        </p:nvSpPr>
        <p:spPr>
          <a:xfrm>
            <a:off x="6263640" y="2907792"/>
            <a:ext cx="2514600" cy="457200"/>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1300" b="1" i="0">
                <a:solidFill>
                  <a:srgbClr val="1E2B36"/>
                </a:solidFill>
                <a:latin typeface="Calibri"/>
                <a:ea typeface="Calibri"/>
                <a:cs typeface="Calibri"/>
                <a:sym typeface="Calibri"/>
              </a:rPr>
              <a:t>NexSens CB-450 data buoy</a:t>
            </a:r>
            <a:endParaRPr/>
          </a:p>
          <a:p>
            <a:pPr marL="0" marR="0" lvl="0" indent="0" algn="l" rtl="0">
              <a:spcBef>
                <a:spcPts val="0"/>
              </a:spcBef>
              <a:spcAft>
                <a:spcPts val="0"/>
              </a:spcAft>
              <a:buNone/>
            </a:pPr>
            <a:r>
              <a:rPr lang="en-US" sz="1000" b="1" i="0">
                <a:solidFill>
                  <a:srgbClr val="005686"/>
                </a:solidFill>
                <a:latin typeface="Calibri"/>
                <a:ea typeface="Calibri"/>
                <a:cs typeface="Calibri"/>
                <a:sym typeface="Calibri"/>
              </a:rPr>
              <a:t>Commercial product</a:t>
            </a:r>
            <a:endParaRPr/>
          </a:p>
        </p:txBody>
      </p:sp>
      <p:sp>
        <p:nvSpPr>
          <p:cNvPr id="421" name="Google Shape;421;p10"/>
          <p:cNvSpPr txBox="1"/>
          <p:nvPr/>
        </p:nvSpPr>
        <p:spPr>
          <a:xfrm>
            <a:off x="6263640" y="3401568"/>
            <a:ext cx="2514600" cy="1691640"/>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1000" b="1" i="0">
                <a:solidFill>
                  <a:srgbClr val="1B7F3B"/>
                </a:solidFill>
                <a:latin typeface="Calibri"/>
                <a:ea typeface="Calibri"/>
                <a:cs typeface="Calibri"/>
                <a:sym typeface="Calibri"/>
              </a:rPr>
              <a:t>Does well</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Carries sondes and sensors, 3 × 15 W solar</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LTE or Iridium with the X3 logger; web data</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86 cm foam hull, 56 kg</a:t>
            </a:r>
            <a:endParaRPr/>
          </a:p>
          <a:p>
            <a:pPr marL="0" marR="0" lvl="0" indent="0" algn="l" rtl="0">
              <a:spcBef>
                <a:spcPts val="0"/>
              </a:spcBef>
              <a:spcAft>
                <a:spcPts val="0"/>
              </a:spcAft>
              <a:buNone/>
            </a:pPr>
            <a:r>
              <a:rPr lang="en-US" sz="1000" b="1" i="0">
                <a:solidFill>
                  <a:srgbClr val="A85C00"/>
                </a:solidFill>
                <a:latin typeface="Calibri"/>
                <a:ea typeface="Calibri"/>
                <a:cs typeface="Calibri"/>
                <a:sym typeface="Calibri"/>
              </a:rPr>
              <a:t>Trade-offs</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Moored by anchors (3 eye-nuts), not on a guide</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Beacon and sampler not in the listed product; price not listed</a:t>
            </a:r>
            <a:endParaRPr/>
          </a:p>
        </p:txBody>
      </p:sp>
      <p:sp>
        <p:nvSpPr>
          <p:cNvPr id="422" name="Google Shape;422;p10"/>
          <p:cNvSpPr txBox="1"/>
          <p:nvPr/>
        </p:nvSpPr>
        <p:spPr>
          <a:xfrm>
            <a:off x="6263640" y="5074920"/>
            <a:ext cx="2514600" cy="256032"/>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900" b="0" i="0">
                <a:solidFill>
                  <a:srgbClr val="5B6B78"/>
                </a:solidFill>
                <a:latin typeface="Calibri"/>
                <a:ea typeface="Calibri"/>
                <a:cs typeface="Calibri"/>
                <a:sym typeface="Calibri"/>
              </a:rPr>
              <a:t>Source: </a:t>
            </a:r>
            <a:r>
              <a:rPr lang="en-US" sz="900" b="0" i="0" u="sng">
                <a:solidFill>
                  <a:srgbClr val="005686"/>
                </a:solidFill>
                <a:latin typeface="Calibri"/>
                <a:ea typeface="Calibri"/>
                <a:cs typeface="Calibri"/>
                <a:sym typeface="Calibri"/>
                <a:hlinkClick r:id="rId10">
                  <a:extLst>
                    <a:ext uri="{A12FA001-AC4F-418D-AE19-62706E023703}">
                      <ahyp:hlinkClr xmlns:ahyp="http://schemas.microsoft.com/office/drawing/2018/hyperlinkcolor" val="tx"/>
                    </a:ext>
                  </a:extLst>
                </a:hlinkClick>
              </a:rPr>
              <a:t>NexSens</a:t>
            </a:r>
            <a:r>
              <a:rPr lang="en-US" sz="900" b="0" i="0">
                <a:solidFill>
                  <a:srgbClr val="1E2B36"/>
                </a:solidFill>
                <a:latin typeface="Calibri"/>
                <a:ea typeface="Calibri"/>
                <a:cs typeface="Calibri"/>
                <a:sym typeface="Calibri"/>
              </a:rPr>
              <a:t>  </a:t>
            </a:r>
            <a:endParaRPr/>
          </a:p>
        </p:txBody>
      </p:sp>
      <p:sp>
        <p:nvSpPr>
          <p:cNvPr id="423" name="Google Shape;423;p10"/>
          <p:cNvSpPr/>
          <p:nvPr/>
        </p:nvSpPr>
        <p:spPr>
          <a:xfrm>
            <a:off x="9015984" y="1645920"/>
            <a:ext cx="2697480" cy="3703320"/>
          </a:xfrm>
          <a:prstGeom prst="roundRect">
            <a:avLst>
              <a:gd name="adj" fmla="val 5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24" name="Google Shape;424;p10" descr="isco_6712.jpg"/>
          <p:cNvPicPr preferRelativeResize="0"/>
          <p:nvPr/>
        </p:nvPicPr>
        <p:blipFill rotWithShape="1">
          <a:blip r:embed="rId11">
            <a:alphaModFix/>
          </a:blip>
          <a:srcRect t="15756" b="15756"/>
          <a:stretch/>
        </p:blipFill>
        <p:spPr>
          <a:xfrm>
            <a:off x="9089136" y="1719072"/>
            <a:ext cx="2551176" cy="1143000"/>
          </a:xfrm>
          <a:prstGeom prst="rect">
            <a:avLst/>
          </a:prstGeom>
          <a:noFill/>
          <a:ln>
            <a:noFill/>
          </a:ln>
        </p:spPr>
      </p:pic>
      <p:sp>
        <p:nvSpPr>
          <p:cNvPr id="425" name="Google Shape;425;p10"/>
          <p:cNvSpPr txBox="1"/>
          <p:nvPr/>
        </p:nvSpPr>
        <p:spPr>
          <a:xfrm>
            <a:off x="9107424" y="2907792"/>
            <a:ext cx="2514600" cy="457200"/>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1300" b="1" i="0">
                <a:solidFill>
                  <a:srgbClr val="1E2B36"/>
                </a:solidFill>
                <a:latin typeface="Calibri"/>
                <a:ea typeface="Calibri"/>
                <a:cs typeface="Calibri"/>
                <a:sym typeface="Calibri"/>
              </a:rPr>
              <a:t>Teledyne ISCO 6712 sampler</a:t>
            </a:r>
            <a:endParaRPr/>
          </a:p>
          <a:p>
            <a:pPr marL="0" marR="0" lvl="0" indent="0" algn="l" rtl="0">
              <a:spcBef>
                <a:spcPts val="0"/>
              </a:spcBef>
              <a:spcAft>
                <a:spcPts val="0"/>
              </a:spcAft>
              <a:buNone/>
            </a:pPr>
            <a:r>
              <a:rPr lang="en-US" sz="1000" b="1" i="0">
                <a:solidFill>
                  <a:srgbClr val="005686"/>
                </a:solidFill>
                <a:latin typeface="Calibri"/>
                <a:ea typeface="Calibri"/>
                <a:cs typeface="Calibri"/>
                <a:sym typeface="Calibri"/>
              </a:rPr>
              <a:t>Commercial product</a:t>
            </a:r>
            <a:endParaRPr/>
          </a:p>
        </p:txBody>
      </p:sp>
      <p:sp>
        <p:nvSpPr>
          <p:cNvPr id="426" name="Google Shape;426;p10"/>
          <p:cNvSpPr txBox="1"/>
          <p:nvPr/>
        </p:nvSpPr>
        <p:spPr>
          <a:xfrm>
            <a:off x="9107424" y="3401568"/>
            <a:ext cx="2514600" cy="1691640"/>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1000" b="1" i="0">
                <a:solidFill>
                  <a:srgbClr val="1B7F3B"/>
                </a:solidFill>
                <a:latin typeface="Calibri"/>
                <a:ea typeface="Calibri"/>
                <a:cs typeface="Calibri"/>
                <a:sym typeface="Calibri"/>
              </a:rPr>
              <a:t>Does well</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From 24 × 1 L bottles to one 5.5 gal container</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Time, flow or event sampling; triggers on up to 16 inputs incl. SDI-12 sondes</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Optional modem dial-out alarms</a:t>
            </a:r>
            <a:endParaRPr/>
          </a:p>
          <a:p>
            <a:pPr marL="0" marR="0" lvl="0" indent="0" algn="l" rtl="0">
              <a:spcBef>
                <a:spcPts val="0"/>
              </a:spcBef>
              <a:spcAft>
                <a:spcPts val="0"/>
              </a:spcAft>
              <a:buNone/>
            </a:pPr>
            <a:r>
              <a:rPr lang="en-US" sz="1000" b="1" i="0">
                <a:solidFill>
                  <a:srgbClr val="A85C00"/>
                </a:solidFill>
                <a:latin typeface="Calibri"/>
                <a:ea typeface="Calibri"/>
                <a:cs typeface="Calibri"/>
                <a:sym typeface="Calibri"/>
              </a:rPr>
              <a:t>Trade-offs</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Bank or manhole unit with an intake hose</a:t>
            </a:r>
            <a:endParaRPr/>
          </a:p>
          <a:p>
            <a:pPr marL="0" marR="0" lvl="0" indent="0" algn="l" rtl="0">
              <a:spcBef>
                <a:spcPts val="0"/>
              </a:spcBef>
              <a:spcAft>
                <a:spcPts val="0"/>
              </a:spcAft>
              <a:buNone/>
            </a:pPr>
            <a:r>
              <a:rPr lang="en-US" sz="1000" b="0" i="0">
                <a:solidFill>
                  <a:srgbClr val="1E2B36"/>
                </a:solidFill>
                <a:latin typeface="Calibri"/>
                <a:ea typeface="Calibri"/>
                <a:cs typeface="Calibri"/>
                <a:sym typeface="Calibri"/>
              </a:rPr>
              <a:t>• Collects samples; no continuous readings itself</a:t>
            </a:r>
            <a:endParaRPr/>
          </a:p>
        </p:txBody>
      </p:sp>
      <p:sp>
        <p:nvSpPr>
          <p:cNvPr id="427" name="Google Shape;427;p10"/>
          <p:cNvSpPr txBox="1"/>
          <p:nvPr/>
        </p:nvSpPr>
        <p:spPr>
          <a:xfrm>
            <a:off x="9107424" y="5074920"/>
            <a:ext cx="2514600" cy="256032"/>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900" b="0" i="0">
                <a:solidFill>
                  <a:srgbClr val="5B6B78"/>
                </a:solidFill>
                <a:latin typeface="Calibri"/>
                <a:ea typeface="Calibri"/>
                <a:cs typeface="Calibri"/>
                <a:sym typeface="Calibri"/>
              </a:rPr>
              <a:t>Source: </a:t>
            </a:r>
            <a:r>
              <a:rPr lang="en-US" sz="900" b="0" i="0" u="sng">
                <a:solidFill>
                  <a:srgbClr val="005686"/>
                </a:solidFill>
                <a:latin typeface="Calibri"/>
                <a:ea typeface="Calibri"/>
                <a:cs typeface="Calibri"/>
                <a:sym typeface="Calibri"/>
                <a:hlinkClick r:id="rId12">
                  <a:extLst>
                    <a:ext uri="{A12FA001-AC4F-418D-AE19-62706E023703}">
                      <ahyp:hlinkClr xmlns:ahyp="http://schemas.microsoft.com/office/drawing/2018/hyperlinkcolor" val="tx"/>
                    </a:ext>
                  </a:extLst>
                </a:hlinkClick>
              </a:rPr>
              <a:t>RS Hydro / Teledyne ISCO</a:t>
            </a:r>
            <a:r>
              <a:rPr lang="en-US" sz="900" b="0" i="0">
                <a:solidFill>
                  <a:srgbClr val="1E2B36"/>
                </a:solidFill>
                <a:latin typeface="Calibri"/>
                <a:ea typeface="Calibri"/>
                <a:cs typeface="Calibri"/>
                <a:sym typeface="Calibri"/>
              </a:rPr>
              <a:t>  </a:t>
            </a:r>
            <a:endParaRPr/>
          </a:p>
        </p:txBody>
      </p:sp>
      <p:sp>
        <p:nvSpPr>
          <p:cNvPr id="428" name="Google Shape;428;p10"/>
          <p:cNvSpPr/>
          <p:nvPr/>
        </p:nvSpPr>
        <p:spPr>
          <a:xfrm>
            <a:off x="484632" y="5440680"/>
            <a:ext cx="11219688" cy="384048"/>
          </a:xfrm>
          <a:prstGeom prst="roundRect">
            <a:avLst>
              <a:gd name="adj" fmla="val 5000"/>
            </a:avLst>
          </a:prstGeom>
          <a:solidFill>
            <a:srgbClr val="FFFFFF"/>
          </a:solidFill>
          <a:ln w="9525" cap="flat" cmpd="sng">
            <a:solidFill>
              <a:srgbClr val="C9DBE7"/>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9" name="Google Shape;429;p10"/>
          <p:cNvSpPr txBox="1"/>
          <p:nvPr/>
        </p:nvSpPr>
        <p:spPr>
          <a:xfrm>
            <a:off x="594360" y="5458968"/>
            <a:ext cx="11018520" cy="365760"/>
          </a:xfrm>
          <a:prstGeom prst="rect">
            <a:avLst/>
          </a:prstGeom>
          <a:noFill/>
          <a:ln>
            <a:noFill/>
          </a:ln>
        </p:spPr>
        <p:txBody>
          <a:bodyPr spcFirstLastPara="1" wrap="square" lIns="45700" tIns="18275" rIns="45700" bIns="18275" anchor="ctr" anchorCtr="0">
            <a:noAutofit/>
          </a:bodyPr>
          <a:lstStyle/>
          <a:p>
            <a:pPr marL="0" marR="0" lvl="0" indent="0" algn="l" rtl="0">
              <a:spcBef>
                <a:spcPts val="0"/>
              </a:spcBef>
              <a:spcAft>
                <a:spcPts val="0"/>
              </a:spcAft>
              <a:buNone/>
            </a:pPr>
            <a:r>
              <a:rPr lang="en-US" sz="1000" b="1" i="0">
                <a:solidFill>
                  <a:srgbClr val="1E2B36"/>
                </a:solidFill>
                <a:latin typeface="Calibri"/>
                <a:ea typeface="Calibri"/>
                <a:cs typeface="Calibri"/>
                <a:sym typeface="Calibri"/>
              </a:rPr>
              <a:t>Patents (preliminary, English-language search): </a:t>
            </a:r>
            <a:r>
              <a:rPr lang="en-US" sz="1000" b="0" i="0">
                <a:solidFill>
                  <a:srgbClr val="1E2B36"/>
                </a:solidFill>
                <a:latin typeface="Calibri"/>
                <a:ea typeface="Calibri"/>
                <a:cs typeface="Calibri"/>
                <a:sym typeface="Calibri"/>
              </a:rPr>
              <a:t>related documents exist, e.g. </a:t>
            </a:r>
            <a:r>
              <a:rPr lang="en-US" sz="1000" b="0" i="0" u="sng">
                <a:solidFill>
                  <a:srgbClr val="005686"/>
                </a:solidFill>
                <a:latin typeface="Calibri"/>
                <a:ea typeface="Calibri"/>
                <a:cs typeface="Calibri"/>
                <a:sym typeface="Calibri"/>
                <a:hlinkClick r:id="rId13">
                  <a:extLst>
                    <a:ext uri="{A12FA001-AC4F-418D-AE19-62706E023703}">
                      <ahyp:hlinkClr xmlns:ahyp="http://schemas.microsoft.com/office/drawing/2018/hyperlinkcolor" val="tx"/>
                    </a:ext>
                  </a:extLst>
                </a:hlinkClick>
              </a:rPr>
              <a:t>CN117446093B</a:t>
            </a:r>
            <a:r>
              <a:rPr lang="en-US" sz="1000" b="0" i="0">
                <a:solidFill>
                  <a:srgbClr val="1E2B36"/>
                </a:solidFill>
                <a:latin typeface="Calibri"/>
                <a:ea typeface="Calibri"/>
                <a:cs typeface="Calibri"/>
                <a:sym typeface="Calibri"/>
              </a:rPr>
              <a:t> (floating detection units held by fixed rods) and </a:t>
            </a:r>
            <a:r>
              <a:rPr lang="en-US" sz="1000" b="0" i="0" u="sng">
                <a:solidFill>
                  <a:srgbClr val="005686"/>
                </a:solidFill>
                <a:latin typeface="Calibri"/>
                <a:ea typeface="Calibri"/>
                <a:cs typeface="Calibri"/>
                <a:sym typeface="Calibri"/>
                <a:hlinkClick r:id="rId14">
                  <a:extLst>
                    <a:ext uri="{A12FA001-AC4F-418D-AE19-62706E023703}">
                      <ahyp:hlinkClr xmlns:ahyp="http://schemas.microsoft.com/office/drawing/2018/hyperlinkcolor" val="tx"/>
                    </a:ext>
                  </a:extLst>
                </a:hlinkClick>
              </a:rPr>
              <a:t>US8352213</a:t>
            </a:r>
            <a:r>
              <a:rPr lang="en-US" sz="1000" b="0" i="0">
                <a:solidFill>
                  <a:srgbClr val="1E2B36"/>
                </a:solidFill>
                <a:latin typeface="Calibri"/>
                <a:ea typeface="Calibri"/>
                <a:cs typeface="Calibri"/>
                <a:sym typeface="Calibri"/>
              </a:rPr>
              <a:t> (pier-mounted rod sliding vertically, for riverbed level). No exact match found. Not a novelty or freedom-to-operate opinion.</a:t>
            </a:r>
            <a:endParaRPr/>
          </a:p>
        </p:txBody>
      </p:sp>
      <p:sp>
        <p:nvSpPr>
          <p:cNvPr id="430" name="Google Shape;430;p10"/>
          <p:cNvSpPr txBox="1"/>
          <p:nvPr/>
        </p:nvSpPr>
        <p:spPr>
          <a:xfrm>
            <a:off x="484632" y="5870448"/>
            <a:ext cx="11219688" cy="237744"/>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900" b="0" i="0">
                <a:solidFill>
                  <a:srgbClr val="5B6B78"/>
                </a:solidFill>
                <a:latin typeface="Calibri"/>
                <a:ea typeface="Calibri"/>
                <a:cs typeface="Calibri"/>
                <a:sym typeface="Calibri"/>
              </a:rPr>
              <a:t>Product facts from manufacturer or distributor pages, looked up 24 Oct 2026. n.p.v. = not publicly verified. Images: CPCB via CSE, YSI, NexSens, RS Hydro.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11"/>
          <p:cNvSpPr txBox="1">
            <a:spLocks noGrp="1"/>
          </p:cNvSpPr>
          <p:nvPr>
            <p:ph type="title"/>
          </p:nvPr>
        </p:nvSpPr>
        <p:spPr>
          <a:xfrm>
            <a:off x="484632" y="768096"/>
            <a:ext cx="11219688" cy="768096"/>
          </a:xfrm>
          <a:prstGeom prst="rect">
            <a:avLst/>
          </a:prstGeom>
          <a:noFill/>
          <a:ln>
            <a:noFill/>
          </a:ln>
        </p:spPr>
        <p:txBody>
          <a:bodyPr spcFirstLastPara="1" wrap="square" lIns="45700" tIns="18275" rIns="45700" bIns="18275" anchor="ctr" anchorCtr="0">
            <a:noAutofit/>
          </a:bodyPr>
          <a:lstStyle/>
          <a:p>
            <a:pPr marL="0" lvl="0" indent="0" algn="l" rtl="0">
              <a:lnSpc>
                <a:spcPct val="90000"/>
              </a:lnSpc>
              <a:spcBef>
                <a:spcPts val="0"/>
              </a:spcBef>
              <a:spcAft>
                <a:spcPts val="0"/>
              </a:spcAft>
              <a:buClr>
                <a:srgbClr val="125A88"/>
              </a:buClr>
              <a:buSzPts val="3400"/>
              <a:buFont typeface="Calibri"/>
              <a:buNone/>
            </a:pPr>
            <a:r>
              <a:rPr lang="en-US" sz="3400" b="1" i="0">
                <a:solidFill>
                  <a:srgbClr val="125A88"/>
                </a:solidFill>
                <a:latin typeface="Calibri"/>
                <a:ea typeface="Calibri"/>
                <a:cs typeface="Calibri"/>
                <a:sym typeface="Calibri"/>
              </a:rPr>
              <a:t>Existing solutions vs AquaSentinel (design)</a:t>
            </a:r>
            <a:endParaRPr/>
          </a:p>
        </p:txBody>
      </p:sp>
      <p:sp>
        <p:nvSpPr>
          <p:cNvPr id="437" name="Google Shape;437;p11">
            <a:hlinkClick r:id="rId3" action="ppaction://hlinksldjump"/>
          </p:cNvPr>
          <p:cNvSpPr/>
          <p:nvPr/>
        </p:nvSpPr>
        <p:spPr>
          <a:xfrm>
            <a:off x="9985248" y="256032"/>
            <a:ext cx="1728216" cy="329184"/>
          </a:xfrm>
          <a:prstGeom prst="roundRect">
            <a:avLst>
              <a:gd name="adj" fmla="val 30000"/>
            </a:avLst>
          </a:prstGeom>
          <a:solidFill>
            <a:srgbClr val="EAF3F8"/>
          </a:solidFill>
          <a:ln>
            <a:noFill/>
          </a:ln>
        </p:spPr>
        <p:txBody>
          <a:bodyPr spcFirstLastPara="1" wrap="square" lIns="45700" tIns="18275" rIns="45700" bIns="18275" anchor="ctr" anchorCtr="0">
            <a:noAutofit/>
          </a:bodyPr>
          <a:lstStyle/>
          <a:p>
            <a:pPr marL="0" marR="0" lvl="0" indent="0" algn="ctr" rtl="0">
              <a:spcBef>
                <a:spcPts val="0"/>
              </a:spcBef>
              <a:spcAft>
                <a:spcPts val="0"/>
              </a:spcAft>
              <a:buNone/>
            </a:pPr>
            <a:r>
              <a:rPr lang="en-US" sz="1000" b="1" i="0">
                <a:solidFill>
                  <a:srgbClr val="005686"/>
                </a:solidFill>
                <a:latin typeface="Calibri"/>
                <a:ea typeface="Calibri"/>
                <a:cs typeface="Calibri"/>
                <a:sym typeface="Calibri"/>
              </a:rPr>
              <a:t>↩  Back to questions</a:t>
            </a:r>
            <a:endParaRPr/>
          </a:p>
        </p:txBody>
      </p:sp>
      <p:graphicFrame>
        <p:nvGraphicFramePr>
          <p:cNvPr id="438" name="Google Shape;438;p11"/>
          <p:cNvGraphicFramePr/>
          <p:nvPr/>
        </p:nvGraphicFramePr>
        <p:xfrm>
          <a:off x="484632" y="1600200"/>
          <a:ext cx="3000000" cy="3000000"/>
        </p:xfrm>
        <a:graphic>
          <a:graphicData uri="http://schemas.openxmlformats.org/drawingml/2006/table">
            <a:tbl>
              <a:tblPr firstRow="1">
                <a:noFill/>
                <a:tableStyleId>{A42D2ACD-31DC-41B1-94D3-554865B21F35}</a:tableStyleId>
              </a:tblPr>
              <a:tblGrid>
                <a:gridCol w="1417325">
                  <a:extLst>
                    <a:ext uri="{9D8B030D-6E8A-4147-A177-3AD203B41FA5}">
                      <a16:colId xmlns:a16="http://schemas.microsoft.com/office/drawing/2014/main" val="20000"/>
                    </a:ext>
                  </a:extLst>
                </a:gridCol>
                <a:gridCol w="1874525">
                  <a:extLst>
                    <a:ext uri="{9D8B030D-6E8A-4147-A177-3AD203B41FA5}">
                      <a16:colId xmlns:a16="http://schemas.microsoft.com/office/drawing/2014/main" val="20001"/>
                    </a:ext>
                  </a:extLst>
                </a:gridCol>
                <a:gridCol w="1783075">
                  <a:extLst>
                    <a:ext uri="{9D8B030D-6E8A-4147-A177-3AD203B41FA5}">
                      <a16:colId xmlns:a16="http://schemas.microsoft.com/office/drawing/2014/main" val="20002"/>
                    </a:ext>
                  </a:extLst>
                </a:gridCol>
                <a:gridCol w="1874525">
                  <a:extLst>
                    <a:ext uri="{9D8B030D-6E8A-4147-A177-3AD203B41FA5}">
                      <a16:colId xmlns:a16="http://schemas.microsoft.com/office/drawing/2014/main" val="20003"/>
                    </a:ext>
                  </a:extLst>
                </a:gridCol>
                <a:gridCol w="1874525">
                  <a:extLst>
                    <a:ext uri="{9D8B030D-6E8A-4147-A177-3AD203B41FA5}">
                      <a16:colId xmlns:a16="http://schemas.microsoft.com/office/drawing/2014/main" val="20004"/>
                    </a:ext>
                  </a:extLst>
                </a:gridCol>
                <a:gridCol w="2395725">
                  <a:extLst>
                    <a:ext uri="{9D8B030D-6E8A-4147-A177-3AD203B41FA5}">
                      <a16:colId xmlns:a16="http://schemas.microsoft.com/office/drawing/2014/main" val="20005"/>
                    </a:ext>
                  </a:extLst>
                </a:gridCol>
              </a:tblGrid>
              <a:tr h="329175">
                <a:tc>
                  <a:txBody>
                    <a:bodyPr/>
                    <a:lstStyle/>
                    <a:p>
                      <a:pPr marL="0" marR="0" lvl="0" indent="0" algn="l" rtl="0">
                        <a:spcBef>
                          <a:spcPts val="0"/>
                        </a:spcBef>
                        <a:spcAft>
                          <a:spcPts val="0"/>
                        </a:spcAft>
                        <a:buNone/>
                      </a:pPr>
                      <a:endParaRPr sz="1800" u="none" strike="noStrike" cap="none"/>
                    </a:p>
                  </a:txBody>
                  <a:tcPr marL="45725" marR="45725" marT="9150" marB="9150" anchor="ctr">
                    <a:solidFill>
                      <a:srgbClr val="005686"/>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Calibri"/>
                          <a:ea typeface="Calibri"/>
                          <a:cs typeface="Calibri"/>
                          <a:sym typeface="Calibri"/>
                        </a:rPr>
                        <a:t>CPCB real-time station</a:t>
                      </a:r>
                      <a:endParaRPr/>
                    </a:p>
                  </a:txBody>
                  <a:tcPr marL="45725" marR="45725" marT="9150" marB="9150" anchor="ctr">
                    <a:solidFill>
                      <a:srgbClr val="005686"/>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Calibri"/>
                          <a:ea typeface="Calibri"/>
                          <a:cs typeface="Calibri"/>
                          <a:sym typeface="Calibri"/>
                        </a:rPr>
                        <a:t>YSI EXO2 sonde</a:t>
                      </a:r>
                      <a:endParaRPr/>
                    </a:p>
                  </a:txBody>
                  <a:tcPr marL="45725" marR="45725" marT="9150" marB="9150" anchor="ctr">
                    <a:solidFill>
                      <a:srgbClr val="005686"/>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Calibri"/>
                          <a:ea typeface="Calibri"/>
                          <a:cs typeface="Calibri"/>
                          <a:sym typeface="Calibri"/>
                        </a:rPr>
                        <a:t>NexSens CB-450 buoy</a:t>
                      </a:r>
                      <a:endParaRPr/>
                    </a:p>
                  </a:txBody>
                  <a:tcPr marL="45725" marR="45725" marT="9150" marB="9150" anchor="ctr">
                    <a:solidFill>
                      <a:srgbClr val="005686"/>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Calibri"/>
                          <a:ea typeface="Calibri"/>
                          <a:cs typeface="Calibri"/>
                          <a:sym typeface="Calibri"/>
                        </a:rPr>
                        <a:t>ISCO 6712 sampler</a:t>
                      </a:r>
                      <a:endParaRPr/>
                    </a:p>
                  </a:txBody>
                  <a:tcPr marL="45725" marR="45725" marT="9150" marB="9150" anchor="ctr">
                    <a:solidFill>
                      <a:srgbClr val="005686"/>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Calibri"/>
                          <a:ea typeface="Calibri"/>
                          <a:cs typeface="Calibri"/>
                          <a:sym typeface="Calibri"/>
                        </a:rPr>
                        <a:t>AquaSentinel R3 (design)</a:t>
                      </a:r>
                      <a:endParaRPr/>
                    </a:p>
                  </a:txBody>
                  <a:tcPr marL="45725" marR="45725" marT="9150" marB="9150" anchor="ctr">
                    <a:solidFill>
                      <a:srgbClr val="125A88"/>
                    </a:solidFill>
                  </a:tcPr>
                </a:tc>
                <a:extLst>
                  <a:ext uri="{0D108BD9-81ED-4DB2-BD59-A6C34878D82A}">
                    <a16:rowId xmlns:a16="http://schemas.microsoft.com/office/drawing/2014/main" val="10000"/>
                  </a:ext>
                </a:extLst>
              </a:tr>
              <a:tr h="393200">
                <a:tc>
                  <a:txBody>
                    <a:bodyPr/>
                    <a:lstStyle/>
                    <a:p>
                      <a:pPr marL="0" marR="0" lvl="0" indent="0" algn="l" rtl="0">
                        <a:spcBef>
                          <a:spcPts val="0"/>
                        </a:spcBef>
                        <a:spcAft>
                          <a:spcPts val="0"/>
                        </a:spcAft>
                        <a:buNone/>
                      </a:pPr>
                      <a:r>
                        <a:rPr lang="en-US" sz="1000" b="1" i="0" u="none" strike="noStrike" cap="none">
                          <a:solidFill>
                            <a:srgbClr val="1E2B36"/>
                          </a:solidFill>
                          <a:latin typeface="Calibri"/>
                          <a:ea typeface="Calibri"/>
                          <a:cs typeface="Calibri"/>
                          <a:sym typeface="Calibri"/>
                        </a:rPr>
                        <a:t>Readings, parameters</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every 15 min; ≈ 17 incl. BOD, COD</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user-set; up to 6 sensors</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set by its logger; carries sondes</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samples only; reads a sonde via SDI-12</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every 15 min; pH, EC, DO, turbidity, temp, level</a:t>
                      </a:r>
                      <a:endParaRPr/>
                    </a:p>
                  </a:txBody>
                  <a:tcPr marL="45725" marR="45725" marT="9150" marB="9150" anchor="ctr">
                    <a:solidFill>
                      <a:srgbClr val="FFF4CC"/>
                    </a:solidFill>
                  </a:tcPr>
                </a:tc>
                <a:extLst>
                  <a:ext uri="{0D108BD9-81ED-4DB2-BD59-A6C34878D82A}">
                    <a16:rowId xmlns:a16="http://schemas.microsoft.com/office/drawing/2014/main" val="10001"/>
                  </a:ext>
                </a:extLst>
              </a:tr>
              <a:tr h="393200">
                <a:tc>
                  <a:txBody>
                    <a:bodyPr/>
                    <a:lstStyle/>
                    <a:p>
                      <a:pPr marL="0" marR="0" lvl="0" indent="0" algn="l" rtl="0">
                        <a:spcBef>
                          <a:spcPts val="0"/>
                        </a:spcBef>
                        <a:spcAft>
                          <a:spcPts val="0"/>
                        </a:spcAft>
                        <a:buNone/>
                      </a:pPr>
                      <a:r>
                        <a:rPr lang="en-US" sz="1000" b="1" i="0" u="none" strike="noStrike" cap="none">
                          <a:solidFill>
                            <a:srgbClr val="1E2B36"/>
                          </a:solidFill>
                          <a:latin typeface="Calibri"/>
                          <a:ea typeface="Calibri"/>
                          <a:cs typeface="Calibri"/>
                          <a:sym typeface="Calibri"/>
                        </a:rPr>
                        <a:t>Mounting</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fixed station; layout n.p.v.</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user-supplied mount, pipe or buoy</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moored, 3 eye-nuts</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bank or manhole, intake hose</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float on a guide pole clamped to a bridge pier</a:t>
                      </a:r>
                      <a:endParaRPr/>
                    </a:p>
                  </a:txBody>
                  <a:tcPr marL="45725" marR="45725" marT="9150" marB="9150" anchor="ctr">
                    <a:solidFill>
                      <a:srgbClr val="FFF4CC"/>
                    </a:solidFill>
                  </a:tcPr>
                </a:tc>
                <a:extLst>
                  <a:ext uri="{0D108BD9-81ED-4DB2-BD59-A6C34878D82A}">
                    <a16:rowId xmlns:a16="http://schemas.microsoft.com/office/drawing/2014/main" val="10002"/>
                  </a:ext>
                </a:extLst>
              </a:tr>
              <a:tr h="393200">
                <a:tc>
                  <a:txBody>
                    <a:bodyPr/>
                    <a:lstStyle/>
                    <a:p>
                      <a:pPr marL="0" marR="0" lvl="0" indent="0" algn="l" rtl="0">
                        <a:spcBef>
                          <a:spcPts val="0"/>
                        </a:spcBef>
                        <a:spcAft>
                          <a:spcPts val="0"/>
                        </a:spcAft>
                        <a:buNone/>
                      </a:pPr>
                      <a:r>
                        <a:rPr lang="en-US" sz="1000" b="1" i="0" u="none" strike="noStrike" cap="none">
                          <a:solidFill>
                            <a:srgbClr val="1E2B36"/>
                          </a:solidFill>
                          <a:latin typeface="Calibri"/>
                          <a:ea typeface="Calibri"/>
                          <a:cs typeface="Calibri"/>
                          <a:sym typeface="Calibri"/>
                        </a:rPr>
                        <a:t>River-level change</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n.p.v.</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depends on mount</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floats within mooring scope</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hose reach (max lift per spec)</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rides 2 m on 8 rollers, no drive motor (calculated)</a:t>
                      </a:r>
                      <a:endParaRPr/>
                    </a:p>
                  </a:txBody>
                  <a:tcPr marL="45725" marR="45725" marT="9150" marB="9150" anchor="ctr">
                    <a:solidFill>
                      <a:srgbClr val="FFF4CC"/>
                    </a:solidFill>
                  </a:tcPr>
                </a:tc>
                <a:extLst>
                  <a:ext uri="{0D108BD9-81ED-4DB2-BD59-A6C34878D82A}">
                    <a16:rowId xmlns:a16="http://schemas.microsoft.com/office/drawing/2014/main" val="10003"/>
                  </a:ext>
                </a:extLst>
              </a:tr>
              <a:tr h="393200">
                <a:tc>
                  <a:txBody>
                    <a:bodyPr/>
                    <a:lstStyle/>
                    <a:p>
                      <a:pPr marL="0" marR="0" lvl="0" indent="0" algn="l" rtl="0">
                        <a:spcBef>
                          <a:spcPts val="0"/>
                        </a:spcBef>
                        <a:spcAft>
                          <a:spcPts val="0"/>
                        </a:spcAft>
                        <a:buNone/>
                      </a:pPr>
                      <a:r>
                        <a:rPr lang="en-US" sz="1000" b="1" i="0" u="none" strike="noStrike" cap="none">
                          <a:solidFill>
                            <a:srgbClr val="1E2B36"/>
                          </a:solidFill>
                          <a:latin typeface="Calibri"/>
                          <a:ea typeface="Calibri"/>
                          <a:cs typeface="Calibri"/>
                          <a:sym typeface="Calibri"/>
                        </a:rPr>
                        <a:t>Decision on site</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data to central server</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logs; alarm logic not listed</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logger and web portal; alarms n.p.v.</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event trigger on up to 16 inputs</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on board: limits + learned baseline (synthetic test)</a:t>
                      </a:r>
                      <a:endParaRPr/>
                    </a:p>
                  </a:txBody>
                  <a:tcPr marL="45725" marR="45725" marT="9150" marB="9150" anchor="ctr">
                    <a:solidFill>
                      <a:srgbClr val="FFF4CC"/>
                    </a:solidFill>
                  </a:tcPr>
                </a:tc>
                <a:extLst>
                  <a:ext uri="{0D108BD9-81ED-4DB2-BD59-A6C34878D82A}">
                    <a16:rowId xmlns:a16="http://schemas.microsoft.com/office/drawing/2014/main" val="10004"/>
                  </a:ext>
                </a:extLst>
              </a:tr>
              <a:tr h="393200">
                <a:tc>
                  <a:txBody>
                    <a:bodyPr/>
                    <a:lstStyle/>
                    <a:p>
                      <a:pPr marL="0" marR="0" lvl="0" indent="0" algn="l" rtl="0">
                        <a:spcBef>
                          <a:spcPts val="0"/>
                        </a:spcBef>
                        <a:spcAft>
                          <a:spcPts val="0"/>
                        </a:spcAft>
                        <a:buNone/>
                      </a:pPr>
                      <a:r>
                        <a:rPr lang="en-US" sz="1000" b="1" i="0" u="none" strike="noStrike" cap="none">
                          <a:solidFill>
                            <a:srgbClr val="1E2B36"/>
                          </a:solidFill>
                          <a:latin typeface="Calibri"/>
                          <a:ea typeface="Calibri"/>
                          <a:cs typeface="Calibri"/>
                          <a:sym typeface="Calibri"/>
                        </a:rPr>
                        <a:t>Local light / remote alert</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n.p.v.</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not part of the sonde</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n.p.v.</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modem dial-out alarm option</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beacon + LTE/SMS alert (designed)</a:t>
                      </a:r>
                      <a:endParaRPr/>
                    </a:p>
                  </a:txBody>
                  <a:tcPr marL="45725" marR="45725" marT="9150" marB="9150" anchor="ctr">
                    <a:solidFill>
                      <a:srgbClr val="FFF4CC"/>
                    </a:solidFill>
                  </a:tcPr>
                </a:tc>
                <a:extLst>
                  <a:ext uri="{0D108BD9-81ED-4DB2-BD59-A6C34878D82A}">
                    <a16:rowId xmlns:a16="http://schemas.microsoft.com/office/drawing/2014/main" val="10005"/>
                  </a:ext>
                </a:extLst>
              </a:tr>
              <a:tr h="393200">
                <a:tc>
                  <a:txBody>
                    <a:bodyPr/>
                    <a:lstStyle/>
                    <a:p>
                      <a:pPr marL="0" marR="0" lvl="0" indent="0" algn="l" rtl="0">
                        <a:spcBef>
                          <a:spcPts val="0"/>
                        </a:spcBef>
                        <a:spcAft>
                          <a:spcPts val="0"/>
                        </a:spcAft>
                        <a:buNone/>
                      </a:pPr>
                      <a:r>
                        <a:rPr lang="en-US" sz="1000" b="1" i="0" u="none" strike="noStrike" cap="none">
                          <a:solidFill>
                            <a:srgbClr val="1E2B36"/>
                          </a:solidFill>
                          <a:latin typeface="Calibri"/>
                          <a:ea typeface="Calibri"/>
                          <a:cs typeface="Calibri"/>
                          <a:sym typeface="Calibri"/>
                        </a:rPr>
                        <a:t>Physical sample</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n.p.v.</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no (sensor)</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not in listed product</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yes, up to 24 bottles</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4 × 250 mL, one per event (designed)</a:t>
                      </a:r>
                      <a:endParaRPr/>
                    </a:p>
                  </a:txBody>
                  <a:tcPr marL="45725" marR="45725" marT="9150" marB="9150" anchor="ctr">
                    <a:solidFill>
                      <a:srgbClr val="FFF4CC"/>
                    </a:solidFill>
                  </a:tcPr>
                </a:tc>
                <a:extLst>
                  <a:ext uri="{0D108BD9-81ED-4DB2-BD59-A6C34878D82A}">
                    <a16:rowId xmlns:a16="http://schemas.microsoft.com/office/drawing/2014/main" val="10006"/>
                  </a:ext>
                </a:extLst>
              </a:tr>
              <a:tr h="393200">
                <a:tc>
                  <a:txBody>
                    <a:bodyPr/>
                    <a:lstStyle/>
                    <a:p>
                      <a:pPr marL="0" marR="0" lvl="0" indent="0" algn="l" rtl="0">
                        <a:spcBef>
                          <a:spcPts val="0"/>
                        </a:spcBef>
                        <a:spcAft>
                          <a:spcPts val="0"/>
                        </a:spcAft>
                        <a:buNone/>
                      </a:pPr>
                      <a:r>
                        <a:rPr lang="en-US" sz="1000" b="1" i="0" u="none" strike="noStrike" cap="none">
                          <a:solidFill>
                            <a:srgbClr val="1E2B36"/>
                          </a:solidFill>
                          <a:latin typeface="Calibri"/>
                          <a:ea typeface="Calibri"/>
                          <a:cs typeface="Calibri"/>
                          <a:sym typeface="Calibri"/>
                        </a:rPr>
                        <a:t>Indicative cost</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₹35–40 lakh instruments (CSE)</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price on request</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not listed</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not listed</a:t>
                      </a:r>
                      <a:endParaRPr/>
                    </a:p>
                  </a:txBody>
                  <a:tcPr marL="45725" marR="45725" marT="9150" marB="9150" anchor="ctr">
                    <a:solidFill>
                      <a:srgbClr val="FFFFFF"/>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 ₹1.87 lakh prototype estimate incl. bridge kit</a:t>
                      </a:r>
                      <a:endParaRPr/>
                    </a:p>
                  </a:txBody>
                  <a:tcPr marL="45725" marR="45725" marT="9150" marB="9150" anchor="ctr">
                    <a:solidFill>
                      <a:srgbClr val="FFF4CC"/>
                    </a:solidFill>
                  </a:tcPr>
                </a:tc>
                <a:extLst>
                  <a:ext uri="{0D108BD9-81ED-4DB2-BD59-A6C34878D82A}">
                    <a16:rowId xmlns:a16="http://schemas.microsoft.com/office/drawing/2014/main" val="10007"/>
                  </a:ext>
                </a:extLst>
              </a:tr>
              <a:tr h="393200">
                <a:tc>
                  <a:txBody>
                    <a:bodyPr/>
                    <a:lstStyle/>
                    <a:p>
                      <a:pPr marL="0" marR="0" lvl="0" indent="0" algn="l" rtl="0">
                        <a:spcBef>
                          <a:spcPts val="0"/>
                        </a:spcBef>
                        <a:spcAft>
                          <a:spcPts val="0"/>
                        </a:spcAft>
                        <a:buNone/>
                      </a:pPr>
                      <a:r>
                        <a:rPr lang="en-US" sz="1000" b="1" i="0" u="none" strike="noStrike" cap="none">
                          <a:solidFill>
                            <a:srgbClr val="1E2B36"/>
                          </a:solidFill>
                          <a:latin typeface="Calibri"/>
                          <a:ea typeface="Calibri"/>
                          <a:cs typeface="Calibri"/>
                          <a:sym typeface="Calibri"/>
                        </a:rPr>
                        <a:t>Power, upkeep</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calibration, batteries (CSE)</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4 D-cells, ≈ 90 days at 15 min</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3 × 15 W solar</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12 V DC battery or mains</a:t>
                      </a:r>
                      <a:endParaRPr/>
                    </a:p>
                  </a:txBody>
                  <a:tcPr marL="45725" marR="45725" marT="9150" marB="9150" anchor="ctr">
                    <a:solidFill>
                      <a:srgbClr val="EAF3F8"/>
                    </a:solidFill>
                  </a:tcPr>
                </a:tc>
                <a:tc>
                  <a:txBody>
                    <a:bodyPr/>
                    <a:lstStyle/>
                    <a:p>
                      <a:pPr marL="0" marR="0" lvl="0" indent="0" algn="l" rtl="0">
                        <a:spcBef>
                          <a:spcPts val="0"/>
                        </a:spcBef>
                        <a:spcAft>
                          <a:spcPts val="0"/>
                        </a:spcAft>
                        <a:buNone/>
                      </a:pPr>
                      <a:r>
                        <a:rPr lang="en-US" sz="1000" b="0" i="0" u="none" strike="noStrike" cap="none">
                          <a:solidFill>
                            <a:srgbClr val="1E2B36"/>
                          </a:solidFill>
                          <a:latin typeface="Calibri"/>
                          <a:ea typeface="Calibri"/>
                          <a:cs typeface="Calibri"/>
                          <a:sym typeface="Calibri"/>
                        </a:rPr>
                        <a:t>20 W solar + LiFePO4, ≈ 12 days dark (estimate); monthly visit</a:t>
                      </a:r>
                      <a:endParaRPr/>
                    </a:p>
                  </a:txBody>
                  <a:tcPr marL="45725" marR="45725" marT="9150" marB="9150" anchor="ctr">
                    <a:solidFill>
                      <a:srgbClr val="FFF4CC"/>
                    </a:solidFill>
                  </a:tcPr>
                </a:tc>
                <a:extLst>
                  <a:ext uri="{0D108BD9-81ED-4DB2-BD59-A6C34878D82A}">
                    <a16:rowId xmlns:a16="http://schemas.microsoft.com/office/drawing/2014/main" val="10008"/>
                  </a:ext>
                </a:extLst>
              </a:tr>
            </a:tbl>
          </a:graphicData>
        </a:graphic>
      </p:graphicFrame>
      <p:sp>
        <p:nvSpPr>
          <p:cNvPr id="439" name="Google Shape;439;p11"/>
          <p:cNvSpPr/>
          <p:nvPr/>
        </p:nvSpPr>
        <p:spPr>
          <a:xfrm>
            <a:off x="484632" y="5148072"/>
            <a:ext cx="11219688" cy="640080"/>
          </a:xfrm>
          <a:prstGeom prst="roundRect">
            <a:avLst>
              <a:gd name="adj" fmla="val 5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0" name="Google Shape;440;p11"/>
          <p:cNvSpPr txBox="1"/>
          <p:nvPr/>
        </p:nvSpPr>
        <p:spPr>
          <a:xfrm>
            <a:off x="621792" y="5175504"/>
            <a:ext cx="10972800" cy="557783"/>
          </a:xfrm>
          <a:prstGeom prst="rect">
            <a:avLst/>
          </a:prstGeom>
          <a:noFill/>
          <a:ln>
            <a:noFill/>
          </a:ln>
        </p:spPr>
        <p:txBody>
          <a:bodyPr spcFirstLastPara="1" wrap="square" lIns="45700" tIns="18275" rIns="45700" bIns="18275" anchor="ctr" anchorCtr="0">
            <a:noAutofit/>
          </a:bodyPr>
          <a:lstStyle/>
          <a:p>
            <a:pPr marL="0" marR="0" lvl="0" indent="0" algn="l" rtl="0">
              <a:spcBef>
                <a:spcPts val="0"/>
              </a:spcBef>
              <a:spcAft>
                <a:spcPts val="0"/>
              </a:spcAft>
              <a:buNone/>
            </a:pPr>
            <a:r>
              <a:rPr lang="en-US" sz="1100" b="1" i="0">
                <a:solidFill>
                  <a:srgbClr val="125A88"/>
                </a:solidFill>
                <a:latin typeface="Calibri"/>
                <a:ea typeface="Calibri"/>
                <a:cs typeface="Calibri"/>
                <a:sym typeface="Calibri"/>
              </a:rPr>
              <a:t>What we combine differently (narrow, to be proven): </a:t>
            </a:r>
            <a:r>
              <a:rPr lang="en-US" sz="1100" b="0" i="0">
                <a:solidFill>
                  <a:srgbClr val="1E2B36"/>
                </a:solidFill>
                <a:latin typeface="Calibri"/>
                <a:ea typeface="Calibri"/>
                <a:cs typeface="Calibri"/>
                <a:sym typeface="Calibri"/>
              </a:rPr>
              <a:t>each capability exists separately, and a buoy + sonde + triggered sampler could be integrated. Our difference is the architecture: a pier-guided float that follows river level without a mooring, an on-board decision, a beacon for people on the bank and one-bottle-per-event sampling in one unit, at a prototype estimate under ₹2 lakh. Not yet validated in a river; no novelty claim.</a:t>
            </a:r>
            <a:endParaRPr/>
          </a:p>
        </p:txBody>
      </p:sp>
      <p:sp>
        <p:nvSpPr>
          <p:cNvPr id="441" name="Google Shape;441;p11"/>
          <p:cNvSpPr txBox="1"/>
          <p:nvPr/>
        </p:nvSpPr>
        <p:spPr>
          <a:xfrm>
            <a:off x="484632" y="5870448"/>
            <a:ext cx="11219688" cy="237744"/>
          </a:xfrm>
          <a:prstGeom prst="rect">
            <a:avLst/>
          </a:prstGeom>
          <a:noFill/>
          <a:ln>
            <a:noFill/>
          </a:ln>
        </p:spPr>
        <p:txBody>
          <a:bodyPr spcFirstLastPara="1" wrap="square" lIns="45700" tIns="18275" rIns="45700" bIns="18275" anchor="t" anchorCtr="0">
            <a:noAutofit/>
          </a:bodyPr>
          <a:lstStyle/>
          <a:p>
            <a:pPr marL="0" marR="0" lvl="0" indent="0" algn="l" rtl="0">
              <a:spcBef>
                <a:spcPts val="0"/>
              </a:spcBef>
              <a:spcAft>
                <a:spcPts val="0"/>
              </a:spcAft>
              <a:buNone/>
            </a:pPr>
            <a:r>
              <a:rPr lang="en-US" sz="900" b="0" i="0">
                <a:solidFill>
                  <a:srgbClr val="5B6B78"/>
                </a:solidFill>
                <a:latin typeface="Calibri"/>
                <a:ea typeface="Calibri"/>
                <a:cs typeface="Calibri"/>
                <a:sym typeface="Calibri"/>
              </a:rPr>
              <a:t>Sources as on slide 12: </a:t>
            </a:r>
            <a:r>
              <a:rPr lang="en-US" sz="900" b="0" i="0" u="sng">
                <a:solidFill>
                  <a:srgbClr val="005686"/>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CPCB</a:t>
            </a:r>
            <a:r>
              <a:rPr lang="en-US" sz="900" b="0" i="0">
                <a:solidFill>
                  <a:srgbClr val="5B6B78"/>
                </a:solidFill>
                <a:latin typeface="Calibri"/>
                <a:ea typeface="Calibri"/>
                <a:cs typeface="Calibri"/>
                <a:sym typeface="Calibri"/>
              </a:rPr>
              <a:t> · </a:t>
            </a:r>
            <a:r>
              <a:rPr lang="en-US" sz="900" b="0" i="0" u="sng">
                <a:solidFill>
                  <a:srgbClr val="005686"/>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CSE</a:t>
            </a:r>
            <a:r>
              <a:rPr lang="en-US" sz="900" b="0" i="0">
                <a:solidFill>
                  <a:srgbClr val="5B6B78"/>
                </a:solidFill>
                <a:latin typeface="Calibri"/>
                <a:ea typeface="Calibri"/>
                <a:cs typeface="Calibri"/>
                <a:sym typeface="Calibri"/>
              </a:rPr>
              <a:t> · </a:t>
            </a:r>
            <a:r>
              <a:rPr lang="en-US" sz="900" b="0" i="0" u="sng">
                <a:solidFill>
                  <a:srgbClr val="005686"/>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YSI EXO2</a:t>
            </a:r>
            <a:r>
              <a:rPr lang="en-US" sz="900" b="0" i="0">
                <a:solidFill>
                  <a:srgbClr val="5B6B78"/>
                </a:solidFill>
                <a:latin typeface="Calibri"/>
                <a:ea typeface="Calibri"/>
                <a:cs typeface="Calibri"/>
                <a:sym typeface="Calibri"/>
              </a:rPr>
              <a:t> · </a:t>
            </a:r>
            <a:r>
              <a:rPr lang="en-US" sz="900" b="0" i="0" u="sng">
                <a:solidFill>
                  <a:srgbClr val="005686"/>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NexSens CB-450</a:t>
            </a:r>
            <a:r>
              <a:rPr lang="en-US" sz="900" b="0" i="0">
                <a:solidFill>
                  <a:srgbClr val="5B6B78"/>
                </a:solidFill>
                <a:latin typeface="Calibri"/>
                <a:ea typeface="Calibri"/>
                <a:cs typeface="Calibri"/>
                <a:sym typeface="Calibri"/>
              </a:rPr>
              <a:t> · </a:t>
            </a:r>
            <a:r>
              <a:rPr lang="en-US" sz="900" b="0" i="0" u="sng">
                <a:solidFill>
                  <a:srgbClr val="005686"/>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ISCO 6712</a:t>
            </a:r>
            <a:r>
              <a:rPr lang="en-US" sz="900" b="0" i="0">
                <a:solidFill>
                  <a:srgbClr val="5B6B78"/>
                </a:solidFill>
                <a:latin typeface="Calibri"/>
                <a:ea typeface="Calibri"/>
                <a:cs typeface="Calibri"/>
                <a:sym typeface="Calibri"/>
              </a:rPr>
              <a:t> · n.p.v. = not publicly verified. AquaSentinel values are design estimates (backup A1–A5).</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12"/>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Watching the river every 15 minutes</a:t>
            </a:r>
            <a:endParaRPr/>
          </a:p>
        </p:txBody>
      </p:sp>
      <p:sp>
        <p:nvSpPr>
          <p:cNvPr id="448" name="Google Shape;448;p12"/>
          <p:cNvSpPr/>
          <p:nvPr/>
        </p:nvSpPr>
        <p:spPr>
          <a:xfrm>
            <a:off x="484632" y="1645920"/>
            <a:ext cx="3557016" cy="77724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 name="Google Shape;449;p12"/>
          <p:cNvSpPr/>
          <p:nvPr/>
        </p:nvSpPr>
        <p:spPr>
          <a:xfrm>
            <a:off x="649224" y="1805940"/>
            <a:ext cx="457200" cy="457200"/>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600" b="1" i="0">
                <a:solidFill>
                  <a:srgbClr val="FFFFFF"/>
                </a:solidFill>
                <a:latin typeface="Calibri"/>
                <a:ea typeface="Calibri"/>
                <a:cs typeface="Calibri"/>
                <a:sym typeface="Calibri"/>
              </a:rPr>
              <a:t>1</a:t>
            </a:r>
            <a:endParaRPr/>
          </a:p>
        </p:txBody>
      </p:sp>
      <p:sp>
        <p:nvSpPr>
          <p:cNvPr id="450" name="Google Shape;450;p12"/>
          <p:cNvSpPr txBox="1"/>
          <p:nvPr/>
        </p:nvSpPr>
        <p:spPr>
          <a:xfrm>
            <a:off x="1261872" y="1645920"/>
            <a:ext cx="2642616" cy="777240"/>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Earlier warning for people downstream</a:t>
            </a:r>
            <a:endParaRPr/>
          </a:p>
        </p:txBody>
      </p:sp>
      <p:sp>
        <p:nvSpPr>
          <p:cNvPr id="451" name="Google Shape;451;p12"/>
          <p:cNvSpPr/>
          <p:nvPr/>
        </p:nvSpPr>
        <p:spPr>
          <a:xfrm>
            <a:off x="4315968" y="1645920"/>
            <a:ext cx="3557016" cy="77724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2" name="Google Shape;452;p12"/>
          <p:cNvSpPr/>
          <p:nvPr/>
        </p:nvSpPr>
        <p:spPr>
          <a:xfrm>
            <a:off x="4480560" y="1805940"/>
            <a:ext cx="457200" cy="457200"/>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600" b="1" i="0">
                <a:solidFill>
                  <a:srgbClr val="FFFFFF"/>
                </a:solidFill>
                <a:latin typeface="Calibri"/>
                <a:ea typeface="Calibri"/>
                <a:cs typeface="Calibri"/>
                <a:sym typeface="Calibri"/>
              </a:rPr>
              <a:t>2</a:t>
            </a:r>
            <a:endParaRPr/>
          </a:p>
        </p:txBody>
      </p:sp>
      <p:sp>
        <p:nvSpPr>
          <p:cNvPr id="453" name="Google Shape;453;p12"/>
          <p:cNvSpPr txBox="1"/>
          <p:nvPr/>
        </p:nvSpPr>
        <p:spPr>
          <a:xfrm>
            <a:off x="5093208" y="1645920"/>
            <a:ext cx="2642616" cy="777240"/>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A sample that tells the lab where to look</a:t>
            </a:r>
            <a:endParaRPr/>
          </a:p>
        </p:txBody>
      </p:sp>
      <p:sp>
        <p:nvSpPr>
          <p:cNvPr id="454" name="Google Shape;454;p12"/>
          <p:cNvSpPr/>
          <p:nvPr/>
        </p:nvSpPr>
        <p:spPr>
          <a:xfrm>
            <a:off x="8147304" y="1645920"/>
            <a:ext cx="3557016" cy="77724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5" name="Google Shape;455;p12"/>
          <p:cNvSpPr/>
          <p:nvPr/>
        </p:nvSpPr>
        <p:spPr>
          <a:xfrm>
            <a:off x="8311896" y="1805940"/>
            <a:ext cx="457200" cy="457200"/>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600" b="1" i="0">
                <a:solidFill>
                  <a:srgbClr val="FFFFFF"/>
                </a:solidFill>
                <a:latin typeface="Calibri"/>
                <a:ea typeface="Calibri"/>
                <a:cs typeface="Calibri"/>
                <a:sym typeface="Calibri"/>
              </a:rPr>
              <a:t>3</a:t>
            </a:r>
            <a:endParaRPr/>
          </a:p>
        </p:txBody>
      </p:sp>
      <p:sp>
        <p:nvSpPr>
          <p:cNvPr id="456" name="Google Shape;456;p12"/>
          <p:cNvSpPr txBox="1"/>
          <p:nvPr/>
        </p:nvSpPr>
        <p:spPr>
          <a:xfrm>
            <a:off x="8924544" y="1645920"/>
            <a:ext cx="2642616" cy="777240"/>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A light anyone on the bank can read</a:t>
            </a:r>
            <a:endParaRPr/>
          </a:p>
        </p:txBody>
      </p:sp>
      <p:pic>
        <p:nvPicPr>
          <p:cNvPr id="457" name="Google Shape;457;p12" title="ME .png"/>
          <p:cNvPicPr preferRelativeResize="0"/>
          <p:nvPr/>
        </p:nvPicPr>
        <p:blipFill rotWithShape="1">
          <a:blip r:embed="rId3">
            <a:alphaModFix/>
          </a:blip>
          <a:srcRect l="12503" r="12495"/>
          <a:stretch/>
        </p:blipFill>
        <p:spPr>
          <a:xfrm>
            <a:off x="943660" y="2670048"/>
            <a:ext cx="1326000" cy="1326000"/>
          </a:xfrm>
          <a:prstGeom prst="ellipse">
            <a:avLst/>
          </a:prstGeom>
          <a:noFill/>
          <a:ln w="19050" cap="flat" cmpd="sng">
            <a:solidFill>
              <a:srgbClr val="C9DBE7"/>
            </a:solidFill>
            <a:prstDash val="solid"/>
            <a:round/>
            <a:headEnd type="none" w="sm" len="sm"/>
            <a:tailEnd type="none" w="sm" len="sm"/>
          </a:ln>
        </p:spPr>
      </p:pic>
      <p:sp>
        <p:nvSpPr>
          <p:cNvPr id="458" name="Google Shape;458;p12"/>
          <p:cNvSpPr txBox="1"/>
          <p:nvPr/>
        </p:nvSpPr>
        <p:spPr>
          <a:xfrm>
            <a:off x="530352" y="4041648"/>
            <a:ext cx="2152497" cy="329184"/>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500" b="1" i="0" dirty="0">
                <a:solidFill>
                  <a:srgbClr val="1E2B36"/>
                </a:solidFill>
                <a:latin typeface="Calibri"/>
                <a:ea typeface="Calibri"/>
                <a:cs typeface="Calibri"/>
                <a:sym typeface="Calibri"/>
              </a:rPr>
              <a:t>Soham Kadu</a:t>
            </a:r>
            <a:endParaRPr dirty="0"/>
          </a:p>
        </p:txBody>
      </p:sp>
      <p:sp>
        <p:nvSpPr>
          <p:cNvPr id="459" name="Google Shape;459;p12"/>
          <p:cNvSpPr txBox="1"/>
          <p:nvPr/>
        </p:nvSpPr>
        <p:spPr>
          <a:xfrm>
            <a:off x="530352" y="4352544"/>
            <a:ext cx="2152497" cy="292608"/>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300" b="0" i="0">
                <a:solidFill>
                  <a:srgbClr val="5B6B78"/>
                </a:solidFill>
                <a:latin typeface="Calibri"/>
                <a:ea typeface="Calibri"/>
                <a:cs typeface="Calibri"/>
                <a:sym typeface="Calibri"/>
              </a:rPr>
              <a:t>Project Lead</a:t>
            </a:r>
            <a:endParaRPr/>
          </a:p>
        </p:txBody>
      </p:sp>
      <p:pic>
        <p:nvPicPr>
          <p:cNvPr id="460" name="Google Shape;460;p12" title="PRASAD.png"/>
          <p:cNvPicPr preferRelativeResize="0"/>
          <p:nvPr/>
        </p:nvPicPr>
        <p:blipFill rotWithShape="1">
          <a:blip r:embed="rId4">
            <a:alphaModFix/>
          </a:blip>
          <a:srcRect l="8827" r="8827"/>
          <a:stretch/>
        </p:blipFill>
        <p:spPr>
          <a:xfrm>
            <a:off x="3187598" y="2670048"/>
            <a:ext cx="1326001" cy="1326000"/>
          </a:xfrm>
          <a:prstGeom prst="rect">
            <a:avLst/>
          </a:prstGeom>
          <a:noFill/>
          <a:ln>
            <a:noFill/>
          </a:ln>
        </p:spPr>
      </p:pic>
      <p:sp>
        <p:nvSpPr>
          <p:cNvPr id="461" name="Google Shape;461;p12"/>
          <p:cNvSpPr txBox="1"/>
          <p:nvPr/>
        </p:nvSpPr>
        <p:spPr>
          <a:xfrm>
            <a:off x="2774289" y="4041648"/>
            <a:ext cx="2152497" cy="329184"/>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500" b="1" dirty="0">
                <a:latin typeface="Calibri" panose="020F0502020204030204" pitchFamily="34" charset="0"/>
                <a:ea typeface="Calibri" panose="020F0502020204030204" pitchFamily="34" charset="0"/>
                <a:cs typeface="Calibri" panose="020F0502020204030204" pitchFamily="34" charset="0"/>
              </a:rPr>
              <a:t>Prasad Ugale</a:t>
            </a:r>
            <a:endParaRPr sz="1500" b="1" dirty="0">
              <a:latin typeface="Calibri" panose="020F0502020204030204" pitchFamily="34" charset="0"/>
              <a:ea typeface="Calibri" panose="020F0502020204030204" pitchFamily="34" charset="0"/>
              <a:cs typeface="Calibri" panose="020F0502020204030204" pitchFamily="34" charset="0"/>
            </a:endParaRPr>
          </a:p>
        </p:txBody>
      </p:sp>
      <p:sp>
        <p:nvSpPr>
          <p:cNvPr id="462" name="Google Shape;462;p12"/>
          <p:cNvSpPr txBox="1"/>
          <p:nvPr/>
        </p:nvSpPr>
        <p:spPr>
          <a:xfrm>
            <a:off x="2774289" y="4352544"/>
            <a:ext cx="2152497" cy="292608"/>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300" b="0" i="0" dirty="0">
                <a:solidFill>
                  <a:srgbClr val="5B6B78"/>
                </a:solidFill>
                <a:latin typeface="Calibri"/>
                <a:ea typeface="Calibri"/>
                <a:cs typeface="Calibri"/>
                <a:sym typeface="Calibri"/>
              </a:rPr>
              <a:t>System Design</a:t>
            </a:r>
            <a:endParaRPr dirty="0"/>
          </a:p>
        </p:txBody>
      </p:sp>
      <p:pic>
        <p:nvPicPr>
          <p:cNvPr id="463" name="Google Shape;463;p12" descr="6a8526e285.png"/>
          <p:cNvPicPr preferRelativeResize="0"/>
          <p:nvPr/>
        </p:nvPicPr>
        <p:blipFill rotWithShape="1">
          <a:blip r:embed="rId5">
            <a:alphaModFix/>
          </a:blip>
          <a:srcRect/>
          <a:stretch/>
        </p:blipFill>
        <p:spPr>
          <a:xfrm>
            <a:off x="5431536" y="2670048"/>
            <a:ext cx="1325880" cy="1325880"/>
          </a:xfrm>
          <a:prstGeom prst="ellipse">
            <a:avLst/>
          </a:prstGeom>
          <a:noFill/>
          <a:ln w="19050" cap="flat" cmpd="sng">
            <a:solidFill>
              <a:srgbClr val="C9DBE7"/>
            </a:solidFill>
            <a:prstDash val="solid"/>
            <a:round/>
            <a:headEnd type="none" w="sm" len="sm"/>
            <a:tailEnd type="none" w="sm" len="sm"/>
          </a:ln>
        </p:spPr>
      </p:pic>
      <p:sp>
        <p:nvSpPr>
          <p:cNvPr id="464" name="Google Shape;464;p12"/>
          <p:cNvSpPr txBox="1"/>
          <p:nvPr/>
        </p:nvSpPr>
        <p:spPr>
          <a:xfrm>
            <a:off x="5018227" y="4041648"/>
            <a:ext cx="2152497" cy="329184"/>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500" b="1" i="0">
                <a:solidFill>
                  <a:srgbClr val="1E2B36"/>
                </a:solidFill>
                <a:latin typeface="Calibri"/>
                <a:ea typeface="Calibri"/>
                <a:cs typeface="Calibri"/>
                <a:sym typeface="Calibri"/>
              </a:rPr>
              <a:t>Bhakti Kadam</a:t>
            </a:r>
            <a:endParaRPr/>
          </a:p>
        </p:txBody>
      </p:sp>
      <p:sp>
        <p:nvSpPr>
          <p:cNvPr id="465" name="Google Shape;465;p12"/>
          <p:cNvSpPr txBox="1"/>
          <p:nvPr/>
        </p:nvSpPr>
        <p:spPr>
          <a:xfrm>
            <a:off x="5018227" y="4352544"/>
            <a:ext cx="2152497" cy="292608"/>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300" b="0" i="0">
                <a:solidFill>
                  <a:srgbClr val="5B6B78"/>
                </a:solidFill>
                <a:latin typeface="Calibri"/>
                <a:ea typeface="Calibri"/>
                <a:cs typeface="Calibri"/>
                <a:sym typeface="Calibri"/>
              </a:rPr>
              <a:t>Electronics Lead</a:t>
            </a:r>
            <a:endParaRPr/>
          </a:p>
        </p:txBody>
      </p:sp>
      <p:pic>
        <p:nvPicPr>
          <p:cNvPr id="466" name="Google Shape;466;p12" descr="97d11850d2.png"/>
          <p:cNvPicPr preferRelativeResize="0"/>
          <p:nvPr/>
        </p:nvPicPr>
        <p:blipFill rotWithShape="1">
          <a:blip r:embed="rId6">
            <a:alphaModFix/>
          </a:blip>
          <a:srcRect/>
          <a:stretch/>
        </p:blipFill>
        <p:spPr>
          <a:xfrm>
            <a:off x="7675473" y="2670048"/>
            <a:ext cx="1325880" cy="1325880"/>
          </a:xfrm>
          <a:prstGeom prst="ellipse">
            <a:avLst/>
          </a:prstGeom>
          <a:noFill/>
          <a:ln w="19050" cap="flat" cmpd="sng">
            <a:solidFill>
              <a:srgbClr val="C9DBE7"/>
            </a:solidFill>
            <a:prstDash val="solid"/>
            <a:round/>
            <a:headEnd type="none" w="sm" len="sm"/>
            <a:tailEnd type="none" w="sm" len="sm"/>
          </a:ln>
        </p:spPr>
      </p:pic>
      <p:sp>
        <p:nvSpPr>
          <p:cNvPr id="467" name="Google Shape;467;p12"/>
          <p:cNvSpPr txBox="1"/>
          <p:nvPr/>
        </p:nvSpPr>
        <p:spPr>
          <a:xfrm>
            <a:off x="7262164" y="4041648"/>
            <a:ext cx="2152497" cy="329184"/>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500" b="1" i="0">
                <a:solidFill>
                  <a:srgbClr val="1E2B36"/>
                </a:solidFill>
                <a:latin typeface="Calibri"/>
                <a:ea typeface="Calibri"/>
                <a:cs typeface="Calibri"/>
                <a:sym typeface="Calibri"/>
              </a:rPr>
              <a:t>Tanmay Pendbhaje</a:t>
            </a:r>
            <a:endParaRPr/>
          </a:p>
        </p:txBody>
      </p:sp>
      <p:sp>
        <p:nvSpPr>
          <p:cNvPr id="468" name="Google Shape;468;p12"/>
          <p:cNvSpPr txBox="1"/>
          <p:nvPr/>
        </p:nvSpPr>
        <p:spPr>
          <a:xfrm>
            <a:off x="7262164" y="4352544"/>
            <a:ext cx="2152497" cy="292608"/>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300" b="0" i="0">
                <a:solidFill>
                  <a:srgbClr val="5B6B78"/>
                </a:solidFill>
                <a:latin typeface="Calibri"/>
                <a:ea typeface="Calibri"/>
                <a:cs typeface="Calibri"/>
                <a:sym typeface="Calibri"/>
              </a:rPr>
              <a:t>Software Lead</a:t>
            </a:r>
            <a:endParaRPr/>
          </a:p>
        </p:txBody>
      </p:sp>
      <p:pic>
        <p:nvPicPr>
          <p:cNvPr id="469" name="Google Shape;469;p12" descr="74727d3ee6.png"/>
          <p:cNvPicPr preferRelativeResize="0"/>
          <p:nvPr/>
        </p:nvPicPr>
        <p:blipFill rotWithShape="1">
          <a:blip r:embed="rId7">
            <a:alphaModFix/>
          </a:blip>
          <a:srcRect/>
          <a:stretch/>
        </p:blipFill>
        <p:spPr>
          <a:xfrm>
            <a:off x="9919411" y="2670048"/>
            <a:ext cx="1325880" cy="1325880"/>
          </a:xfrm>
          <a:prstGeom prst="ellipse">
            <a:avLst/>
          </a:prstGeom>
          <a:noFill/>
          <a:ln w="19050" cap="flat" cmpd="sng">
            <a:solidFill>
              <a:srgbClr val="C9DBE7"/>
            </a:solidFill>
            <a:prstDash val="solid"/>
            <a:round/>
            <a:headEnd type="none" w="sm" len="sm"/>
            <a:tailEnd type="none" w="sm" len="sm"/>
          </a:ln>
        </p:spPr>
      </p:pic>
      <p:sp>
        <p:nvSpPr>
          <p:cNvPr id="470" name="Google Shape;470;p12"/>
          <p:cNvSpPr txBox="1"/>
          <p:nvPr/>
        </p:nvSpPr>
        <p:spPr>
          <a:xfrm>
            <a:off x="9506102" y="4041648"/>
            <a:ext cx="2152497" cy="329184"/>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500" b="1" i="0">
                <a:solidFill>
                  <a:srgbClr val="1E2B36"/>
                </a:solidFill>
                <a:latin typeface="Calibri"/>
                <a:ea typeface="Calibri"/>
                <a:cs typeface="Calibri"/>
                <a:sym typeface="Calibri"/>
              </a:rPr>
              <a:t>Dr. Kiran Wakchaure</a:t>
            </a:r>
            <a:endParaRPr/>
          </a:p>
        </p:txBody>
      </p:sp>
      <p:sp>
        <p:nvSpPr>
          <p:cNvPr id="471" name="Google Shape;471;p12"/>
          <p:cNvSpPr txBox="1"/>
          <p:nvPr/>
        </p:nvSpPr>
        <p:spPr>
          <a:xfrm>
            <a:off x="9506102" y="4352544"/>
            <a:ext cx="2152497" cy="292608"/>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300" b="0" i="0">
                <a:solidFill>
                  <a:srgbClr val="5B6B78"/>
                </a:solidFill>
                <a:latin typeface="Calibri"/>
                <a:ea typeface="Calibri"/>
                <a:cs typeface="Calibri"/>
                <a:sym typeface="Calibri"/>
              </a:rPr>
              <a:t>Mentor</a:t>
            </a:r>
            <a:endParaRPr/>
          </a:p>
        </p:txBody>
      </p:sp>
      <p:sp>
        <p:nvSpPr>
          <p:cNvPr id="472" name="Google Shape;472;p12"/>
          <p:cNvSpPr txBox="1"/>
          <p:nvPr/>
        </p:nvSpPr>
        <p:spPr>
          <a:xfrm>
            <a:off x="484632" y="4846320"/>
            <a:ext cx="11219688" cy="548640"/>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2800" b="1" i="0">
                <a:solidFill>
                  <a:srgbClr val="125A88"/>
                </a:solidFill>
                <a:latin typeface="Calibri"/>
                <a:ea typeface="Calibri"/>
                <a:cs typeface="Calibri"/>
                <a:sym typeface="Calibri"/>
              </a:rPr>
              <a:t>Thank you. We'd love your questions.</a:t>
            </a:r>
            <a:endParaRPr/>
          </a:p>
        </p:txBody>
      </p:sp>
      <p:sp>
        <p:nvSpPr>
          <p:cNvPr id="473" name="Google Shape;473;p12"/>
          <p:cNvSpPr txBox="1"/>
          <p:nvPr/>
        </p:nvSpPr>
        <p:spPr>
          <a:xfrm>
            <a:off x="484632" y="5440680"/>
            <a:ext cx="11219688" cy="365760"/>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400" b="0" i="0">
                <a:solidFill>
                  <a:srgbClr val="5B6B78"/>
                </a:solidFill>
                <a:latin typeface="Calibri"/>
                <a:ea typeface="Calibri"/>
                <a:cs typeface="Calibri"/>
                <a:sym typeface="Calibri"/>
              </a:rPr>
              <a:t>Sanjivani Hero's Journey · Sanjivani University, Kopargaon · AG26-1500$41</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8"/>
                                        </p:tgtEl>
                                        <p:attrNameLst>
                                          <p:attrName>style.visibility</p:attrName>
                                        </p:attrNameLst>
                                      </p:cBhvr>
                                      <p:to>
                                        <p:strVal val="visible"/>
                                      </p:to>
                                    </p:set>
                                    <p:animEffect transition="in" filter="fade">
                                      <p:cBhvr>
                                        <p:cTn id="7" dur="300"/>
                                        <p:tgtEl>
                                          <p:spTgt spid="448"/>
                                        </p:tgtEl>
                                      </p:cBhvr>
                                    </p:animEffect>
                                  </p:childTnLst>
                                </p:cTn>
                              </p:par>
                              <p:par>
                                <p:cTn id="8" presetID="10" presetClass="entr" presetSubtype="0" fill="hold" nodeType="withEffect">
                                  <p:stCondLst>
                                    <p:cond delay="0"/>
                                  </p:stCondLst>
                                  <p:childTnLst>
                                    <p:set>
                                      <p:cBhvr>
                                        <p:cTn id="9" dur="1" fill="hold">
                                          <p:stCondLst>
                                            <p:cond delay="0"/>
                                          </p:stCondLst>
                                        </p:cTn>
                                        <p:tgtEl>
                                          <p:spTgt spid="449"/>
                                        </p:tgtEl>
                                        <p:attrNameLst>
                                          <p:attrName>style.visibility</p:attrName>
                                        </p:attrNameLst>
                                      </p:cBhvr>
                                      <p:to>
                                        <p:strVal val="visible"/>
                                      </p:to>
                                    </p:set>
                                    <p:animEffect transition="in" filter="fade">
                                      <p:cBhvr>
                                        <p:cTn id="10" dur="300"/>
                                        <p:tgtEl>
                                          <p:spTgt spid="449"/>
                                        </p:tgtEl>
                                      </p:cBhvr>
                                    </p:animEffect>
                                  </p:childTnLst>
                                </p:cTn>
                              </p:par>
                              <p:par>
                                <p:cTn id="11" presetID="10" presetClass="entr" presetSubtype="0" fill="hold" nodeType="withEffect">
                                  <p:stCondLst>
                                    <p:cond delay="0"/>
                                  </p:stCondLst>
                                  <p:childTnLst>
                                    <p:set>
                                      <p:cBhvr>
                                        <p:cTn id="12" dur="1" fill="hold">
                                          <p:stCondLst>
                                            <p:cond delay="0"/>
                                          </p:stCondLst>
                                        </p:cTn>
                                        <p:tgtEl>
                                          <p:spTgt spid="450"/>
                                        </p:tgtEl>
                                        <p:attrNameLst>
                                          <p:attrName>style.visibility</p:attrName>
                                        </p:attrNameLst>
                                      </p:cBhvr>
                                      <p:to>
                                        <p:strVal val="visible"/>
                                      </p:to>
                                    </p:set>
                                    <p:animEffect transition="in" filter="fade">
                                      <p:cBhvr>
                                        <p:cTn id="13" dur="300"/>
                                        <p:tgtEl>
                                          <p:spTgt spid="450"/>
                                        </p:tgtEl>
                                      </p:cBhvr>
                                    </p:animEffect>
                                  </p:childTnLst>
                                </p:cTn>
                              </p:par>
                            </p:childTnLst>
                          </p:cTn>
                        </p:par>
                        <p:par>
                          <p:cTn id="14" fill="hold">
                            <p:stCondLst>
                              <p:cond delay="300"/>
                            </p:stCondLst>
                            <p:childTnLst>
                              <p:par>
                                <p:cTn id="15" presetID="10" presetClass="entr" presetSubtype="0" fill="hold" nodeType="afterEffect">
                                  <p:stCondLst>
                                    <p:cond delay="0"/>
                                  </p:stCondLst>
                                  <p:childTnLst>
                                    <p:set>
                                      <p:cBhvr>
                                        <p:cTn id="16" dur="1" fill="hold">
                                          <p:stCondLst>
                                            <p:cond delay="0"/>
                                          </p:stCondLst>
                                        </p:cTn>
                                        <p:tgtEl>
                                          <p:spTgt spid="451"/>
                                        </p:tgtEl>
                                        <p:attrNameLst>
                                          <p:attrName>style.visibility</p:attrName>
                                        </p:attrNameLst>
                                      </p:cBhvr>
                                      <p:to>
                                        <p:strVal val="visible"/>
                                      </p:to>
                                    </p:set>
                                    <p:animEffect transition="in" filter="fade">
                                      <p:cBhvr>
                                        <p:cTn id="17" dur="300"/>
                                        <p:tgtEl>
                                          <p:spTgt spid="451"/>
                                        </p:tgtEl>
                                      </p:cBhvr>
                                    </p:animEffect>
                                  </p:childTnLst>
                                </p:cTn>
                              </p:par>
                              <p:par>
                                <p:cTn id="18" presetID="10" presetClass="entr" presetSubtype="0" fill="hold" nodeType="withEffect">
                                  <p:stCondLst>
                                    <p:cond delay="0"/>
                                  </p:stCondLst>
                                  <p:childTnLst>
                                    <p:set>
                                      <p:cBhvr>
                                        <p:cTn id="19" dur="1" fill="hold">
                                          <p:stCondLst>
                                            <p:cond delay="0"/>
                                          </p:stCondLst>
                                        </p:cTn>
                                        <p:tgtEl>
                                          <p:spTgt spid="452"/>
                                        </p:tgtEl>
                                        <p:attrNameLst>
                                          <p:attrName>style.visibility</p:attrName>
                                        </p:attrNameLst>
                                      </p:cBhvr>
                                      <p:to>
                                        <p:strVal val="visible"/>
                                      </p:to>
                                    </p:set>
                                    <p:animEffect transition="in" filter="fade">
                                      <p:cBhvr>
                                        <p:cTn id="20" dur="300"/>
                                        <p:tgtEl>
                                          <p:spTgt spid="452"/>
                                        </p:tgtEl>
                                      </p:cBhvr>
                                    </p:animEffect>
                                  </p:childTnLst>
                                </p:cTn>
                              </p:par>
                              <p:par>
                                <p:cTn id="21" presetID="10" presetClass="entr" presetSubtype="0" fill="hold" nodeType="withEffect">
                                  <p:stCondLst>
                                    <p:cond delay="0"/>
                                  </p:stCondLst>
                                  <p:childTnLst>
                                    <p:set>
                                      <p:cBhvr>
                                        <p:cTn id="22" dur="1" fill="hold">
                                          <p:stCondLst>
                                            <p:cond delay="0"/>
                                          </p:stCondLst>
                                        </p:cTn>
                                        <p:tgtEl>
                                          <p:spTgt spid="453"/>
                                        </p:tgtEl>
                                        <p:attrNameLst>
                                          <p:attrName>style.visibility</p:attrName>
                                        </p:attrNameLst>
                                      </p:cBhvr>
                                      <p:to>
                                        <p:strVal val="visible"/>
                                      </p:to>
                                    </p:set>
                                    <p:animEffect transition="in" filter="fade">
                                      <p:cBhvr>
                                        <p:cTn id="23" dur="300"/>
                                        <p:tgtEl>
                                          <p:spTgt spid="453"/>
                                        </p:tgtEl>
                                      </p:cBhvr>
                                    </p:animEffect>
                                  </p:childTnLst>
                                </p:cTn>
                              </p:par>
                            </p:childTnLst>
                          </p:cTn>
                        </p:par>
                        <p:par>
                          <p:cTn id="24" fill="hold">
                            <p:stCondLst>
                              <p:cond delay="600"/>
                            </p:stCondLst>
                            <p:childTnLst>
                              <p:par>
                                <p:cTn id="25" presetID="10" presetClass="entr" presetSubtype="0" fill="hold" nodeType="afterEffect">
                                  <p:stCondLst>
                                    <p:cond delay="0"/>
                                  </p:stCondLst>
                                  <p:childTnLst>
                                    <p:set>
                                      <p:cBhvr>
                                        <p:cTn id="26" dur="1" fill="hold">
                                          <p:stCondLst>
                                            <p:cond delay="0"/>
                                          </p:stCondLst>
                                        </p:cTn>
                                        <p:tgtEl>
                                          <p:spTgt spid="454"/>
                                        </p:tgtEl>
                                        <p:attrNameLst>
                                          <p:attrName>style.visibility</p:attrName>
                                        </p:attrNameLst>
                                      </p:cBhvr>
                                      <p:to>
                                        <p:strVal val="visible"/>
                                      </p:to>
                                    </p:set>
                                    <p:animEffect transition="in" filter="fade">
                                      <p:cBhvr>
                                        <p:cTn id="27" dur="300"/>
                                        <p:tgtEl>
                                          <p:spTgt spid="454"/>
                                        </p:tgtEl>
                                      </p:cBhvr>
                                    </p:animEffect>
                                  </p:childTnLst>
                                </p:cTn>
                              </p:par>
                              <p:par>
                                <p:cTn id="28" presetID="10" presetClass="entr" presetSubtype="0" fill="hold" nodeType="withEffect">
                                  <p:stCondLst>
                                    <p:cond delay="0"/>
                                  </p:stCondLst>
                                  <p:childTnLst>
                                    <p:set>
                                      <p:cBhvr>
                                        <p:cTn id="29" dur="1" fill="hold">
                                          <p:stCondLst>
                                            <p:cond delay="0"/>
                                          </p:stCondLst>
                                        </p:cTn>
                                        <p:tgtEl>
                                          <p:spTgt spid="455"/>
                                        </p:tgtEl>
                                        <p:attrNameLst>
                                          <p:attrName>style.visibility</p:attrName>
                                        </p:attrNameLst>
                                      </p:cBhvr>
                                      <p:to>
                                        <p:strVal val="visible"/>
                                      </p:to>
                                    </p:set>
                                    <p:animEffect transition="in" filter="fade">
                                      <p:cBhvr>
                                        <p:cTn id="30" dur="300"/>
                                        <p:tgtEl>
                                          <p:spTgt spid="455"/>
                                        </p:tgtEl>
                                      </p:cBhvr>
                                    </p:animEffect>
                                  </p:childTnLst>
                                </p:cTn>
                              </p:par>
                              <p:par>
                                <p:cTn id="31" presetID="10" presetClass="entr" presetSubtype="0" fill="hold" nodeType="withEffect">
                                  <p:stCondLst>
                                    <p:cond delay="0"/>
                                  </p:stCondLst>
                                  <p:childTnLst>
                                    <p:set>
                                      <p:cBhvr>
                                        <p:cTn id="32" dur="1" fill="hold">
                                          <p:stCondLst>
                                            <p:cond delay="0"/>
                                          </p:stCondLst>
                                        </p:cTn>
                                        <p:tgtEl>
                                          <p:spTgt spid="456"/>
                                        </p:tgtEl>
                                        <p:attrNameLst>
                                          <p:attrName>style.visibility</p:attrName>
                                        </p:attrNameLst>
                                      </p:cBhvr>
                                      <p:to>
                                        <p:strVal val="visible"/>
                                      </p:to>
                                    </p:set>
                                    <p:animEffect transition="in" filter="fade">
                                      <p:cBhvr>
                                        <p:cTn id="33" dur="300"/>
                                        <p:tgtEl>
                                          <p:spTgt spid="456"/>
                                        </p:tgtEl>
                                      </p:cBhvr>
                                    </p:animEffect>
                                  </p:childTnLst>
                                </p:cTn>
                              </p:par>
                            </p:childTnLst>
                          </p:cTn>
                        </p:par>
                        <p:par>
                          <p:cTn id="34" fill="hold">
                            <p:stCondLst>
                              <p:cond delay="900"/>
                            </p:stCondLst>
                            <p:childTnLst>
                              <p:par>
                                <p:cTn id="35" presetID="10" presetClass="entr" presetSubtype="0" fill="hold" nodeType="afterEffect">
                                  <p:stCondLst>
                                    <p:cond delay="0"/>
                                  </p:stCondLst>
                                  <p:childTnLst>
                                    <p:set>
                                      <p:cBhvr>
                                        <p:cTn id="36" dur="1" fill="hold">
                                          <p:stCondLst>
                                            <p:cond delay="0"/>
                                          </p:stCondLst>
                                        </p:cTn>
                                        <p:tgtEl>
                                          <p:spTgt spid="457"/>
                                        </p:tgtEl>
                                        <p:attrNameLst>
                                          <p:attrName>style.visibility</p:attrName>
                                        </p:attrNameLst>
                                      </p:cBhvr>
                                      <p:to>
                                        <p:strVal val="visible"/>
                                      </p:to>
                                    </p:set>
                                    <p:animEffect transition="in" filter="fade">
                                      <p:cBhvr>
                                        <p:cTn id="37" dur="300"/>
                                        <p:tgtEl>
                                          <p:spTgt spid="457"/>
                                        </p:tgtEl>
                                      </p:cBhvr>
                                    </p:animEffect>
                                  </p:childTnLst>
                                </p:cTn>
                              </p:par>
                              <p:par>
                                <p:cTn id="38" presetID="10" presetClass="entr" presetSubtype="0" fill="hold" nodeType="withEffect">
                                  <p:stCondLst>
                                    <p:cond delay="0"/>
                                  </p:stCondLst>
                                  <p:childTnLst>
                                    <p:set>
                                      <p:cBhvr>
                                        <p:cTn id="39" dur="1" fill="hold">
                                          <p:stCondLst>
                                            <p:cond delay="0"/>
                                          </p:stCondLst>
                                        </p:cTn>
                                        <p:tgtEl>
                                          <p:spTgt spid="458"/>
                                        </p:tgtEl>
                                        <p:attrNameLst>
                                          <p:attrName>style.visibility</p:attrName>
                                        </p:attrNameLst>
                                      </p:cBhvr>
                                      <p:to>
                                        <p:strVal val="visible"/>
                                      </p:to>
                                    </p:set>
                                    <p:animEffect transition="in" filter="fade">
                                      <p:cBhvr>
                                        <p:cTn id="40" dur="300"/>
                                        <p:tgtEl>
                                          <p:spTgt spid="458"/>
                                        </p:tgtEl>
                                      </p:cBhvr>
                                    </p:animEffect>
                                  </p:childTnLst>
                                </p:cTn>
                              </p:par>
                              <p:par>
                                <p:cTn id="41" presetID="10" presetClass="entr" presetSubtype="0" fill="hold" nodeType="withEffect">
                                  <p:stCondLst>
                                    <p:cond delay="0"/>
                                  </p:stCondLst>
                                  <p:childTnLst>
                                    <p:set>
                                      <p:cBhvr>
                                        <p:cTn id="42" dur="1" fill="hold">
                                          <p:stCondLst>
                                            <p:cond delay="0"/>
                                          </p:stCondLst>
                                        </p:cTn>
                                        <p:tgtEl>
                                          <p:spTgt spid="459"/>
                                        </p:tgtEl>
                                        <p:attrNameLst>
                                          <p:attrName>style.visibility</p:attrName>
                                        </p:attrNameLst>
                                      </p:cBhvr>
                                      <p:to>
                                        <p:strVal val="visible"/>
                                      </p:to>
                                    </p:set>
                                    <p:animEffect transition="in" filter="fade">
                                      <p:cBhvr>
                                        <p:cTn id="43" dur="300"/>
                                        <p:tgtEl>
                                          <p:spTgt spid="459"/>
                                        </p:tgtEl>
                                      </p:cBhvr>
                                    </p:animEffect>
                                  </p:childTnLst>
                                </p:cTn>
                              </p:par>
                            </p:childTnLst>
                          </p:cTn>
                        </p:par>
                        <p:par>
                          <p:cTn id="44" fill="hold">
                            <p:stCondLst>
                              <p:cond delay="1200"/>
                            </p:stCondLst>
                            <p:childTnLst>
                              <p:par>
                                <p:cTn id="45" presetID="10" presetClass="entr" presetSubtype="0" fill="hold" nodeType="afterEffect">
                                  <p:stCondLst>
                                    <p:cond delay="0"/>
                                  </p:stCondLst>
                                  <p:childTnLst>
                                    <p:set>
                                      <p:cBhvr>
                                        <p:cTn id="46" dur="1" fill="hold">
                                          <p:stCondLst>
                                            <p:cond delay="0"/>
                                          </p:stCondLst>
                                        </p:cTn>
                                        <p:tgtEl>
                                          <p:spTgt spid="460"/>
                                        </p:tgtEl>
                                        <p:attrNameLst>
                                          <p:attrName>style.visibility</p:attrName>
                                        </p:attrNameLst>
                                      </p:cBhvr>
                                      <p:to>
                                        <p:strVal val="visible"/>
                                      </p:to>
                                    </p:set>
                                    <p:animEffect transition="in" filter="fade">
                                      <p:cBhvr>
                                        <p:cTn id="47" dur="300"/>
                                        <p:tgtEl>
                                          <p:spTgt spid="460"/>
                                        </p:tgtEl>
                                      </p:cBhvr>
                                    </p:animEffect>
                                  </p:childTnLst>
                                </p:cTn>
                              </p:par>
                              <p:par>
                                <p:cTn id="48" presetID="10" presetClass="entr" presetSubtype="0" fill="hold" nodeType="withEffect">
                                  <p:stCondLst>
                                    <p:cond delay="0"/>
                                  </p:stCondLst>
                                  <p:childTnLst>
                                    <p:set>
                                      <p:cBhvr>
                                        <p:cTn id="49" dur="1" fill="hold">
                                          <p:stCondLst>
                                            <p:cond delay="0"/>
                                          </p:stCondLst>
                                        </p:cTn>
                                        <p:tgtEl>
                                          <p:spTgt spid="461"/>
                                        </p:tgtEl>
                                        <p:attrNameLst>
                                          <p:attrName>style.visibility</p:attrName>
                                        </p:attrNameLst>
                                      </p:cBhvr>
                                      <p:to>
                                        <p:strVal val="visible"/>
                                      </p:to>
                                    </p:set>
                                    <p:animEffect transition="in" filter="fade">
                                      <p:cBhvr>
                                        <p:cTn id="50" dur="300"/>
                                        <p:tgtEl>
                                          <p:spTgt spid="461"/>
                                        </p:tgtEl>
                                      </p:cBhvr>
                                    </p:animEffect>
                                  </p:childTnLst>
                                </p:cTn>
                              </p:par>
                              <p:par>
                                <p:cTn id="51" presetID="10" presetClass="entr" presetSubtype="0" fill="hold" nodeType="withEffect">
                                  <p:stCondLst>
                                    <p:cond delay="0"/>
                                  </p:stCondLst>
                                  <p:childTnLst>
                                    <p:set>
                                      <p:cBhvr>
                                        <p:cTn id="52" dur="1" fill="hold">
                                          <p:stCondLst>
                                            <p:cond delay="0"/>
                                          </p:stCondLst>
                                        </p:cTn>
                                        <p:tgtEl>
                                          <p:spTgt spid="462"/>
                                        </p:tgtEl>
                                        <p:attrNameLst>
                                          <p:attrName>style.visibility</p:attrName>
                                        </p:attrNameLst>
                                      </p:cBhvr>
                                      <p:to>
                                        <p:strVal val="visible"/>
                                      </p:to>
                                    </p:set>
                                    <p:animEffect transition="in" filter="fade">
                                      <p:cBhvr>
                                        <p:cTn id="53" dur="300"/>
                                        <p:tgtEl>
                                          <p:spTgt spid="462"/>
                                        </p:tgtEl>
                                      </p:cBhvr>
                                    </p:animEffect>
                                  </p:childTnLst>
                                </p:cTn>
                              </p:par>
                            </p:childTnLst>
                          </p:cTn>
                        </p:par>
                        <p:par>
                          <p:cTn id="54" fill="hold">
                            <p:stCondLst>
                              <p:cond delay="1500"/>
                            </p:stCondLst>
                            <p:childTnLst>
                              <p:par>
                                <p:cTn id="55" presetID="10" presetClass="entr" presetSubtype="0" fill="hold" nodeType="afterEffect">
                                  <p:stCondLst>
                                    <p:cond delay="0"/>
                                  </p:stCondLst>
                                  <p:childTnLst>
                                    <p:set>
                                      <p:cBhvr>
                                        <p:cTn id="56" dur="1" fill="hold">
                                          <p:stCondLst>
                                            <p:cond delay="0"/>
                                          </p:stCondLst>
                                        </p:cTn>
                                        <p:tgtEl>
                                          <p:spTgt spid="463"/>
                                        </p:tgtEl>
                                        <p:attrNameLst>
                                          <p:attrName>style.visibility</p:attrName>
                                        </p:attrNameLst>
                                      </p:cBhvr>
                                      <p:to>
                                        <p:strVal val="visible"/>
                                      </p:to>
                                    </p:set>
                                    <p:animEffect transition="in" filter="fade">
                                      <p:cBhvr>
                                        <p:cTn id="57" dur="300"/>
                                        <p:tgtEl>
                                          <p:spTgt spid="463"/>
                                        </p:tgtEl>
                                      </p:cBhvr>
                                    </p:animEffect>
                                  </p:childTnLst>
                                </p:cTn>
                              </p:par>
                              <p:par>
                                <p:cTn id="58" presetID="10" presetClass="entr" presetSubtype="0" fill="hold" nodeType="withEffect">
                                  <p:stCondLst>
                                    <p:cond delay="0"/>
                                  </p:stCondLst>
                                  <p:childTnLst>
                                    <p:set>
                                      <p:cBhvr>
                                        <p:cTn id="59" dur="1" fill="hold">
                                          <p:stCondLst>
                                            <p:cond delay="0"/>
                                          </p:stCondLst>
                                        </p:cTn>
                                        <p:tgtEl>
                                          <p:spTgt spid="464"/>
                                        </p:tgtEl>
                                        <p:attrNameLst>
                                          <p:attrName>style.visibility</p:attrName>
                                        </p:attrNameLst>
                                      </p:cBhvr>
                                      <p:to>
                                        <p:strVal val="visible"/>
                                      </p:to>
                                    </p:set>
                                    <p:animEffect transition="in" filter="fade">
                                      <p:cBhvr>
                                        <p:cTn id="60" dur="300"/>
                                        <p:tgtEl>
                                          <p:spTgt spid="464"/>
                                        </p:tgtEl>
                                      </p:cBhvr>
                                    </p:animEffect>
                                  </p:childTnLst>
                                </p:cTn>
                              </p:par>
                              <p:par>
                                <p:cTn id="61" presetID="10" presetClass="entr" presetSubtype="0" fill="hold" nodeType="withEffect">
                                  <p:stCondLst>
                                    <p:cond delay="0"/>
                                  </p:stCondLst>
                                  <p:childTnLst>
                                    <p:set>
                                      <p:cBhvr>
                                        <p:cTn id="62" dur="1" fill="hold">
                                          <p:stCondLst>
                                            <p:cond delay="0"/>
                                          </p:stCondLst>
                                        </p:cTn>
                                        <p:tgtEl>
                                          <p:spTgt spid="465"/>
                                        </p:tgtEl>
                                        <p:attrNameLst>
                                          <p:attrName>style.visibility</p:attrName>
                                        </p:attrNameLst>
                                      </p:cBhvr>
                                      <p:to>
                                        <p:strVal val="visible"/>
                                      </p:to>
                                    </p:set>
                                    <p:animEffect transition="in" filter="fade">
                                      <p:cBhvr>
                                        <p:cTn id="63" dur="300"/>
                                        <p:tgtEl>
                                          <p:spTgt spid="465"/>
                                        </p:tgtEl>
                                      </p:cBhvr>
                                    </p:animEffect>
                                  </p:childTnLst>
                                </p:cTn>
                              </p:par>
                            </p:childTnLst>
                          </p:cTn>
                        </p:par>
                        <p:par>
                          <p:cTn id="64" fill="hold">
                            <p:stCondLst>
                              <p:cond delay="1800"/>
                            </p:stCondLst>
                            <p:childTnLst>
                              <p:par>
                                <p:cTn id="65" presetID="10" presetClass="entr" presetSubtype="0" fill="hold" nodeType="afterEffect">
                                  <p:stCondLst>
                                    <p:cond delay="0"/>
                                  </p:stCondLst>
                                  <p:childTnLst>
                                    <p:set>
                                      <p:cBhvr>
                                        <p:cTn id="66" dur="1" fill="hold">
                                          <p:stCondLst>
                                            <p:cond delay="0"/>
                                          </p:stCondLst>
                                        </p:cTn>
                                        <p:tgtEl>
                                          <p:spTgt spid="466"/>
                                        </p:tgtEl>
                                        <p:attrNameLst>
                                          <p:attrName>style.visibility</p:attrName>
                                        </p:attrNameLst>
                                      </p:cBhvr>
                                      <p:to>
                                        <p:strVal val="visible"/>
                                      </p:to>
                                    </p:set>
                                    <p:animEffect transition="in" filter="fade">
                                      <p:cBhvr>
                                        <p:cTn id="67" dur="300"/>
                                        <p:tgtEl>
                                          <p:spTgt spid="466"/>
                                        </p:tgtEl>
                                      </p:cBhvr>
                                    </p:animEffect>
                                  </p:childTnLst>
                                </p:cTn>
                              </p:par>
                              <p:par>
                                <p:cTn id="68" presetID="10" presetClass="entr" presetSubtype="0" fill="hold" nodeType="withEffect">
                                  <p:stCondLst>
                                    <p:cond delay="0"/>
                                  </p:stCondLst>
                                  <p:childTnLst>
                                    <p:set>
                                      <p:cBhvr>
                                        <p:cTn id="69" dur="1" fill="hold">
                                          <p:stCondLst>
                                            <p:cond delay="0"/>
                                          </p:stCondLst>
                                        </p:cTn>
                                        <p:tgtEl>
                                          <p:spTgt spid="467"/>
                                        </p:tgtEl>
                                        <p:attrNameLst>
                                          <p:attrName>style.visibility</p:attrName>
                                        </p:attrNameLst>
                                      </p:cBhvr>
                                      <p:to>
                                        <p:strVal val="visible"/>
                                      </p:to>
                                    </p:set>
                                    <p:animEffect transition="in" filter="fade">
                                      <p:cBhvr>
                                        <p:cTn id="70" dur="300"/>
                                        <p:tgtEl>
                                          <p:spTgt spid="467"/>
                                        </p:tgtEl>
                                      </p:cBhvr>
                                    </p:animEffect>
                                  </p:childTnLst>
                                </p:cTn>
                              </p:par>
                              <p:par>
                                <p:cTn id="71" presetID="10" presetClass="entr" presetSubtype="0" fill="hold" nodeType="withEffect">
                                  <p:stCondLst>
                                    <p:cond delay="0"/>
                                  </p:stCondLst>
                                  <p:childTnLst>
                                    <p:set>
                                      <p:cBhvr>
                                        <p:cTn id="72" dur="1" fill="hold">
                                          <p:stCondLst>
                                            <p:cond delay="0"/>
                                          </p:stCondLst>
                                        </p:cTn>
                                        <p:tgtEl>
                                          <p:spTgt spid="468"/>
                                        </p:tgtEl>
                                        <p:attrNameLst>
                                          <p:attrName>style.visibility</p:attrName>
                                        </p:attrNameLst>
                                      </p:cBhvr>
                                      <p:to>
                                        <p:strVal val="visible"/>
                                      </p:to>
                                    </p:set>
                                    <p:animEffect transition="in" filter="fade">
                                      <p:cBhvr>
                                        <p:cTn id="73" dur="300"/>
                                        <p:tgtEl>
                                          <p:spTgt spid="468"/>
                                        </p:tgtEl>
                                      </p:cBhvr>
                                    </p:animEffect>
                                  </p:childTnLst>
                                </p:cTn>
                              </p:par>
                            </p:childTnLst>
                          </p:cTn>
                        </p:par>
                        <p:par>
                          <p:cTn id="74" fill="hold">
                            <p:stCondLst>
                              <p:cond delay="2100"/>
                            </p:stCondLst>
                            <p:childTnLst>
                              <p:par>
                                <p:cTn id="75" presetID="10" presetClass="entr" presetSubtype="0" fill="hold" nodeType="afterEffect">
                                  <p:stCondLst>
                                    <p:cond delay="0"/>
                                  </p:stCondLst>
                                  <p:childTnLst>
                                    <p:set>
                                      <p:cBhvr>
                                        <p:cTn id="76" dur="1" fill="hold">
                                          <p:stCondLst>
                                            <p:cond delay="0"/>
                                          </p:stCondLst>
                                        </p:cTn>
                                        <p:tgtEl>
                                          <p:spTgt spid="469"/>
                                        </p:tgtEl>
                                        <p:attrNameLst>
                                          <p:attrName>style.visibility</p:attrName>
                                        </p:attrNameLst>
                                      </p:cBhvr>
                                      <p:to>
                                        <p:strVal val="visible"/>
                                      </p:to>
                                    </p:set>
                                    <p:animEffect transition="in" filter="fade">
                                      <p:cBhvr>
                                        <p:cTn id="77" dur="300"/>
                                        <p:tgtEl>
                                          <p:spTgt spid="469"/>
                                        </p:tgtEl>
                                      </p:cBhvr>
                                    </p:animEffect>
                                  </p:childTnLst>
                                </p:cTn>
                              </p:par>
                              <p:par>
                                <p:cTn id="78" presetID="10" presetClass="entr" presetSubtype="0" fill="hold" nodeType="withEffect">
                                  <p:stCondLst>
                                    <p:cond delay="0"/>
                                  </p:stCondLst>
                                  <p:childTnLst>
                                    <p:set>
                                      <p:cBhvr>
                                        <p:cTn id="79" dur="1" fill="hold">
                                          <p:stCondLst>
                                            <p:cond delay="0"/>
                                          </p:stCondLst>
                                        </p:cTn>
                                        <p:tgtEl>
                                          <p:spTgt spid="470"/>
                                        </p:tgtEl>
                                        <p:attrNameLst>
                                          <p:attrName>style.visibility</p:attrName>
                                        </p:attrNameLst>
                                      </p:cBhvr>
                                      <p:to>
                                        <p:strVal val="visible"/>
                                      </p:to>
                                    </p:set>
                                    <p:animEffect transition="in" filter="fade">
                                      <p:cBhvr>
                                        <p:cTn id="80" dur="300"/>
                                        <p:tgtEl>
                                          <p:spTgt spid="470"/>
                                        </p:tgtEl>
                                      </p:cBhvr>
                                    </p:animEffect>
                                  </p:childTnLst>
                                </p:cTn>
                              </p:par>
                              <p:par>
                                <p:cTn id="81" presetID="10" presetClass="entr" presetSubtype="0" fill="hold" nodeType="withEffect">
                                  <p:stCondLst>
                                    <p:cond delay="0"/>
                                  </p:stCondLst>
                                  <p:childTnLst>
                                    <p:set>
                                      <p:cBhvr>
                                        <p:cTn id="82" dur="1" fill="hold">
                                          <p:stCondLst>
                                            <p:cond delay="0"/>
                                          </p:stCondLst>
                                        </p:cTn>
                                        <p:tgtEl>
                                          <p:spTgt spid="471"/>
                                        </p:tgtEl>
                                        <p:attrNameLst>
                                          <p:attrName>style.visibility</p:attrName>
                                        </p:attrNameLst>
                                      </p:cBhvr>
                                      <p:to>
                                        <p:strVal val="visible"/>
                                      </p:to>
                                    </p:set>
                                    <p:animEffect transition="in" filter="fade">
                                      <p:cBhvr>
                                        <p:cTn id="83" dur="300"/>
                                        <p:tgtEl>
                                          <p:spTgt spid="471"/>
                                        </p:tgtEl>
                                      </p:cBhvr>
                                    </p:animEffect>
                                  </p:childTnLst>
                                </p:cTn>
                              </p:par>
                            </p:childTnLst>
                          </p:cTn>
                        </p:par>
                        <p:par>
                          <p:cTn id="84" fill="hold">
                            <p:stCondLst>
                              <p:cond delay="2400"/>
                            </p:stCondLst>
                            <p:childTnLst>
                              <p:par>
                                <p:cTn id="85" presetID="10" presetClass="entr" presetSubtype="0" fill="hold" nodeType="afterEffect">
                                  <p:stCondLst>
                                    <p:cond delay="0"/>
                                  </p:stCondLst>
                                  <p:childTnLst>
                                    <p:set>
                                      <p:cBhvr>
                                        <p:cTn id="86" dur="1" fill="hold">
                                          <p:stCondLst>
                                            <p:cond delay="0"/>
                                          </p:stCondLst>
                                        </p:cTn>
                                        <p:tgtEl>
                                          <p:spTgt spid="472"/>
                                        </p:tgtEl>
                                        <p:attrNameLst>
                                          <p:attrName>style.visibility</p:attrName>
                                        </p:attrNameLst>
                                      </p:cBhvr>
                                      <p:to>
                                        <p:strVal val="visible"/>
                                      </p:to>
                                    </p:set>
                                    <p:animEffect transition="in" filter="fade">
                                      <p:cBhvr>
                                        <p:cTn id="87" dur="400"/>
                                        <p:tgtEl>
                                          <p:spTgt spid="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13"/>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Questions? Click a topic</a:t>
            </a:r>
            <a:endParaRPr sz="3600" b="1" i="0">
              <a:solidFill>
                <a:srgbClr val="125A88"/>
              </a:solidFill>
              <a:latin typeface="Calibri"/>
              <a:ea typeface="Calibri"/>
              <a:cs typeface="Calibri"/>
              <a:sym typeface="Calibri"/>
            </a:endParaRPr>
          </a:p>
        </p:txBody>
      </p:sp>
      <p:sp>
        <p:nvSpPr>
          <p:cNvPr id="480" name="Google Shape;480;p13">
            <a:hlinkClick r:id="rId3" action="ppaction://hlinksldjump"/>
          </p:cNvPr>
          <p:cNvSpPr/>
          <p:nvPr/>
        </p:nvSpPr>
        <p:spPr>
          <a:xfrm>
            <a:off x="484632" y="1691640"/>
            <a:ext cx="5486400" cy="71323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1" name="Google Shape;481;p13">
            <a:hlinkClick r:id="rId3" action="ppaction://hlinksldjump"/>
          </p:cNvPr>
          <p:cNvSpPr/>
          <p:nvPr/>
        </p:nvSpPr>
        <p:spPr>
          <a:xfrm>
            <a:off x="667512" y="1810512"/>
            <a:ext cx="475488" cy="475488"/>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500" b="1" i="0">
                <a:solidFill>
                  <a:srgbClr val="FFFFFF"/>
                </a:solidFill>
                <a:latin typeface="Calibri"/>
                <a:ea typeface="Calibri"/>
                <a:cs typeface="Calibri"/>
                <a:sym typeface="Calibri"/>
              </a:rPr>
              <a:t>A1</a:t>
            </a:r>
            <a:endParaRPr/>
          </a:p>
        </p:txBody>
      </p:sp>
      <p:sp>
        <p:nvSpPr>
          <p:cNvPr id="482" name="Google Shape;482;p13">
            <a:hlinkClick r:id="rId3" action="ppaction://hlinksldjump"/>
          </p:cNvPr>
          <p:cNvSpPr txBox="1"/>
          <p:nvPr/>
        </p:nvSpPr>
        <p:spPr>
          <a:xfrm>
            <a:off x="1353312" y="1691640"/>
            <a:ext cx="4480560" cy="713232"/>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All 14 design checks pass</a:t>
            </a:r>
            <a:endParaRPr/>
          </a:p>
        </p:txBody>
      </p:sp>
      <p:sp>
        <p:nvSpPr>
          <p:cNvPr id="483" name="Google Shape;483;p13">
            <a:hlinkClick r:id="rId4" action="ppaction://hlinksldjump"/>
          </p:cNvPr>
          <p:cNvSpPr/>
          <p:nvPr/>
        </p:nvSpPr>
        <p:spPr>
          <a:xfrm>
            <a:off x="484632" y="2532888"/>
            <a:ext cx="5486400" cy="71323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4" name="Google Shape;484;p13">
            <a:hlinkClick r:id="rId4" action="ppaction://hlinksldjump"/>
          </p:cNvPr>
          <p:cNvSpPr/>
          <p:nvPr/>
        </p:nvSpPr>
        <p:spPr>
          <a:xfrm>
            <a:off x="667512" y="2651760"/>
            <a:ext cx="475488" cy="475488"/>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500" b="1" i="0">
                <a:solidFill>
                  <a:srgbClr val="FFFFFF"/>
                </a:solidFill>
                <a:latin typeface="Calibri"/>
                <a:ea typeface="Calibri"/>
                <a:cs typeface="Calibri"/>
                <a:sym typeface="Calibri"/>
              </a:rPr>
              <a:t>A2</a:t>
            </a:r>
            <a:endParaRPr/>
          </a:p>
        </p:txBody>
      </p:sp>
      <p:sp>
        <p:nvSpPr>
          <p:cNvPr id="485" name="Google Shape;485;p13">
            <a:hlinkClick r:id="rId4" action="ppaction://hlinksldjump"/>
          </p:cNvPr>
          <p:cNvSpPr txBox="1"/>
          <p:nvPr/>
        </p:nvSpPr>
        <p:spPr>
          <a:xfrm>
            <a:off x="1353312" y="2532888"/>
            <a:ext cx="4480560" cy="713232"/>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Pole safety factor: we quote the lowest</a:t>
            </a:r>
            <a:endParaRPr/>
          </a:p>
        </p:txBody>
      </p:sp>
      <p:sp>
        <p:nvSpPr>
          <p:cNvPr id="486" name="Google Shape;486;p13">
            <a:hlinkClick r:id="rId5" action="ppaction://hlinksldjump"/>
          </p:cNvPr>
          <p:cNvSpPr/>
          <p:nvPr/>
        </p:nvSpPr>
        <p:spPr>
          <a:xfrm>
            <a:off x="484632" y="3374136"/>
            <a:ext cx="5486400" cy="71323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7" name="Google Shape;487;p13">
            <a:hlinkClick r:id="rId5" action="ppaction://hlinksldjump"/>
          </p:cNvPr>
          <p:cNvSpPr/>
          <p:nvPr/>
        </p:nvSpPr>
        <p:spPr>
          <a:xfrm>
            <a:off x="667512" y="3493008"/>
            <a:ext cx="475488" cy="475488"/>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500" b="1" i="0">
                <a:solidFill>
                  <a:srgbClr val="FFFFFF"/>
                </a:solidFill>
                <a:latin typeface="Calibri"/>
                <a:ea typeface="Calibri"/>
                <a:cs typeface="Calibri"/>
                <a:sym typeface="Calibri"/>
              </a:rPr>
              <a:t>A3</a:t>
            </a:r>
            <a:endParaRPr/>
          </a:p>
        </p:txBody>
      </p:sp>
      <p:sp>
        <p:nvSpPr>
          <p:cNvPr id="488" name="Google Shape;488;p13">
            <a:hlinkClick r:id="rId5" action="ppaction://hlinksldjump"/>
          </p:cNvPr>
          <p:cNvSpPr txBox="1"/>
          <p:nvPr/>
        </p:nvSpPr>
        <p:spPr>
          <a:xfrm>
            <a:off x="1353312" y="3374136"/>
            <a:ext cx="4480560" cy="713232"/>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Power: about 12 days without sun</a:t>
            </a:r>
            <a:endParaRPr/>
          </a:p>
        </p:txBody>
      </p:sp>
      <p:sp>
        <p:nvSpPr>
          <p:cNvPr id="489" name="Google Shape;489;p13">
            <a:hlinkClick r:id="rId6" action="ppaction://hlinksldjump"/>
          </p:cNvPr>
          <p:cNvSpPr/>
          <p:nvPr/>
        </p:nvSpPr>
        <p:spPr>
          <a:xfrm>
            <a:off x="484632" y="4215384"/>
            <a:ext cx="5486400" cy="71323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0" name="Google Shape;490;p13">
            <a:hlinkClick r:id="rId6" action="ppaction://hlinksldjump"/>
          </p:cNvPr>
          <p:cNvSpPr/>
          <p:nvPr/>
        </p:nvSpPr>
        <p:spPr>
          <a:xfrm>
            <a:off x="667512" y="4334256"/>
            <a:ext cx="475488" cy="475488"/>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500" b="1" i="0">
                <a:solidFill>
                  <a:srgbClr val="FFFFFF"/>
                </a:solidFill>
                <a:latin typeface="Calibri"/>
                <a:ea typeface="Calibri"/>
                <a:cs typeface="Calibri"/>
                <a:sym typeface="Calibri"/>
              </a:rPr>
              <a:t>A4</a:t>
            </a:r>
            <a:endParaRPr/>
          </a:p>
        </p:txBody>
      </p:sp>
      <p:sp>
        <p:nvSpPr>
          <p:cNvPr id="491" name="Google Shape;491;p13">
            <a:hlinkClick r:id="rId6" action="ppaction://hlinksldjump"/>
          </p:cNvPr>
          <p:cNvSpPr txBox="1"/>
          <p:nvPr/>
        </p:nvSpPr>
        <p:spPr>
          <a:xfrm>
            <a:off x="1353312" y="4215384"/>
            <a:ext cx="4480560" cy="713232"/>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Decision engine, and the fixes we found</a:t>
            </a:r>
            <a:endParaRPr/>
          </a:p>
        </p:txBody>
      </p:sp>
      <p:sp>
        <p:nvSpPr>
          <p:cNvPr id="492" name="Google Shape;492;p13">
            <a:hlinkClick r:id="rId7" action="ppaction://hlinksldjump"/>
          </p:cNvPr>
          <p:cNvSpPr/>
          <p:nvPr/>
        </p:nvSpPr>
        <p:spPr>
          <a:xfrm>
            <a:off x="484632" y="5056632"/>
            <a:ext cx="5486400" cy="71323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3" name="Google Shape;493;p13">
            <a:hlinkClick r:id="rId7" action="ppaction://hlinksldjump"/>
          </p:cNvPr>
          <p:cNvSpPr/>
          <p:nvPr/>
        </p:nvSpPr>
        <p:spPr>
          <a:xfrm>
            <a:off x="667512" y="5175504"/>
            <a:ext cx="475488" cy="475488"/>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500" b="1" i="0">
                <a:solidFill>
                  <a:srgbClr val="FFFFFF"/>
                </a:solidFill>
                <a:latin typeface="Calibri"/>
                <a:ea typeface="Calibri"/>
                <a:cs typeface="Calibri"/>
                <a:sym typeface="Calibri"/>
              </a:rPr>
              <a:t>A5</a:t>
            </a:r>
            <a:endParaRPr/>
          </a:p>
        </p:txBody>
      </p:sp>
      <p:sp>
        <p:nvSpPr>
          <p:cNvPr id="494" name="Google Shape;494;p13">
            <a:hlinkClick r:id="rId7" action="ppaction://hlinksldjump"/>
          </p:cNvPr>
          <p:cNvSpPr txBox="1"/>
          <p:nvPr/>
        </p:nvSpPr>
        <p:spPr>
          <a:xfrm>
            <a:off x="1353312" y="5056632"/>
            <a:ext cx="4480560" cy="713232"/>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Cost: ₹1.57 lakh, ₹1.24 lakh at 100</a:t>
            </a:r>
            <a:endParaRPr/>
          </a:p>
        </p:txBody>
      </p:sp>
      <p:sp>
        <p:nvSpPr>
          <p:cNvPr id="495" name="Google Shape;495;p13">
            <a:hlinkClick r:id="rId8" action="ppaction://hlinksldjump"/>
          </p:cNvPr>
          <p:cNvSpPr/>
          <p:nvPr/>
        </p:nvSpPr>
        <p:spPr>
          <a:xfrm>
            <a:off x="6199632" y="1691640"/>
            <a:ext cx="5486400" cy="71323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6" name="Google Shape;496;p13">
            <a:hlinkClick r:id="rId8" action="ppaction://hlinksldjump"/>
          </p:cNvPr>
          <p:cNvSpPr/>
          <p:nvPr/>
        </p:nvSpPr>
        <p:spPr>
          <a:xfrm>
            <a:off x="6382512" y="1810512"/>
            <a:ext cx="475488" cy="475488"/>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500" b="1" i="0">
                <a:solidFill>
                  <a:srgbClr val="FFFFFF"/>
                </a:solidFill>
                <a:latin typeface="Calibri"/>
                <a:ea typeface="Calibri"/>
                <a:cs typeface="Calibri"/>
                <a:sym typeface="Calibri"/>
              </a:rPr>
              <a:t>A6</a:t>
            </a:r>
            <a:endParaRPr/>
          </a:p>
        </p:txBody>
      </p:sp>
      <p:sp>
        <p:nvSpPr>
          <p:cNvPr id="497" name="Google Shape;497;p13">
            <a:hlinkClick r:id="rId8" action="ppaction://hlinksldjump"/>
          </p:cNvPr>
          <p:cNvSpPr txBox="1"/>
          <p:nvPr/>
        </p:nvSpPr>
        <p:spPr>
          <a:xfrm>
            <a:off x="7068312" y="1691640"/>
            <a:ext cx="4480560" cy="713232"/>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Market: a large problem, sparse monitoring</a:t>
            </a:r>
            <a:endParaRPr/>
          </a:p>
        </p:txBody>
      </p:sp>
      <p:sp>
        <p:nvSpPr>
          <p:cNvPr id="498" name="Google Shape;498;p13">
            <a:hlinkClick r:id="rId9" action="ppaction://hlinksldjump"/>
          </p:cNvPr>
          <p:cNvSpPr/>
          <p:nvPr/>
        </p:nvSpPr>
        <p:spPr>
          <a:xfrm>
            <a:off x="6199632" y="2532888"/>
            <a:ext cx="5486400" cy="71323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9" name="Google Shape;499;p13">
            <a:hlinkClick r:id="rId9" action="ppaction://hlinksldjump"/>
          </p:cNvPr>
          <p:cNvSpPr/>
          <p:nvPr/>
        </p:nvSpPr>
        <p:spPr>
          <a:xfrm>
            <a:off x="6382512" y="2651760"/>
            <a:ext cx="475488" cy="475488"/>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500" b="1" i="0">
                <a:solidFill>
                  <a:srgbClr val="FFFFFF"/>
                </a:solidFill>
                <a:latin typeface="Calibri"/>
                <a:ea typeface="Calibri"/>
                <a:cs typeface="Calibri"/>
                <a:sym typeface="Calibri"/>
              </a:rPr>
              <a:t>A7</a:t>
            </a:r>
            <a:endParaRPr/>
          </a:p>
        </p:txBody>
      </p:sp>
      <p:sp>
        <p:nvSpPr>
          <p:cNvPr id="500" name="Google Shape;500;p13">
            <a:hlinkClick r:id="rId9" action="ppaction://hlinksldjump"/>
          </p:cNvPr>
          <p:cNvSpPr txBox="1"/>
          <p:nvPr/>
        </p:nvSpPr>
        <p:spPr>
          <a:xfrm>
            <a:off x="7068312" y="2532888"/>
            <a:ext cx="4480560" cy="713232"/>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Risks we know, and how we handle them</a:t>
            </a:r>
            <a:endParaRPr/>
          </a:p>
        </p:txBody>
      </p:sp>
      <p:sp>
        <p:nvSpPr>
          <p:cNvPr id="501" name="Google Shape;501;p13">
            <a:hlinkClick r:id="rId10" action="ppaction://hlinksldjump"/>
          </p:cNvPr>
          <p:cNvSpPr/>
          <p:nvPr/>
        </p:nvSpPr>
        <p:spPr>
          <a:xfrm>
            <a:off x="6199632" y="3374136"/>
            <a:ext cx="5486400" cy="71323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2" name="Google Shape;502;p13">
            <a:hlinkClick r:id="rId10" action="ppaction://hlinksldjump"/>
          </p:cNvPr>
          <p:cNvSpPr/>
          <p:nvPr/>
        </p:nvSpPr>
        <p:spPr>
          <a:xfrm>
            <a:off x="6382512" y="3493008"/>
            <a:ext cx="475488" cy="475488"/>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500" b="1" i="0">
                <a:solidFill>
                  <a:srgbClr val="FFFFFF"/>
                </a:solidFill>
                <a:latin typeface="Calibri"/>
                <a:ea typeface="Calibri"/>
                <a:cs typeface="Calibri"/>
                <a:sym typeface="Calibri"/>
              </a:rPr>
              <a:t>A8</a:t>
            </a:r>
            <a:endParaRPr/>
          </a:p>
        </p:txBody>
      </p:sp>
      <p:sp>
        <p:nvSpPr>
          <p:cNvPr id="503" name="Google Shape;503;p13">
            <a:hlinkClick r:id="rId10" action="ppaction://hlinksldjump"/>
          </p:cNvPr>
          <p:cNvSpPr txBox="1"/>
          <p:nvPr/>
        </p:nvSpPr>
        <p:spPr>
          <a:xfrm>
            <a:off x="7068312" y="3374136"/>
            <a:ext cx="4480560" cy="713232"/>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Roadmap to the finale and the pilot</a:t>
            </a:r>
            <a:endParaRPr/>
          </a:p>
        </p:txBody>
      </p:sp>
      <p:sp>
        <p:nvSpPr>
          <p:cNvPr id="504" name="Google Shape;504;p13">
            <a:hlinkClick r:id="rId11" action="ppaction://hlinksldjump"/>
          </p:cNvPr>
          <p:cNvSpPr/>
          <p:nvPr/>
        </p:nvSpPr>
        <p:spPr>
          <a:xfrm>
            <a:off x="6199632" y="4215384"/>
            <a:ext cx="5486400" cy="71323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5" name="Google Shape;505;p13">
            <a:hlinkClick r:id="rId11" action="ppaction://hlinksldjump"/>
          </p:cNvPr>
          <p:cNvSpPr/>
          <p:nvPr/>
        </p:nvSpPr>
        <p:spPr>
          <a:xfrm>
            <a:off x="6382512" y="4334256"/>
            <a:ext cx="475488" cy="475488"/>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r>
              <a:rPr lang="en-US" sz="1500" b="1" i="0">
                <a:solidFill>
                  <a:srgbClr val="FFFFFF"/>
                </a:solidFill>
                <a:latin typeface="Calibri"/>
                <a:ea typeface="Calibri"/>
                <a:cs typeface="Calibri"/>
                <a:sym typeface="Calibri"/>
              </a:rPr>
              <a:t>A9</a:t>
            </a:r>
            <a:endParaRPr/>
          </a:p>
        </p:txBody>
      </p:sp>
      <p:sp>
        <p:nvSpPr>
          <p:cNvPr id="506" name="Google Shape;506;p13">
            <a:hlinkClick r:id="rId11" action="ppaction://hlinksldjump"/>
          </p:cNvPr>
          <p:cNvSpPr txBox="1"/>
          <p:nvPr/>
        </p:nvSpPr>
        <p:spPr>
          <a:xfrm>
            <a:off x="7068312" y="4215384"/>
            <a:ext cx="4480560" cy="713232"/>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700" b="1" i="0">
                <a:solidFill>
                  <a:srgbClr val="005686"/>
                </a:solidFill>
                <a:latin typeface="Calibri"/>
                <a:ea typeface="Calibri"/>
                <a:cs typeface="Calibri"/>
                <a:sym typeface="Calibri"/>
              </a:rPr>
              <a:t>Prototype levels: where the 1:5 model fits</a:t>
            </a:r>
            <a:endParaRPr/>
          </a:p>
        </p:txBody>
      </p:sp>
      <p:sp>
        <p:nvSpPr>
          <p:cNvPr id="507" name="Google Shape;507;p13"/>
          <p:cNvSpPr txBox="1"/>
          <p:nvPr/>
        </p:nvSpPr>
        <p:spPr>
          <a:xfrm>
            <a:off x="6197600" y="5029200"/>
            <a:ext cx="548640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b="1">
                <a:solidFill>
                  <a:srgbClr val="125A88"/>
                </a:solidFill>
                <a:latin typeface="Calibri"/>
                <a:ea typeface="Calibri"/>
                <a:cs typeface="Calibri"/>
                <a:sym typeface="Calibri"/>
              </a:rPr>
              <a:t>Explore it live (opens the browser)</a:t>
            </a:r>
            <a:endParaRPr sz="1100" b="1">
              <a:solidFill>
                <a:srgbClr val="125A88"/>
              </a:solidFill>
              <a:latin typeface="Calibri"/>
              <a:ea typeface="Calibri"/>
              <a:cs typeface="Calibri"/>
              <a:sym typeface="Calibri"/>
            </a:endParaRPr>
          </a:p>
        </p:txBody>
      </p:sp>
      <p:sp>
        <p:nvSpPr>
          <p:cNvPr id="508" name="Google Shape;508;p13">
            <a:hlinkClick r:id="rId12"/>
          </p:cNvPr>
          <p:cNvSpPr/>
          <p:nvPr/>
        </p:nvSpPr>
        <p:spPr>
          <a:xfrm>
            <a:off x="6197600" y="5334000"/>
            <a:ext cx="1727200" cy="431800"/>
          </a:xfrm>
          <a:prstGeom prst="roundRect">
            <a:avLst>
              <a:gd name="adj" fmla="val 18000"/>
            </a:avLst>
          </a:prstGeom>
          <a:solidFill>
            <a:srgbClr val="125A8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200" b="1">
                <a:solidFill>
                  <a:srgbClr val="FFFFFF"/>
                </a:solidFill>
                <a:latin typeface="Calibri"/>
                <a:ea typeface="Calibri"/>
                <a:cs typeface="Calibri"/>
                <a:sym typeface="Calibri"/>
              </a:rPr>
              <a:t>3D model  ↗</a:t>
            </a:r>
            <a:endParaRPr/>
          </a:p>
        </p:txBody>
      </p:sp>
      <p:sp>
        <p:nvSpPr>
          <p:cNvPr id="509" name="Google Shape;509;p13">
            <a:hlinkClick r:id="rId13"/>
          </p:cNvPr>
          <p:cNvSpPr/>
          <p:nvPr/>
        </p:nvSpPr>
        <p:spPr>
          <a:xfrm>
            <a:off x="8077200" y="5334000"/>
            <a:ext cx="1727200" cy="431800"/>
          </a:xfrm>
          <a:prstGeom prst="roundRect">
            <a:avLst>
              <a:gd name="adj" fmla="val 18000"/>
            </a:avLst>
          </a:prstGeom>
          <a:solidFill>
            <a:srgbClr val="125A8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200" b="1">
                <a:solidFill>
                  <a:srgbClr val="FFFFFF"/>
                </a:solidFill>
                <a:latin typeface="Calibri"/>
                <a:ea typeface="Calibri"/>
                <a:cs typeface="Calibri"/>
                <a:sym typeface="Calibri"/>
              </a:rPr>
              <a:t>Dashboard  ↗</a:t>
            </a:r>
            <a:endParaRPr/>
          </a:p>
        </p:txBody>
      </p:sp>
      <p:sp>
        <p:nvSpPr>
          <p:cNvPr id="510" name="Google Shape;510;p13">
            <a:hlinkClick r:id="rId14"/>
          </p:cNvPr>
          <p:cNvSpPr/>
          <p:nvPr/>
        </p:nvSpPr>
        <p:spPr>
          <a:xfrm>
            <a:off x="9956800" y="5334000"/>
            <a:ext cx="1727200" cy="431800"/>
          </a:xfrm>
          <a:prstGeom prst="roundRect">
            <a:avLst>
              <a:gd name="adj" fmla="val 18000"/>
            </a:avLst>
          </a:prstGeom>
          <a:solidFill>
            <a:srgbClr val="125A8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200" b="1">
                <a:solidFill>
                  <a:srgbClr val="FFFFFF"/>
                </a:solidFill>
                <a:latin typeface="Calibri"/>
                <a:ea typeface="Calibri"/>
                <a:cs typeface="Calibri"/>
                <a:sym typeface="Calibri"/>
              </a:rPr>
              <a:t>GitHub  ↗</a:t>
            </a:r>
            <a:endParaRPr/>
          </a:p>
        </p:txBody>
      </p:sp>
      <p:sp>
        <p:nvSpPr>
          <p:cNvPr id="511" name="Google Shape;511;p13">
            <a:hlinkClick r:id="rId15" action="ppaction://hlinksldjump"/>
          </p:cNvPr>
          <p:cNvSpPr/>
          <p:nvPr/>
        </p:nvSpPr>
        <p:spPr>
          <a:xfrm>
            <a:off x="9985248" y="256032"/>
            <a:ext cx="1728216" cy="329184"/>
          </a:xfrm>
          <a:prstGeom prst="roundRect">
            <a:avLst>
              <a:gd name="adj" fmla="val 30000"/>
            </a:avLst>
          </a:prstGeom>
          <a:solidFill>
            <a:srgbClr val="EAF3F8"/>
          </a:solidFill>
          <a:ln>
            <a:noFill/>
          </a:ln>
        </p:spPr>
        <p:txBody>
          <a:bodyPr spcFirstLastPara="1" wrap="square" lIns="45700" tIns="18275" rIns="45700" bIns="18275" anchor="ctr" anchorCtr="0">
            <a:noAutofit/>
          </a:bodyPr>
          <a:lstStyle/>
          <a:p>
            <a:pPr marL="0" marR="0" lvl="0" indent="0" algn="ctr" rtl="0">
              <a:spcBef>
                <a:spcPts val="0"/>
              </a:spcBef>
              <a:spcAft>
                <a:spcPts val="0"/>
              </a:spcAft>
              <a:buNone/>
            </a:pPr>
            <a:r>
              <a:rPr lang="en-US" sz="1000" b="1" i="0">
                <a:solidFill>
                  <a:srgbClr val="005686"/>
                </a:solidFill>
                <a:latin typeface="Calibri"/>
                <a:ea typeface="Calibri"/>
                <a:cs typeface="Calibri"/>
                <a:sym typeface="Calibri"/>
              </a:rPr>
              <a:t>Prior art: slides 10–11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14"/>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A1 · All 14 design checks pass</a:t>
            </a:r>
            <a:endParaRPr/>
          </a:p>
        </p:txBody>
      </p:sp>
      <p:graphicFrame>
        <p:nvGraphicFramePr>
          <p:cNvPr id="518" name="Google Shape;518;p14"/>
          <p:cNvGraphicFramePr/>
          <p:nvPr/>
        </p:nvGraphicFramePr>
        <p:xfrm>
          <a:off x="484632" y="1645920"/>
          <a:ext cx="3000000" cy="3000000"/>
        </p:xfrm>
        <a:graphic>
          <a:graphicData uri="http://schemas.openxmlformats.org/drawingml/2006/table">
            <a:tbl>
              <a:tblPr firstRow="1">
                <a:noFill/>
                <a:tableStyleId>{A42D2ACD-31DC-41B1-94D3-554865B21F35}</a:tableStyleId>
              </a:tblPr>
              <a:tblGrid>
                <a:gridCol w="3840475">
                  <a:extLst>
                    <a:ext uri="{9D8B030D-6E8A-4147-A177-3AD203B41FA5}">
                      <a16:colId xmlns:a16="http://schemas.microsoft.com/office/drawing/2014/main" val="20000"/>
                    </a:ext>
                  </a:extLst>
                </a:gridCol>
                <a:gridCol w="4206250">
                  <a:extLst>
                    <a:ext uri="{9D8B030D-6E8A-4147-A177-3AD203B41FA5}">
                      <a16:colId xmlns:a16="http://schemas.microsoft.com/office/drawing/2014/main" val="20001"/>
                    </a:ext>
                  </a:extLst>
                </a:gridCol>
                <a:gridCol w="3172975">
                  <a:extLst>
                    <a:ext uri="{9D8B030D-6E8A-4147-A177-3AD203B41FA5}">
                      <a16:colId xmlns:a16="http://schemas.microsoft.com/office/drawing/2014/main" val="20002"/>
                    </a:ext>
                  </a:extLst>
                </a:gridCol>
              </a:tblGrid>
              <a:tr h="274325">
                <a:tc>
                  <a:txBody>
                    <a:bodyPr/>
                    <a:lstStyle/>
                    <a:p>
                      <a:pPr marL="0" marR="0" lvl="0" indent="0" algn="l" rtl="0">
                        <a:spcBef>
                          <a:spcPts val="0"/>
                        </a:spcBef>
                        <a:spcAft>
                          <a:spcPts val="0"/>
                        </a:spcAft>
                        <a:buNone/>
                      </a:pPr>
                      <a:r>
                        <a:rPr lang="en-US" sz="1400" b="1" i="0" u="none" strike="noStrike" cap="none">
                          <a:solidFill>
                            <a:srgbClr val="FFFFFF"/>
                          </a:solidFill>
                          <a:latin typeface="Calibri"/>
                          <a:ea typeface="Calibri"/>
                          <a:cs typeface="Calibri"/>
                          <a:sym typeface="Calibri"/>
                        </a:rPr>
                        <a:t>Check</a:t>
                      </a:r>
                      <a:endParaRPr/>
                    </a:p>
                  </a:txBody>
                  <a:tcPr marL="73150" marR="73150" marT="27425" marB="27425" anchor="ctr">
                    <a:solidFill>
                      <a:srgbClr val="005686"/>
                    </a:solidFill>
                  </a:tcPr>
                </a:tc>
                <a:tc>
                  <a:txBody>
                    <a:bodyPr/>
                    <a:lstStyle/>
                    <a:p>
                      <a:pPr marL="0" marR="0" lvl="0" indent="0" algn="l" rtl="0">
                        <a:spcBef>
                          <a:spcPts val="0"/>
                        </a:spcBef>
                        <a:spcAft>
                          <a:spcPts val="0"/>
                        </a:spcAft>
                        <a:buNone/>
                      </a:pPr>
                      <a:r>
                        <a:rPr lang="en-US" sz="1400" b="1" i="0" u="none" strike="noStrike" cap="none">
                          <a:solidFill>
                            <a:srgbClr val="FFFFFF"/>
                          </a:solidFill>
                          <a:latin typeface="Calibri"/>
                          <a:ea typeface="Calibri"/>
                          <a:cs typeface="Calibri"/>
                          <a:sym typeface="Calibri"/>
                        </a:rPr>
                        <a:t>Result</a:t>
                      </a:r>
                      <a:endParaRPr/>
                    </a:p>
                  </a:txBody>
                  <a:tcPr marL="73150" marR="73150" marT="27425" marB="27425" anchor="ctr">
                    <a:solidFill>
                      <a:srgbClr val="005686"/>
                    </a:solidFill>
                  </a:tcPr>
                </a:tc>
                <a:tc>
                  <a:txBody>
                    <a:bodyPr/>
                    <a:lstStyle/>
                    <a:p>
                      <a:pPr marL="0" marR="0" lvl="0" indent="0" algn="l" rtl="0">
                        <a:spcBef>
                          <a:spcPts val="0"/>
                        </a:spcBef>
                        <a:spcAft>
                          <a:spcPts val="0"/>
                        </a:spcAft>
                        <a:buNone/>
                      </a:pPr>
                      <a:r>
                        <a:rPr lang="en-US" sz="1400" b="1" i="0" u="none" strike="noStrike" cap="none">
                          <a:solidFill>
                            <a:srgbClr val="FFFFFF"/>
                          </a:solidFill>
                          <a:latin typeface="Calibri"/>
                          <a:ea typeface="Calibri"/>
                          <a:cs typeface="Calibri"/>
                          <a:sym typeface="Calibri"/>
                        </a:rPr>
                        <a:t>Criterion</a:t>
                      </a:r>
                      <a:endParaRPr/>
                    </a:p>
                  </a:txBody>
                  <a:tcPr marL="73150" marR="73150" marT="27425" marB="27425" anchor="ctr">
                    <a:solidFill>
                      <a:srgbClr val="005686"/>
                    </a:solidFill>
                  </a:tcPr>
                </a:tc>
                <a:extLst>
                  <a:ext uri="{0D108BD9-81ED-4DB2-BD59-A6C34878D82A}">
                    <a16:rowId xmlns:a16="http://schemas.microsoft.com/office/drawing/2014/main" val="10000"/>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Reserve buoyancy</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2.27×</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 2.0×</a:t>
                      </a:r>
                      <a:endParaRPr/>
                    </a:p>
                  </a:txBody>
                  <a:tcPr marL="73150" marR="73150" marT="27425" marB="27425" anchor="ctr">
                    <a:solidFill>
                      <a:srgbClr val="FFFFFF"/>
                    </a:solidFill>
                  </a:tcPr>
                </a:tc>
                <a:extLst>
                  <a:ext uri="{0D108BD9-81ED-4DB2-BD59-A6C34878D82A}">
                    <a16:rowId xmlns:a16="http://schemas.microsoft.com/office/drawing/2014/main" val="10001"/>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Freeboard</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143 mm</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 100 mm</a:t>
                      </a:r>
                      <a:endParaRPr/>
                    </a:p>
                  </a:txBody>
                  <a:tcPr marL="73150" marR="73150" marT="27425" marB="27425" anchor="ctr">
                    <a:solidFill>
                      <a:srgbClr val="EAF3F8"/>
                    </a:solidFill>
                  </a:tcPr>
                </a:tc>
                <a:extLst>
                  <a:ext uri="{0D108BD9-81ED-4DB2-BD59-A6C34878D82A}">
                    <a16:rowId xmlns:a16="http://schemas.microsoft.com/office/drawing/2014/main" val="10002"/>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Transverse GM</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0.55 m</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 0.15 m (IMO reference)</a:t>
                      </a:r>
                      <a:endParaRPr/>
                    </a:p>
                  </a:txBody>
                  <a:tcPr marL="73150" marR="73150" marT="27425" marB="27425" anchor="ctr">
                    <a:solidFill>
                      <a:srgbClr val="FFFFFF"/>
                    </a:solidFill>
                  </a:tcPr>
                </a:tc>
                <a:extLst>
                  <a:ext uri="{0D108BD9-81ED-4DB2-BD59-A6C34878D82A}">
                    <a16:rowId xmlns:a16="http://schemas.microsoft.com/office/drawing/2014/main" val="10003"/>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Righting arm</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positive to 60°, max 180 mm at 25°</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positive to 60°</a:t>
                      </a:r>
                      <a:endParaRPr/>
                    </a:p>
                  </a:txBody>
                  <a:tcPr marL="73150" marR="73150" marT="27425" marB="27425" anchor="ctr">
                    <a:solidFill>
                      <a:srgbClr val="EAF3F8"/>
                    </a:solidFill>
                  </a:tcPr>
                </a:tc>
                <a:extLst>
                  <a:ext uri="{0D108BD9-81ED-4DB2-BD59-A6C34878D82A}">
                    <a16:rowId xmlns:a16="http://schemas.microsoft.com/office/drawing/2014/main" val="10004"/>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Pole safety factor, pinned</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3.1 (2.66 with carriage moment)</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 2.0</a:t>
                      </a:r>
                      <a:endParaRPr/>
                    </a:p>
                  </a:txBody>
                  <a:tcPr marL="73150" marR="73150" marT="27425" marB="27425" anchor="ctr">
                    <a:solidFill>
                      <a:srgbClr val="FFFFFF"/>
                    </a:solidFill>
                  </a:tcPr>
                </a:tc>
                <a:extLst>
                  <a:ext uri="{0D108BD9-81ED-4DB2-BD59-A6C34878D82A}">
                    <a16:rowId xmlns:a16="http://schemas.microsoft.com/office/drawing/2014/main" val="10005"/>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Pole deflection, pinned</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5.8 mm</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 span / 200 (13.4 mm)</a:t>
                      </a:r>
                      <a:endParaRPr/>
                    </a:p>
                  </a:txBody>
                  <a:tcPr marL="73150" marR="73150" marT="27425" marB="27425" anchor="ctr">
                    <a:solidFill>
                      <a:srgbClr val="EAF3F8"/>
                    </a:solidFill>
                  </a:tcPr>
                </a:tc>
                <a:extLst>
                  <a:ext uri="{0D108BD9-81ED-4DB2-BD59-A6C34878D82A}">
                    <a16:rowId xmlns:a16="http://schemas.microsoft.com/office/drawing/2014/main" val="10006"/>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Jamming, rollers (μ 0.05)</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margin 8.6</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no self-locking</a:t>
                      </a:r>
                      <a:endParaRPr/>
                    </a:p>
                  </a:txBody>
                  <a:tcPr marL="73150" marR="73150" marT="27425" marB="27425" anchor="ctr">
                    <a:solidFill>
                      <a:srgbClr val="FFFFFF"/>
                    </a:solidFill>
                  </a:tcPr>
                </a:tc>
                <a:extLst>
                  <a:ext uri="{0D108BD9-81ED-4DB2-BD59-A6C34878D82A}">
                    <a16:rowId xmlns:a16="http://schemas.microsoft.com/office/drawing/2014/main" val="10007"/>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Jamming, seized rollers (μ 0.25)</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margin 1.7</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no self-locking</a:t>
                      </a:r>
                      <a:endParaRPr/>
                    </a:p>
                  </a:txBody>
                  <a:tcPr marL="73150" marR="73150" marT="27425" marB="27425" anchor="ctr">
                    <a:solidFill>
                      <a:srgbClr val="EAF3F8"/>
                    </a:solidFill>
                  </a:tcPr>
                </a:tc>
                <a:extLst>
                  <a:ext uri="{0D108BD9-81ED-4DB2-BD59-A6C34878D82A}">
                    <a16:rowId xmlns:a16="http://schemas.microsoft.com/office/drawing/2014/main" val="10008"/>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Float lag at full design load</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17.7 mm</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 30 mm</a:t>
                      </a:r>
                      <a:endParaRPr/>
                    </a:p>
                  </a:txBody>
                  <a:tcPr marL="73150" marR="73150" marT="27425" marB="27425" anchor="ctr">
                    <a:solidFill>
                      <a:srgbClr val="FFFFFF"/>
                    </a:solidFill>
                  </a:tcPr>
                </a:tc>
                <a:extLst>
                  <a:ext uri="{0D108BD9-81ED-4DB2-BD59-A6C34878D82A}">
                    <a16:rowId xmlns:a16="http://schemas.microsoft.com/office/drawing/2014/main" val="10009"/>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Weathervane stability</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lateral centre 351 mm aft of the pole</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aft of the pole</a:t>
                      </a:r>
                      <a:endParaRPr/>
                    </a:p>
                  </a:txBody>
                  <a:tcPr marL="73150" marR="73150" marT="27425" marB="27425" anchor="ctr">
                    <a:solidFill>
                      <a:srgbClr val="EAF3F8"/>
                    </a:solidFill>
                  </a:tcPr>
                </a:tc>
                <a:extLst>
                  <a:ext uri="{0D108BD9-81ED-4DB2-BD59-A6C34878D82A}">
                    <a16:rowId xmlns:a16="http://schemas.microsoft.com/office/drawing/2014/main" val="10010"/>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Pole corridor clearance</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9.7 mm</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 5 mm</a:t>
                      </a:r>
                      <a:endParaRPr/>
                    </a:p>
                  </a:txBody>
                  <a:tcPr marL="73150" marR="73150" marT="27425" marB="27425" anchor="ctr">
                    <a:solidFill>
                      <a:srgbClr val="FFFFFF"/>
                    </a:solidFill>
                  </a:tcPr>
                </a:tc>
                <a:extLst>
                  <a:ext uri="{0D108BD9-81ED-4DB2-BD59-A6C34878D82A}">
                    <a16:rowId xmlns:a16="http://schemas.microsoft.com/office/drawing/2014/main" val="10011"/>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Float vs fixed parts, 2 m travel</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no clash</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none</a:t>
                      </a:r>
                      <a:endParaRPr/>
                    </a:p>
                  </a:txBody>
                  <a:tcPr marL="73150" marR="73150" marT="27425" marB="27425" anchor="ctr">
                    <a:solidFill>
                      <a:srgbClr val="EAF3F8"/>
                    </a:solidFill>
                  </a:tcPr>
                </a:tc>
                <a:extLst>
                  <a:ext uri="{0D108BD9-81ED-4DB2-BD59-A6C34878D82A}">
                    <a16:rowId xmlns:a16="http://schemas.microsoft.com/office/drawing/2014/main" val="10012"/>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Only rub rails touch the pier</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rub rail 12 mm outboard</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rub rails outermost</a:t>
                      </a:r>
                      <a:endParaRPr/>
                    </a:p>
                  </a:txBody>
                  <a:tcPr marL="73150" marR="73150" marT="27425" marB="27425" anchor="ctr">
                    <a:solidFill>
                      <a:srgbClr val="FFFFFF"/>
                    </a:solidFill>
                  </a:tcPr>
                </a:tc>
                <a:extLst>
                  <a:ext uri="{0D108BD9-81ED-4DB2-BD59-A6C34878D82A}">
                    <a16:rowId xmlns:a16="http://schemas.microsoft.com/office/drawing/2014/main" val="10013"/>
                  </a:ext>
                </a:extLst>
              </a:tr>
              <a:tr h="274325">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Part-to-part interference</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none in 101 pairs</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none</a:t>
                      </a:r>
                      <a:endParaRPr/>
                    </a:p>
                  </a:txBody>
                  <a:tcPr marL="73150" marR="73150" marT="27425" marB="27425" anchor="ctr">
                    <a:solidFill>
                      <a:srgbClr val="EAF3F8"/>
                    </a:solidFill>
                  </a:tcPr>
                </a:tc>
                <a:extLst>
                  <a:ext uri="{0D108BD9-81ED-4DB2-BD59-A6C34878D82A}">
                    <a16:rowId xmlns:a16="http://schemas.microsoft.com/office/drawing/2014/main" val="10014"/>
                  </a:ext>
                </a:extLst>
              </a:tr>
            </a:tbl>
          </a:graphicData>
        </a:graphic>
      </p:graphicFrame>
      <p:sp>
        <p:nvSpPr>
          <p:cNvPr id="519" name="Google Shape;519;p14"/>
          <p:cNvSpPr txBox="1"/>
          <p:nvPr/>
        </p:nvSpPr>
        <p:spPr>
          <a:xfrm>
            <a:off x="484632" y="5815584"/>
            <a:ext cx="11219688" cy="23774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000" b="0" i="0">
                <a:solidFill>
                  <a:srgbClr val="5B6B78"/>
                </a:solidFill>
                <a:latin typeface="Calibri"/>
                <a:ea typeface="Calibri"/>
                <a:cs typeface="Calibri"/>
                <a:sym typeface="Calibri"/>
              </a:rPr>
              <a:t>Source: mechanical/checks/design_checks.json, computed from the R3 CAD; masses partly catalogue estimates.</a:t>
            </a:r>
            <a:endParaRPr/>
          </a:p>
        </p:txBody>
      </p:sp>
      <p:sp>
        <p:nvSpPr>
          <p:cNvPr id="520" name="Google Shape;520;p14">
            <a:hlinkClick r:id="rId3" action="ppaction://hlinksldjump"/>
          </p:cNvPr>
          <p:cNvSpPr/>
          <p:nvPr/>
        </p:nvSpPr>
        <p:spPr>
          <a:xfrm>
            <a:off x="9982200" y="254000"/>
            <a:ext cx="1727200" cy="330200"/>
          </a:xfrm>
          <a:prstGeom prst="roundRect">
            <a:avLst>
              <a:gd name="adj" fmla="val 18000"/>
            </a:avLst>
          </a:prstGeom>
          <a:solidFill>
            <a:srgbClr val="EAF3F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000" b="1">
                <a:solidFill>
                  <a:srgbClr val="125A88"/>
                </a:solidFill>
                <a:latin typeface="Calibri"/>
                <a:ea typeface="Calibri"/>
                <a:cs typeface="Calibri"/>
                <a:sym typeface="Calibri"/>
              </a:rPr>
              <a:t>↩  Back to questions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15"/>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A2 · Pole safety factor: we quote the lowest</a:t>
            </a:r>
            <a:endParaRPr/>
          </a:p>
        </p:txBody>
      </p:sp>
      <p:sp>
        <p:nvSpPr>
          <p:cNvPr id="527" name="Google Shape;527;p15"/>
          <p:cNvSpPr txBox="1"/>
          <p:nvPr/>
        </p:nvSpPr>
        <p:spPr>
          <a:xfrm>
            <a:off x="484632" y="1645920"/>
            <a:ext cx="5486400" cy="36576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Pole safety factor by idealisation (requirement ≥ 2.0)</a:t>
            </a:r>
            <a:endParaRPr/>
          </a:p>
        </p:txBody>
      </p:sp>
      <p:graphicFrame>
        <p:nvGraphicFramePr>
          <p:cNvPr id="528" name="Google Shape;528;p15"/>
          <p:cNvGraphicFramePr/>
          <p:nvPr/>
        </p:nvGraphicFramePr>
        <p:xfrm>
          <a:off x="484632" y="2011680"/>
          <a:ext cx="548640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529" name="Google Shape;529;p15"/>
          <p:cNvSpPr txBox="1"/>
          <p:nvPr/>
        </p:nvSpPr>
        <p:spPr>
          <a:xfrm>
            <a:off x="484632" y="4434840"/>
            <a:ext cx="5486400" cy="1554480"/>
          </a:xfrm>
          <a:prstGeom prst="rect">
            <a:avLst/>
          </a:prstGeom>
          <a:noFill/>
          <a:ln>
            <a:noFill/>
          </a:ln>
        </p:spPr>
        <p:txBody>
          <a:bodyPr spcFirstLastPara="1" wrap="square" lIns="36575" tIns="18275" rIns="36575" bIns="18275" anchor="t" anchorCtr="0">
            <a:noAutofit/>
          </a:bodyPr>
          <a:lstStyle/>
          <a:p>
            <a:pPr marL="201168" marR="0" lvl="0" indent="-201168" algn="l" rtl="0">
              <a:spcBef>
                <a:spcPts val="0"/>
              </a:spcBef>
              <a:spcAft>
                <a:spcPts val="0"/>
              </a:spcAft>
              <a:buClr>
                <a:srgbClr val="005686"/>
              </a:buClr>
              <a:buSzPts val="1400"/>
              <a:buFont typeface="Arial"/>
              <a:buChar char="•"/>
            </a:pPr>
            <a:r>
              <a:rPr lang="en-US" sz="1400" b="0" i="0">
                <a:solidFill>
                  <a:srgbClr val="1E2B36"/>
                </a:solidFill>
                <a:latin typeface="Calibri"/>
                <a:ea typeface="Calibri"/>
                <a:cs typeface="Calibri"/>
                <a:sym typeface="Calibri"/>
              </a:rPr>
              <a:t>Peak stress in MPa: FEA 38.3 · pinned 54.8 · pinned + moment 64.0 (316L yield 170)</a:t>
            </a:r>
            <a:endParaRPr/>
          </a:p>
          <a:p>
            <a:pPr marL="201168" marR="0" lvl="0" indent="-201168" algn="l" rtl="0">
              <a:spcBef>
                <a:spcPts val="600"/>
              </a:spcBef>
              <a:spcAft>
                <a:spcPts val="0"/>
              </a:spcAft>
              <a:buClr>
                <a:srgbClr val="005686"/>
              </a:buClr>
              <a:buSzPts val="1400"/>
              <a:buFont typeface="Arial"/>
              <a:buChar char="•"/>
            </a:pPr>
            <a:r>
              <a:rPr lang="en-US" sz="1400" b="0" i="0">
                <a:solidFill>
                  <a:srgbClr val="1E2B36"/>
                </a:solidFill>
                <a:latin typeface="Calibri"/>
                <a:ea typeface="Calibri"/>
                <a:cs typeface="Calibri"/>
                <a:sym typeface="Calibri"/>
              </a:rPr>
              <a:t>Load: 642 N at the float = drag ½·1000·1.5²·1.05·0.120 m² = 142 N + 500 N debris (quasi-static), plus drag on the pole</a:t>
            </a:r>
            <a:endParaRPr/>
          </a:p>
          <a:p>
            <a:pPr marL="201168" marR="0" lvl="0" indent="-201168" algn="l" rtl="0">
              <a:spcBef>
                <a:spcPts val="600"/>
              </a:spcBef>
              <a:spcAft>
                <a:spcPts val="0"/>
              </a:spcAft>
              <a:buClr>
                <a:srgbClr val="005686"/>
              </a:buClr>
              <a:buSzPts val="1400"/>
              <a:buFont typeface="Arial"/>
              <a:buChar char="•"/>
            </a:pPr>
            <a:r>
              <a:rPr lang="en-US" sz="1400" b="0" i="0">
                <a:solidFill>
                  <a:srgbClr val="1E2B36"/>
                </a:solidFill>
                <a:latin typeface="Calibri"/>
                <a:ea typeface="Calibri"/>
                <a:cs typeface="Calibri"/>
                <a:sym typeface="Calibri"/>
              </a:rPr>
              <a:t>Not yet included: debris impact factor, fatigue, vortex shedding</a:t>
            </a:r>
            <a:endParaRPr/>
          </a:p>
        </p:txBody>
      </p:sp>
      <p:pic>
        <p:nvPicPr>
          <p:cNvPr id="530" name="Google Shape;530;p15" descr="Pole_vonMises_Stress.png"/>
          <p:cNvPicPr preferRelativeResize="0"/>
          <p:nvPr/>
        </p:nvPicPr>
        <p:blipFill rotWithShape="1">
          <a:blip r:embed="rId4">
            <a:alphaModFix/>
          </a:blip>
          <a:srcRect/>
          <a:stretch/>
        </p:blipFill>
        <p:spPr>
          <a:xfrm>
            <a:off x="6263640" y="1645920"/>
            <a:ext cx="5440680" cy="3020401"/>
          </a:xfrm>
          <a:prstGeom prst="rect">
            <a:avLst/>
          </a:prstGeom>
          <a:noFill/>
          <a:ln>
            <a:noFill/>
          </a:ln>
        </p:spPr>
      </p:pic>
      <p:pic>
        <p:nvPicPr>
          <p:cNvPr id="531" name="Google Shape;531;p15" descr="Bracket_vonMises_Stress.png"/>
          <p:cNvPicPr preferRelativeResize="0"/>
          <p:nvPr/>
        </p:nvPicPr>
        <p:blipFill rotWithShape="1">
          <a:blip r:embed="rId5">
            <a:alphaModFix/>
          </a:blip>
          <a:srcRect/>
          <a:stretch/>
        </p:blipFill>
        <p:spPr>
          <a:xfrm>
            <a:off x="6263640" y="4754880"/>
            <a:ext cx="2305965" cy="1280160"/>
          </a:xfrm>
          <a:prstGeom prst="rect">
            <a:avLst/>
          </a:prstGeom>
          <a:noFill/>
          <a:ln>
            <a:noFill/>
          </a:ln>
        </p:spPr>
      </p:pic>
      <p:sp>
        <p:nvSpPr>
          <p:cNvPr id="532" name="Google Shape;532;p15"/>
          <p:cNvSpPr txBox="1"/>
          <p:nvPr/>
        </p:nvSpPr>
        <p:spPr>
          <a:xfrm>
            <a:off x="8686800" y="4754880"/>
            <a:ext cx="3017520" cy="1280160"/>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200" b="0" i="0">
                <a:solidFill>
                  <a:srgbClr val="5B6B78"/>
                </a:solidFill>
                <a:latin typeface="Calibri"/>
                <a:ea typeface="Calibri"/>
                <a:cs typeface="Calibri"/>
                <a:sym typeface="Calibri"/>
              </a:rPr>
              <a:t>Bracket: 3.7 MPa peak under the 430 N reaction. Anchors, welds and debris impact still to check.</a:t>
            </a:r>
            <a:endParaRPr/>
          </a:p>
        </p:txBody>
      </p:sp>
      <p:sp>
        <p:nvSpPr>
          <p:cNvPr id="533" name="Google Shape;533;p15">
            <a:hlinkClick r:id="rId6" action="ppaction://hlinksldjump"/>
          </p:cNvPr>
          <p:cNvSpPr/>
          <p:nvPr/>
        </p:nvSpPr>
        <p:spPr>
          <a:xfrm>
            <a:off x="9982200" y="254000"/>
            <a:ext cx="1727200" cy="330200"/>
          </a:xfrm>
          <a:prstGeom prst="roundRect">
            <a:avLst>
              <a:gd name="adj" fmla="val 18000"/>
            </a:avLst>
          </a:prstGeom>
          <a:solidFill>
            <a:srgbClr val="EAF3F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000" b="1">
                <a:solidFill>
                  <a:srgbClr val="125A88"/>
                </a:solidFill>
                <a:latin typeface="Calibri"/>
                <a:ea typeface="Calibri"/>
                <a:cs typeface="Calibri"/>
                <a:sym typeface="Calibri"/>
              </a:rPr>
              <a:t>↩  Back to questions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16"/>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A3 · Power: about 12 days without sun (estimate)</a:t>
            </a:r>
            <a:endParaRPr/>
          </a:p>
        </p:txBody>
      </p:sp>
      <p:sp>
        <p:nvSpPr>
          <p:cNvPr id="540" name="Google Shape;540;p16"/>
          <p:cNvSpPr txBox="1"/>
          <p:nvPr/>
        </p:nvSpPr>
        <p:spPr>
          <a:xfrm>
            <a:off x="484632" y="1645920"/>
            <a:ext cx="6766560" cy="36576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Daily energy by consumer, Wh per day (design estimate)</a:t>
            </a:r>
            <a:endParaRPr/>
          </a:p>
        </p:txBody>
      </p:sp>
      <p:graphicFrame>
        <p:nvGraphicFramePr>
          <p:cNvPr id="541" name="Google Shape;541;p16"/>
          <p:cNvGraphicFramePr/>
          <p:nvPr/>
        </p:nvGraphicFramePr>
        <p:xfrm>
          <a:off x="484632" y="2011680"/>
          <a:ext cx="67665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42" name="Google Shape;542;p16"/>
          <p:cNvSpPr/>
          <p:nvPr/>
        </p:nvSpPr>
        <p:spPr>
          <a:xfrm>
            <a:off x="7589520" y="1645920"/>
            <a:ext cx="4114800" cy="89611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3" name="Google Shape;543;p16"/>
          <p:cNvSpPr txBox="1"/>
          <p:nvPr/>
        </p:nvSpPr>
        <p:spPr>
          <a:xfrm>
            <a:off x="7726679" y="1682496"/>
            <a:ext cx="3840480" cy="43891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2200" b="1" i="0">
                <a:solidFill>
                  <a:srgbClr val="005686"/>
                </a:solidFill>
                <a:latin typeface="Calibri"/>
                <a:ea typeface="Calibri"/>
                <a:cs typeface="Calibri"/>
                <a:sym typeface="Calibri"/>
              </a:rPr>
              <a:t>4.11 Wh/day</a:t>
            </a:r>
            <a:endParaRPr/>
          </a:p>
        </p:txBody>
      </p:sp>
      <p:sp>
        <p:nvSpPr>
          <p:cNvPr id="544" name="Google Shape;544;p16"/>
          <p:cNvSpPr txBox="1"/>
          <p:nvPr/>
        </p:nvSpPr>
        <p:spPr>
          <a:xfrm>
            <a:off x="7726679" y="2103120"/>
            <a:ext cx="3840480" cy="402336"/>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300" b="0" i="0">
                <a:solidFill>
                  <a:srgbClr val="1E2B36"/>
                </a:solidFill>
                <a:latin typeface="Calibri"/>
                <a:ea typeface="Calibri"/>
                <a:cs typeface="Calibri"/>
                <a:sym typeface="Calibri"/>
              </a:rPr>
              <a:t>nominal, beacon included; 4.93 with a 20 % margin</a:t>
            </a:r>
            <a:endParaRPr/>
          </a:p>
        </p:txBody>
      </p:sp>
      <p:sp>
        <p:nvSpPr>
          <p:cNvPr id="545" name="Google Shape;545;p16"/>
          <p:cNvSpPr/>
          <p:nvPr/>
        </p:nvSpPr>
        <p:spPr>
          <a:xfrm>
            <a:off x="7589520" y="2651760"/>
            <a:ext cx="4114800" cy="89611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6" name="Google Shape;546;p16"/>
          <p:cNvSpPr txBox="1"/>
          <p:nvPr/>
        </p:nvSpPr>
        <p:spPr>
          <a:xfrm>
            <a:off x="7726679" y="2688336"/>
            <a:ext cx="3840480" cy="43891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2200" b="1" i="0">
                <a:solidFill>
                  <a:srgbClr val="005686"/>
                </a:solidFill>
                <a:latin typeface="Calibri"/>
                <a:ea typeface="Calibri"/>
                <a:cs typeface="Calibri"/>
                <a:sym typeface="Calibri"/>
              </a:rPr>
              <a:t>61.4 Wh</a:t>
            </a:r>
            <a:endParaRPr/>
          </a:p>
        </p:txBody>
      </p:sp>
      <p:sp>
        <p:nvSpPr>
          <p:cNvPr id="547" name="Google Shape;547;p16"/>
          <p:cNvSpPr txBox="1"/>
          <p:nvPr/>
        </p:nvSpPr>
        <p:spPr>
          <a:xfrm>
            <a:off x="7726679" y="3108960"/>
            <a:ext cx="3840480" cy="402336"/>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300" b="0" i="0">
                <a:solidFill>
                  <a:srgbClr val="1E2B36"/>
                </a:solidFill>
                <a:latin typeface="Calibri"/>
                <a:ea typeface="Calibri"/>
                <a:cs typeface="Calibri"/>
                <a:sym typeface="Calibri"/>
              </a:rPr>
              <a:t>usable: 12.8 V 6 Ah LiFePO4 at 80 % depth of discharge</a:t>
            </a:r>
            <a:endParaRPr/>
          </a:p>
        </p:txBody>
      </p:sp>
      <p:sp>
        <p:nvSpPr>
          <p:cNvPr id="548" name="Google Shape;548;p16"/>
          <p:cNvSpPr/>
          <p:nvPr/>
        </p:nvSpPr>
        <p:spPr>
          <a:xfrm>
            <a:off x="7589520" y="3657600"/>
            <a:ext cx="4114800" cy="89611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9" name="Google Shape;549;p16"/>
          <p:cNvSpPr txBox="1"/>
          <p:nvPr/>
        </p:nvSpPr>
        <p:spPr>
          <a:xfrm>
            <a:off x="7726679" y="3694176"/>
            <a:ext cx="3840480" cy="43891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2200" b="1" i="0">
                <a:solidFill>
                  <a:srgbClr val="005686"/>
                </a:solidFill>
                <a:latin typeface="Calibri"/>
                <a:ea typeface="Calibri"/>
                <a:cs typeface="Calibri"/>
                <a:sym typeface="Calibri"/>
              </a:rPr>
              <a:t>≈ 12 days</a:t>
            </a:r>
            <a:endParaRPr/>
          </a:p>
        </p:txBody>
      </p:sp>
      <p:sp>
        <p:nvSpPr>
          <p:cNvPr id="550" name="Google Shape;550;p16"/>
          <p:cNvSpPr txBox="1"/>
          <p:nvPr/>
        </p:nvSpPr>
        <p:spPr>
          <a:xfrm>
            <a:off x="7726679" y="4114800"/>
            <a:ext cx="3840480" cy="402336"/>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300" b="0" i="0">
                <a:solidFill>
                  <a:srgbClr val="1E2B36"/>
                </a:solidFill>
                <a:latin typeface="Calibri"/>
                <a:ea typeface="Calibri"/>
                <a:cs typeface="Calibri"/>
                <a:sym typeface="Calibri"/>
              </a:rPr>
              <a:t>with no sun (preliminary; 15 without the beacon)</a:t>
            </a:r>
            <a:endParaRPr/>
          </a:p>
        </p:txBody>
      </p:sp>
      <p:sp>
        <p:nvSpPr>
          <p:cNvPr id="551" name="Google Shape;551;p16"/>
          <p:cNvSpPr/>
          <p:nvPr/>
        </p:nvSpPr>
        <p:spPr>
          <a:xfrm>
            <a:off x="7589520" y="4663440"/>
            <a:ext cx="4114800" cy="89611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2" name="Google Shape;552;p16"/>
          <p:cNvSpPr txBox="1"/>
          <p:nvPr/>
        </p:nvSpPr>
        <p:spPr>
          <a:xfrm>
            <a:off x="7726679" y="4700016"/>
            <a:ext cx="3840480" cy="43891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2200" b="1" i="0">
                <a:solidFill>
                  <a:srgbClr val="005686"/>
                </a:solidFill>
                <a:latin typeface="Calibri"/>
                <a:ea typeface="Calibri"/>
                <a:cs typeface="Calibri"/>
                <a:sym typeface="Calibri"/>
              </a:rPr>
              <a:t>39 Wh/day</a:t>
            </a:r>
            <a:endParaRPr/>
          </a:p>
        </p:txBody>
      </p:sp>
      <p:sp>
        <p:nvSpPr>
          <p:cNvPr id="553" name="Google Shape;553;p16"/>
          <p:cNvSpPr txBox="1"/>
          <p:nvPr/>
        </p:nvSpPr>
        <p:spPr>
          <a:xfrm>
            <a:off x="7726679" y="5120640"/>
            <a:ext cx="3840480" cy="402336"/>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300" b="0" i="0">
                <a:solidFill>
                  <a:srgbClr val="1E2B36"/>
                </a:solidFill>
                <a:latin typeface="Calibri"/>
                <a:ea typeface="Calibri"/>
                <a:cs typeface="Calibri"/>
                <a:sym typeface="Calibri"/>
              </a:rPr>
              <a:t>20 W × 3.0 sun-hours on a monsoon day, after 35 % losses</a:t>
            </a:r>
            <a:endParaRPr/>
          </a:p>
        </p:txBody>
      </p:sp>
      <p:sp>
        <p:nvSpPr>
          <p:cNvPr id="554" name="Google Shape;554;p16"/>
          <p:cNvSpPr txBox="1"/>
          <p:nvPr/>
        </p:nvSpPr>
        <p:spPr>
          <a:xfrm>
            <a:off x="7589520" y="5669280"/>
            <a:ext cx="4114800" cy="36576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300" b="1" i="0">
                <a:solidFill>
                  <a:srgbClr val="DA091C"/>
                </a:solidFill>
                <a:latin typeface="Calibri"/>
                <a:ea typeface="Calibri"/>
                <a:cs typeface="Calibri"/>
                <a:sym typeface="Calibri"/>
              </a:rPr>
              <a:t>Beacon assumed: 3 W strobe, 2 % duty, 12 h a night = 0.72 Wh/day. Pump, LTE peaks: measure on the bench</a:t>
            </a:r>
            <a:endParaRPr/>
          </a:p>
        </p:txBody>
      </p:sp>
      <p:sp>
        <p:nvSpPr>
          <p:cNvPr id="555" name="Google Shape;555;p16">
            <a:hlinkClick r:id="rId4" action="ppaction://hlinksldjump"/>
          </p:cNvPr>
          <p:cNvSpPr/>
          <p:nvPr/>
        </p:nvSpPr>
        <p:spPr>
          <a:xfrm>
            <a:off x="9982200" y="254000"/>
            <a:ext cx="1727200" cy="330200"/>
          </a:xfrm>
          <a:prstGeom prst="roundRect">
            <a:avLst>
              <a:gd name="adj" fmla="val 18000"/>
            </a:avLst>
          </a:prstGeom>
          <a:solidFill>
            <a:srgbClr val="EAF3F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000" b="1">
                <a:solidFill>
                  <a:srgbClr val="125A88"/>
                </a:solidFill>
                <a:latin typeface="Calibri"/>
                <a:ea typeface="Calibri"/>
                <a:cs typeface="Calibri"/>
                <a:sym typeface="Calibri"/>
              </a:rPr>
              <a:t>↩  Back to questions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17"/>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A4 · Decision engine, and the fixes we found</a:t>
            </a:r>
            <a:endParaRPr/>
          </a:p>
        </p:txBody>
      </p:sp>
      <p:sp>
        <p:nvSpPr>
          <p:cNvPr id="562" name="Google Shape;562;p17"/>
          <p:cNvSpPr/>
          <p:nvPr/>
        </p:nvSpPr>
        <p:spPr>
          <a:xfrm>
            <a:off x="484632" y="1645920"/>
            <a:ext cx="5486400" cy="416052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3" name="Google Shape;563;p17"/>
          <p:cNvSpPr txBox="1"/>
          <p:nvPr/>
        </p:nvSpPr>
        <p:spPr>
          <a:xfrm>
            <a:off x="667512" y="1737360"/>
            <a:ext cx="5120640" cy="41148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800" b="1" i="0">
                <a:solidFill>
                  <a:srgbClr val="005686"/>
                </a:solidFill>
                <a:latin typeface="Calibri"/>
                <a:ea typeface="Calibri"/>
                <a:cs typeface="Calibri"/>
                <a:sym typeface="Calibri"/>
              </a:rPr>
              <a:t>How it decides (designed)</a:t>
            </a:r>
            <a:endParaRPr/>
          </a:p>
        </p:txBody>
      </p:sp>
      <p:sp>
        <p:nvSpPr>
          <p:cNvPr id="564" name="Google Shape;564;p17"/>
          <p:cNvSpPr txBox="1"/>
          <p:nvPr/>
        </p:nvSpPr>
        <p:spPr>
          <a:xfrm>
            <a:off x="667512" y="2240280"/>
            <a:ext cx="5120640" cy="3474720"/>
          </a:xfrm>
          <a:prstGeom prst="rect">
            <a:avLst/>
          </a:prstGeom>
          <a:noFill/>
          <a:ln>
            <a:noFill/>
          </a:ln>
        </p:spPr>
        <p:txBody>
          <a:bodyPr spcFirstLastPara="1" wrap="square" lIns="36575" tIns="18275" rIns="36575" bIns="18275" anchor="t" anchorCtr="0">
            <a:noAutofit/>
          </a:bodyPr>
          <a:lstStyle/>
          <a:p>
            <a:pPr marL="201168" marR="0" lvl="0" indent="-201168" algn="l" rtl="0">
              <a:spcBef>
                <a:spcPts val="0"/>
              </a:spcBef>
              <a:spcAft>
                <a:spcPts val="0"/>
              </a:spcAft>
              <a:buClr>
                <a:srgbClr val="005686"/>
              </a:buClr>
              <a:buSzPts val="1500"/>
              <a:buFont typeface="Arial"/>
              <a:buChar char="•"/>
            </a:pPr>
            <a:r>
              <a:rPr lang="en-US" sz="1500" b="0" i="0">
                <a:solidFill>
                  <a:srgbClr val="1E2B36"/>
                </a:solidFill>
                <a:latin typeface="Calibri"/>
                <a:ea typeface="Calibri"/>
                <a:cs typeface="Calibri"/>
                <a:sym typeface="Calibri"/>
              </a:rPr>
              <a:t>Reads pH, EC, DO and turbidity every 15 minutes; temperature and level are logged</a:t>
            </a:r>
            <a:endParaRPr/>
          </a:p>
          <a:p>
            <a:pPr marL="201168" marR="0" lvl="0" indent="-201168" algn="l" rtl="0">
              <a:spcBef>
                <a:spcPts val="900"/>
              </a:spcBef>
              <a:spcAft>
                <a:spcPts val="0"/>
              </a:spcAft>
              <a:buClr>
                <a:srgbClr val="005686"/>
              </a:buClr>
              <a:buSzPts val="1500"/>
              <a:buFont typeface="Arial"/>
              <a:buChar char="•"/>
            </a:pPr>
            <a:r>
              <a:rPr lang="en-US" sz="1500" b="0" i="0">
                <a:solidFill>
                  <a:srgbClr val="1E2B36"/>
                </a:solidFill>
                <a:latin typeface="Calibri"/>
                <a:ea typeface="Calibri"/>
                <a:cs typeface="Calibri"/>
                <a:sym typeface="Calibri"/>
              </a:rPr>
              <a:t>Hard limits act at once, also while learning: pH &lt; 6 or &gt; 9, DO &lt; 4 mg/L (CPCB Class C/D minimum), EC &gt; 2,250 µS/cm (CPCB Class E maximum); our operating limits, tunable per site</a:t>
            </a:r>
            <a:endParaRPr/>
          </a:p>
          <a:p>
            <a:pPr marL="201168" marR="0" lvl="0" indent="-201168" algn="l" rtl="0">
              <a:spcBef>
                <a:spcPts val="900"/>
              </a:spcBef>
              <a:spcAft>
                <a:spcPts val="0"/>
              </a:spcAft>
              <a:buClr>
                <a:srgbClr val="005686"/>
              </a:buClr>
              <a:buSzPts val="1500"/>
              <a:buFont typeface="Arial"/>
              <a:buChar char="•"/>
            </a:pPr>
            <a:r>
              <a:rPr lang="en-US" sz="1500" b="0" i="0">
                <a:solidFill>
                  <a:srgbClr val="1E2B36"/>
                </a:solidFill>
                <a:latin typeface="Calibri"/>
                <a:ea typeface="Calibri"/>
                <a:cs typeface="Calibri"/>
                <a:sym typeface="Calibri"/>
              </a:rPr>
              <a:t>A baseline per hour of the day (EWMA); a robust z-score above 3 counts as unusual</a:t>
            </a:r>
            <a:endParaRPr/>
          </a:p>
          <a:p>
            <a:pPr marL="201168" marR="0" lvl="0" indent="-201168" algn="l" rtl="0">
              <a:spcBef>
                <a:spcPts val="900"/>
              </a:spcBef>
              <a:spcAft>
                <a:spcPts val="0"/>
              </a:spcAft>
              <a:buClr>
                <a:srgbClr val="005686"/>
              </a:buClr>
              <a:buSzPts val="1500"/>
              <a:buFont typeface="Arial"/>
              <a:buChar char="•"/>
            </a:pPr>
            <a:r>
              <a:rPr lang="en-US" sz="1500" b="0" i="0">
                <a:solidFill>
                  <a:srgbClr val="1E2B36"/>
                </a:solidFill>
                <a:latin typeface="Calibri"/>
                <a:ea typeface="Calibri"/>
                <a:cs typeface="Calibri"/>
                <a:sym typeface="Calibri"/>
              </a:rPr>
              <a:t>EVENT when 2 of the last 3 readings are unusual; normal again after 4 clean readings</a:t>
            </a:r>
            <a:endParaRPr/>
          </a:p>
          <a:p>
            <a:pPr marL="201168" marR="0" lvl="0" indent="-201168" algn="l" rtl="0">
              <a:spcBef>
                <a:spcPts val="900"/>
              </a:spcBef>
              <a:spcAft>
                <a:spcPts val="0"/>
              </a:spcAft>
              <a:buClr>
                <a:srgbClr val="005686"/>
              </a:buClr>
              <a:buSzPts val="1500"/>
              <a:buFont typeface="Arial"/>
              <a:buChar char="•"/>
            </a:pPr>
            <a:r>
              <a:rPr lang="en-US" sz="1500" b="0" i="0">
                <a:solidFill>
                  <a:srgbClr val="1E2B36"/>
                </a:solidFill>
                <a:latin typeface="Calibri"/>
                <a:ea typeface="Calibri"/>
                <a:cs typeface="Calibri"/>
                <a:sym typeface="Calibri"/>
              </a:rPr>
              <a:t>First 7 days: baseline learning only. An early-warning system, not a chemical identifier: the lab confirms</a:t>
            </a:r>
            <a:endParaRPr/>
          </a:p>
        </p:txBody>
      </p:sp>
      <p:sp>
        <p:nvSpPr>
          <p:cNvPr id="565" name="Google Shape;565;p17"/>
          <p:cNvSpPr/>
          <p:nvPr/>
        </p:nvSpPr>
        <p:spPr>
          <a:xfrm>
            <a:off x="6217920" y="1645920"/>
            <a:ext cx="5486400" cy="416052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6" name="Google Shape;566;p17"/>
          <p:cNvSpPr txBox="1"/>
          <p:nvPr/>
        </p:nvSpPr>
        <p:spPr>
          <a:xfrm>
            <a:off x="6400800" y="1737360"/>
            <a:ext cx="5120640" cy="41148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800" b="1" i="0">
                <a:solidFill>
                  <a:srgbClr val="005686"/>
                </a:solidFill>
                <a:latin typeface="Calibri"/>
                <a:ea typeface="Calibri"/>
                <a:cs typeface="Calibri"/>
                <a:sym typeface="Calibri"/>
              </a:rPr>
              <a:t>Our audit's fixes: in the firmware, bench test next</a:t>
            </a:r>
            <a:endParaRPr/>
          </a:p>
        </p:txBody>
      </p:sp>
      <p:sp>
        <p:nvSpPr>
          <p:cNvPr id="567" name="Google Shape;567;p17"/>
          <p:cNvSpPr txBox="1"/>
          <p:nvPr/>
        </p:nvSpPr>
        <p:spPr>
          <a:xfrm>
            <a:off x="6400800" y="2240280"/>
            <a:ext cx="5120640" cy="3474720"/>
          </a:xfrm>
          <a:prstGeom prst="rect">
            <a:avLst/>
          </a:prstGeom>
          <a:noFill/>
          <a:ln>
            <a:noFill/>
          </a:ln>
        </p:spPr>
        <p:txBody>
          <a:bodyPr spcFirstLastPara="1" wrap="square" lIns="36575" tIns="18275" rIns="36575" bIns="18275" anchor="t" anchorCtr="0">
            <a:noAutofit/>
          </a:bodyPr>
          <a:lstStyle/>
          <a:p>
            <a:pPr marL="201168" marR="0" lvl="0" indent="-201168" algn="l" rtl="0">
              <a:spcBef>
                <a:spcPts val="0"/>
              </a:spcBef>
              <a:spcAft>
                <a:spcPts val="0"/>
              </a:spcAft>
              <a:buClr>
                <a:srgbClr val="005686"/>
              </a:buClr>
              <a:buSzPts val="1500"/>
              <a:buFont typeface="Arial"/>
              <a:buChar char="•"/>
            </a:pPr>
            <a:r>
              <a:rPr lang="en-US" sz="1500" b="0" i="0">
                <a:solidFill>
                  <a:srgbClr val="1E2B36"/>
                </a:solidFill>
                <a:latin typeface="Calibri"/>
                <a:ea typeface="Calibri"/>
                <a:cs typeface="Calibri"/>
                <a:sym typeface="Calibri"/>
              </a:rPr>
              <a:t>A failed probe read sets a sensor-fault state, never 'normal water'</a:t>
            </a:r>
            <a:endParaRPr/>
          </a:p>
          <a:p>
            <a:pPr marL="201168" marR="0" lvl="0" indent="-201168" algn="l" rtl="0">
              <a:spcBef>
                <a:spcPts val="900"/>
              </a:spcBef>
              <a:spcAft>
                <a:spcPts val="0"/>
              </a:spcAft>
              <a:buClr>
                <a:srgbClr val="005686"/>
              </a:buClr>
              <a:buSzPts val="1500"/>
              <a:buFont typeface="Arial"/>
              <a:buChar char="•"/>
            </a:pPr>
            <a:r>
              <a:rPr lang="en-US" sz="1500" b="0" i="0">
                <a:solidFill>
                  <a:srgbClr val="1E2B36"/>
                </a:solidFill>
                <a:latin typeface="Calibri"/>
                <a:ea typeface="Calibri"/>
                <a:cs typeface="Calibri"/>
                <a:sym typeface="Calibri"/>
              </a:rPr>
              <a:t>Save the learned baseline to flash, so a reboot doesn't erase it</a:t>
            </a:r>
            <a:endParaRPr/>
          </a:p>
          <a:p>
            <a:pPr marL="201168" marR="0" lvl="0" indent="-201168" algn="l" rtl="0">
              <a:spcBef>
                <a:spcPts val="900"/>
              </a:spcBef>
              <a:spcAft>
                <a:spcPts val="0"/>
              </a:spcAft>
              <a:buClr>
                <a:srgbClr val="005686"/>
              </a:buClr>
              <a:buSzPts val="1500"/>
              <a:buFont typeface="Arial"/>
              <a:buChar char="•"/>
            </a:pPr>
            <a:r>
              <a:rPr lang="en-US" sz="1500" b="0" i="0">
                <a:solidFill>
                  <a:srgbClr val="1E2B36"/>
                </a:solidFill>
                <a:latin typeface="Calibri"/>
                <a:ea typeface="Calibri"/>
                <a:cs typeface="Calibri"/>
                <a:sym typeface="Calibri"/>
              </a:rPr>
              <a:t>One bottle per event, so 4 bottles cover 4 separate events</a:t>
            </a:r>
            <a:endParaRPr/>
          </a:p>
          <a:p>
            <a:pPr marL="201168" marR="0" lvl="0" indent="-201168" algn="l" rtl="0">
              <a:spcBef>
                <a:spcPts val="900"/>
              </a:spcBef>
              <a:spcAft>
                <a:spcPts val="0"/>
              </a:spcAft>
              <a:buClr>
                <a:srgbClr val="005686"/>
              </a:buClr>
              <a:buSzPts val="1500"/>
              <a:buFont typeface="Arial"/>
              <a:buChar char="•"/>
            </a:pPr>
            <a:r>
              <a:rPr lang="en-US" sz="1500" b="0" i="0">
                <a:solidFill>
                  <a:srgbClr val="1E2B36"/>
                </a:solidFill>
                <a:latin typeface="Calibri"/>
                <a:ea typeface="Calibri"/>
                <a:cs typeface="Calibri"/>
                <a:sym typeface="Calibri"/>
              </a:rPr>
              <a:t>Clear stale alarm state when learning ends</a:t>
            </a:r>
            <a:endParaRPr/>
          </a:p>
          <a:p>
            <a:pPr marL="201168" marR="0" lvl="0" indent="-201168" algn="l" rtl="0">
              <a:spcBef>
                <a:spcPts val="900"/>
              </a:spcBef>
              <a:spcAft>
                <a:spcPts val="0"/>
              </a:spcAft>
              <a:buClr>
                <a:srgbClr val="005686"/>
              </a:buClr>
              <a:buSzPts val="1500"/>
              <a:buFont typeface="Arial"/>
              <a:buChar char="•"/>
            </a:pPr>
            <a:r>
              <a:rPr lang="en-US" sz="1500" b="0" i="0">
                <a:solidFill>
                  <a:srgbClr val="1E2B36"/>
                </a:solidFill>
                <a:latin typeface="Calibri"/>
                <a:ea typeface="Calibri"/>
                <a:cs typeface="Calibri"/>
                <a:sym typeface="Calibri"/>
              </a:rPr>
              <a:t>Use river level to tell monsoon runoff from a discharge (planned)</a:t>
            </a:r>
            <a:endParaRPr/>
          </a:p>
        </p:txBody>
      </p:sp>
      <p:sp>
        <p:nvSpPr>
          <p:cNvPr id="568" name="Google Shape;568;p17"/>
          <p:cNvSpPr txBox="1"/>
          <p:nvPr/>
        </p:nvSpPr>
        <p:spPr>
          <a:xfrm>
            <a:off x="484632" y="5870448"/>
            <a:ext cx="11219688" cy="23774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000" b="0" i="0">
                <a:solidFill>
                  <a:srgbClr val="5B6B78"/>
                </a:solidFill>
                <a:latin typeface="Calibri"/>
                <a:ea typeface="Calibri"/>
                <a:cs typeface="Calibri"/>
                <a:sym typeface="Calibri"/>
              </a:rPr>
              <a:t>Sources: our audit's analytics review (18 Oct); firmware anomaly_engine.cpp; analytics/evaluate.py on the synthetic dataset.</a:t>
            </a:r>
            <a:endParaRPr sz="1000" b="0" i="0">
              <a:solidFill>
                <a:srgbClr val="5B6B78"/>
              </a:solidFill>
              <a:latin typeface="Calibri"/>
              <a:ea typeface="Calibri"/>
              <a:cs typeface="Calibri"/>
              <a:sym typeface="Calibri"/>
            </a:endParaRPr>
          </a:p>
        </p:txBody>
      </p:sp>
      <p:sp>
        <p:nvSpPr>
          <p:cNvPr id="569" name="Google Shape;569;p17">
            <a:hlinkClick r:id="rId3" action="ppaction://hlinksldjump"/>
          </p:cNvPr>
          <p:cNvSpPr/>
          <p:nvPr/>
        </p:nvSpPr>
        <p:spPr>
          <a:xfrm>
            <a:off x="9982200" y="254000"/>
            <a:ext cx="1727200" cy="330200"/>
          </a:xfrm>
          <a:prstGeom prst="roundRect">
            <a:avLst>
              <a:gd name="adj" fmla="val 18000"/>
            </a:avLst>
          </a:prstGeom>
          <a:solidFill>
            <a:srgbClr val="EAF3F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000" b="1">
                <a:solidFill>
                  <a:srgbClr val="125A88"/>
                </a:solidFill>
                <a:latin typeface="Calibri"/>
                <a:ea typeface="Calibri"/>
                <a:cs typeface="Calibri"/>
                <a:sym typeface="Calibri"/>
              </a:rPr>
              <a:t>↩  Back to questions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18"/>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A5 · Cost: ₹1.57 lakh a float, ₹1.24 lakh at 100</a:t>
            </a:r>
            <a:endParaRPr/>
          </a:p>
        </p:txBody>
      </p:sp>
      <p:sp>
        <p:nvSpPr>
          <p:cNvPr id="576" name="Google Shape;576;p18"/>
          <p:cNvSpPr txBox="1"/>
          <p:nvPr/>
        </p:nvSpPr>
        <p:spPr>
          <a:xfrm>
            <a:off x="484632" y="1645920"/>
            <a:ext cx="6766560" cy="36576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Prototype cost: one float + its bridge kit, ₹ ex-GST (researched 23 Oct)</a:t>
            </a:r>
            <a:endParaRPr/>
          </a:p>
        </p:txBody>
      </p:sp>
      <p:graphicFrame>
        <p:nvGraphicFramePr>
          <p:cNvPr id="577" name="Google Shape;577;p18"/>
          <p:cNvGraphicFramePr/>
          <p:nvPr/>
        </p:nvGraphicFramePr>
        <p:xfrm>
          <a:off x="484632" y="2011680"/>
          <a:ext cx="67665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78" name="Google Shape;578;p18"/>
          <p:cNvSpPr/>
          <p:nvPr/>
        </p:nvSpPr>
        <p:spPr>
          <a:xfrm>
            <a:off x="7589520" y="1645920"/>
            <a:ext cx="4114800" cy="96012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9" name="Google Shape;579;p18"/>
          <p:cNvSpPr txBox="1"/>
          <p:nvPr/>
        </p:nvSpPr>
        <p:spPr>
          <a:xfrm>
            <a:off x="7726679" y="1682496"/>
            <a:ext cx="3840480" cy="43891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2200" b="1" i="0">
                <a:solidFill>
                  <a:srgbClr val="005686"/>
                </a:solidFill>
                <a:latin typeface="Calibri"/>
                <a:ea typeface="Calibri"/>
                <a:cs typeface="Calibri"/>
                <a:sym typeface="Calibri"/>
              </a:rPr>
              <a:t>≈ ₹1.57 lakh</a:t>
            </a:r>
            <a:endParaRPr/>
          </a:p>
        </p:txBody>
      </p:sp>
      <p:sp>
        <p:nvSpPr>
          <p:cNvPr id="580" name="Google Shape;580;p18"/>
          <p:cNvSpPr txBox="1"/>
          <p:nvPr/>
        </p:nvSpPr>
        <p:spPr>
          <a:xfrm>
            <a:off x="7726679" y="2103120"/>
            <a:ext cx="3840480" cy="47548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300" b="0" i="0">
                <a:solidFill>
                  <a:srgbClr val="1E2B36"/>
                </a:solidFill>
                <a:latin typeface="Calibri"/>
                <a:ea typeface="Calibri"/>
                <a:cs typeface="Calibri"/>
                <a:sym typeface="Calibri"/>
              </a:rPr>
              <a:t>per float, ex-GST; bridge kit ₹0.29 lakh at each float's bridge; all 66 part numbers priced</a:t>
            </a:r>
            <a:endParaRPr/>
          </a:p>
        </p:txBody>
      </p:sp>
      <p:sp>
        <p:nvSpPr>
          <p:cNvPr id="581" name="Google Shape;581;p18"/>
          <p:cNvSpPr/>
          <p:nvPr/>
        </p:nvSpPr>
        <p:spPr>
          <a:xfrm>
            <a:off x="7589520" y="2724912"/>
            <a:ext cx="4114800" cy="96012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2" name="Google Shape;582;p18"/>
          <p:cNvSpPr txBox="1"/>
          <p:nvPr/>
        </p:nvSpPr>
        <p:spPr>
          <a:xfrm>
            <a:off x="7726679" y="2761488"/>
            <a:ext cx="3840480" cy="43891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2200" b="1" i="0">
                <a:solidFill>
                  <a:srgbClr val="005686"/>
                </a:solidFill>
                <a:latin typeface="Calibri"/>
                <a:ea typeface="Calibri"/>
                <a:cs typeface="Calibri"/>
                <a:sym typeface="Calibri"/>
              </a:rPr>
              <a:t>−₹32.6k</a:t>
            </a:r>
            <a:endParaRPr/>
          </a:p>
        </p:txBody>
      </p:sp>
      <p:sp>
        <p:nvSpPr>
          <p:cNvPr id="583" name="Google Shape;583;p18"/>
          <p:cNvSpPr txBox="1"/>
          <p:nvPr/>
        </p:nvSpPr>
        <p:spPr>
          <a:xfrm>
            <a:off x="7726679" y="3182112"/>
            <a:ext cx="3840480" cy="47548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300" b="0" i="0">
                <a:solidFill>
                  <a:srgbClr val="1E2B36"/>
                </a:solidFill>
                <a:latin typeface="Calibri"/>
                <a:ea typeface="Calibri"/>
                <a:cs typeface="Calibri"/>
                <a:sym typeface="Calibri"/>
              </a:rPr>
              <a:t>revised estimate: contingency moved to the pilot budget (₹19.8k) + 4 design simplifications (₹12.8k)</a:t>
            </a:r>
            <a:endParaRPr/>
          </a:p>
        </p:txBody>
      </p:sp>
      <p:sp>
        <p:nvSpPr>
          <p:cNvPr id="584" name="Google Shape;584;p18"/>
          <p:cNvSpPr/>
          <p:nvPr/>
        </p:nvSpPr>
        <p:spPr>
          <a:xfrm>
            <a:off x="7589520" y="3803904"/>
            <a:ext cx="4114800" cy="96012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5" name="Google Shape;585;p18"/>
          <p:cNvSpPr txBox="1"/>
          <p:nvPr/>
        </p:nvSpPr>
        <p:spPr>
          <a:xfrm>
            <a:off x="7726679" y="3840480"/>
            <a:ext cx="3840480" cy="43891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2200" b="1" i="0">
                <a:solidFill>
                  <a:srgbClr val="005686"/>
                </a:solidFill>
                <a:latin typeface="Calibri"/>
                <a:ea typeface="Calibri"/>
                <a:cs typeface="Calibri"/>
                <a:sym typeface="Calibri"/>
              </a:rPr>
              <a:t>≈ ₹1.24 lakh</a:t>
            </a:r>
            <a:endParaRPr/>
          </a:p>
        </p:txBody>
      </p:sp>
      <p:sp>
        <p:nvSpPr>
          <p:cNvPr id="586" name="Google Shape;586;p18"/>
          <p:cNvSpPr txBox="1"/>
          <p:nvPr/>
        </p:nvSpPr>
        <p:spPr>
          <a:xfrm>
            <a:off x="7726679" y="4261104"/>
            <a:ext cx="3840480" cy="47548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300" b="0" i="0">
                <a:solidFill>
                  <a:srgbClr val="1E2B36"/>
                </a:solidFill>
                <a:latin typeface="Calibri"/>
                <a:ea typeface="Calibri"/>
                <a:cs typeface="Calibri"/>
                <a:sym typeface="Calibri"/>
              </a:rPr>
              <a:t>per float at 100 units: one rotomould, welding jigs, probe volume price</a:t>
            </a:r>
            <a:endParaRPr/>
          </a:p>
        </p:txBody>
      </p:sp>
      <p:sp>
        <p:nvSpPr>
          <p:cNvPr id="587" name="Google Shape;587;p18"/>
          <p:cNvSpPr/>
          <p:nvPr/>
        </p:nvSpPr>
        <p:spPr>
          <a:xfrm>
            <a:off x="7589520" y="4882896"/>
            <a:ext cx="4114800" cy="960120"/>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8" name="Google Shape;588;p18"/>
          <p:cNvSpPr txBox="1"/>
          <p:nvPr/>
        </p:nvSpPr>
        <p:spPr>
          <a:xfrm>
            <a:off x="7726679" y="4919472"/>
            <a:ext cx="3840480" cy="43891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2200" b="1" i="0">
                <a:solidFill>
                  <a:srgbClr val="005686"/>
                </a:solidFill>
                <a:latin typeface="Calibri"/>
                <a:ea typeface="Calibri"/>
                <a:cs typeface="Calibri"/>
                <a:sym typeface="Calibri"/>
              </a:rPr>
              <a:t>Cost-down</a:t>
            </a:r>
            <a:endParaRPr/>
          </a:p>
        </p:txBody>
      </p:sp>
      <p:sp>
        <p:nvSpPr>
          <p:cNvPr id="589" name="Google Shape;589;p18"/>
          <p:cNvSpPr txBox="1"/>
          <p:nvPr/>
        </p:nvSpPr>
        <p:spPr>
          <a:xfrm>
            <a:off x="7726679" y="5340096"/>
            <a:ext cx="3840480" cy="475488"/>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300" b="0" i="0">
                <a:solidFill>
                  <a:srgbClr val="1E2B36"/>
                </a:solidFill>
                <a:latin typeface="Calibri"/>
                <a:ea typeface="Calibri"/>
                <a:cs typeface="Calibri"/>
                <a:sym typeface="Calibri"/>
              </a:rPr>
              <a:t>next: probe volume pricing, a K = 1 EC cell; a Lite float (pH, EC) ≈ ₹1.13 lakh</a:t>
            </a:r>
            <a:endParaRPr/>
          </a:p>
        </p:txBody>
      </p:sp>
      <p:sp>
        <p:nvSpPr>
          <p:cNvPr id="590" name="Google Shape;590;p18">
            <a:hlinkClick r:id="rId4" action="ppaction://hlinksldjump"/>
          </p:cNvPr>
          <p:cNvSpPr/>
          <p:nvPr/>
        </p:nvSpPr>
        <p:spPr>
          <a:xfrm>
            <a:off x="9982200" y="254000"/>
            <a:ext cx="1727200" cy="330200"/>
          </a:xfrm>
          <a:prstGeom prst="roundRect">
            <a:avLst>
              <a:gd name="adj" fmla="val 18000"/>
            </a:avLst>
          </a:prstGeom>
          <a:solidFill>
            <a:srgbClr val="EAF3F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000" b="1">
                <a:solidFill>
                  <a:srgbClr val="125A88"/>
                </a:solidFill>
                <a:latin typeface="Calibri"/>
                <a:ea typeface="Calibri"/>
                <a:cs typeface="Calibri"/>
                <a:sym typeface="Calibri"/>
              </a:rPr>
              <a:t>↩  Back to questions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19"/>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A6 · Market: a large problem, sparse monitoring</a:t>
            </a:r>
            <a:endParaRPr/>
          </a:p>
        </p:txBody>
      </p:sp>
      <p:graphicFrame>
        <p:nvGraphicFramePr>
          <p:cNvPr id="597" name="Google Shape;597;p19"/>
          <p:cNvGraphicFramePr/>
          <p:nvPr/>
        </p:nvGraphicFramePr>
        <p:xfrm>
          <a:off x="484632" y="1645920"/>
          <a:ext cx="3000000" cy="3000000"/>
        </p:xfrm>
        <a:graphic>
          <a:graphicData uri="http://schemas.openxmlformats.org/drawingml/2006/table">
            <a:tbl>
              <a:tblPr firstRow="1">
                <a:noFill/>
                <a:tableStyleId>{A42D2ACD-31DC-41B1-94D3-554865B21F35}</a:tableStyleId>
              </a:tblPr>
              <a:tblGrid>
                <a:gridCol w="2926075">
                  <a:extLst>
                    <a:ext uri="{9D8B030D-6E8A-4147-A177-3AD203B41FA5}">
                      <a16:colId xmlns:a16="http://schemas.microsoft.com/office/drawing/2014/main" val="20000"/>
                    </a:ext>
                  </a:extLst>
                </a:gridCol>
                <a:gridCol w="5394950">
                  <a:extLst>
                    <a:ext uri="{9D8B030D-6E8A-4147-A177-3AD203B41FA5}">
                      <a16:colId xmlns:a16="http://schemas.microsoft.com/office/drawing/2014/main" val="20001"/>
                    </a:ext>
                  </a:extLst>
                </a:gridCol>
                <a:gridCol w="2898650">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None/>
                      </a:pPr>
                      <a:r>
                        <a:rPr lang="en-US" sz="1400" b="1" i="0" u="none" strike="noStrike" cap="none">
                          <a:solidFill>
                            <a:srgbClr val="FFFFFF"/>
                          </a:solidFill>
                          <a:latin typeface="Calibri"/>
                          <a:ea typeface="Calibri"/>
                          <a:cs typeface="Calibri"/>
                          <a:sym typeface="Calibri"/>
                        </a:rPr>
                        <a:t>Fact</a:t>
                      </a:r>
                      <a:endParaRPr/>
                    </a:p>
                  </a:txBody>
                  <a:tcPr marL="73150" marR="73150" marT="27425" marB="27425" anchor="ctr">
                    <a:solidFill>
                      <a:srgbClr val="005686"/>
                    </a:solidFill>
                  </a:tcPr>
                </a:tc>
                <a:tc>
                  <a:txBody>
                    <a:bodyPr/>
                    <a:lstStyle/>
                    <a:p>
                      <a:pPr marL="0" marR="0" lvl="0" indent="0" algn="l" rtl="0">
                        <a:spcBef>
                          <a:spcPts val="0"/>
                        </a:spcBef>
                        <a:spcAft>
                          <a:spcPts val="0"/>
                        </a:spcAft>
                        <a:buNone/>
                      </a:pPr>
                      <a:r>
                        <a:rPr lang="en-US" sz="1400" b="1" i="0" u="none" strike="noStrike" cap="none">
                          <a:solidFill>
                            <a:srgbClr val="FFFFFF"/>
                          </a:solidFill>
                          <a:latin typeface="Calibri"/>
                          <a:ea typeface="Calibri"/>
                          <a:cs typeface="Calibri"/>
                          <a:sym typeface="Calibri"/>
                        </a:rPr>
                        <a:t>Number</a:t>
                      </a:r>
                      <a:endParaRPr/>
                    </a:p>
                  </a:txBody>
                  <a:tcPr marL="73150" marR="73150" marT="27425" marB="27425" anchor="ctr">
                    <a:solidFill>
                      <a:srgbClr val="005686"/>
                    </a:solidFill>
                  </a:tcPr>
                </a:tc>
                <a:tc>
                  <a:txBody>
                    <a:bodyPr/>
                    <a:lstStyle/>
                    <a:p>
                      <a:pPr marL="0" marR="0" lvl="0" indent="0" algn="l" rtl="0">
                        <a:spcBef>
                          <a:spcPts val="0"/>
                        </a:spcBef>
                        <a:spcAft>
                          <a:spcPts val="0"/>
                        </a:spcAft>
                        <a:buNone/>
                      </a:pPr>
                      <a:r>
                        <a:rPr lang="en-US" sz="1400" b="1" i="0" u="none" strike="noStrike" cap="none">
                          <a:solidFill>
                            <a:srgbClr val="FFFFFF"/>
                          </a:solidFill>
                          <a:latin typeface="Calibri"/>
                          <a:ea typeface="Calibri"/>
                          <a:cs typeface="Calibri"/>
                          <a:sym typeface="Calibri"/>
                        </a:rPr>
                        <a:t>Source</a:t>
                      </a:r>
                      <a:endParaRPr/>
                    </a:p>
                  </a:txBody>
                  <a:tcPr marL="73150" marR="73150" marT="27425" marB="27425" anchor="ctr">
                    <a:solidFill>
                      <a:srgbClr val="005686"/>
                    </a:solidFill>
                  </a:tcPr>
                </a:tc>
                <a:extLst>
                  <a:ext uri="{0D108BD9-81ED-4DB2-BD59-A6C34878D82A}">
                    <a16:rowId xmlns:a16="http://schemas.microsoft.com/office/drawing/2014/main" val="10000"/>
                  </a:ext>
                </a:extLst>
              </a:tr>
              <a:tr h="457200">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Polluted river stretches/locations, India</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296 on 271 rivers: 156 stretches + 140 locations (CPCB, published 2025, 2022–23 data)</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PIB, 16 Mar 2026; CPCB</a:t>
                      </a:r>
                      <a:endParaRPr/>
                    </a:p>
                  </a:txBody>
                  <a:tcPr marL="73150" marR="73150" marT="27425" marB="27425" anchor="ctr">
                    <a:solidFill>
                      <a:srgbClr val="FFFFFF"/>
                    </a:solidFill>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Maharashtra</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54, still the most of any state (55 in the 2022 assessment)</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PIB; CPCB</a:t>
                      </a:r>
                      <a:endParaRPr/>
                    </a:p>
                  </a:txBody>
                  <a:tcPr marL="73150" marR="73150" marT="27425" marB="27425" anchor="ctr">
                    <a:solidFill>
                      <a:srgbClr val="EAF3F8"/>
                    </a:solidFill>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National monitoring network</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 4,922 locations, 2,265 on rivers; manual samples, monthly or quarterly</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CPCB reply to NGT, OA 413/2025</a:t>
                      </a:r>
                      <a:endParaRPr/>
                    </a:p>
                  </a:txBody>
                  <a:tcPr marL="73150" marR="73150" marT="27425" marB="27425" anchor="ctr">
                    <a:solidFill>
                      <a:srgbClr val="FFFFFF"/>
                    </a:solidFill>
                  </a:tcPr>
                </a:tc>
                <a:extLst>
                  <a:ext uri="{0D108BD9-81ED-4DB2-BD59-A6C34878D82A}">
                    <a16:rowId xmlns:a16="http://schemas.microsoft.com/office/drawing/2014/main" val="10003"/>
                  </a:ext>
                </a:extLst>
              </a:tr>
              <a:tr h="457200">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Real-time station cost</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₹35–40 lakh for 10-parameter instruments; ≈ ₹50–84 lakh with systems</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CSE; Lok Sabha reply 5115</a:t>
                      </a:r>
                      <a:endParaRPr/>
                    </a:p>
                  </a:txBody>
                  <a:tcPr marL="73150" marR="73150" marT="27425" marB="27425" anchor="ctr">
                    <a:solidFill>
                      <a:srgbClr val="EAF3F8"/>
                    </a:solidFill>
                  </a:tcPr>
                </a:tc>
                <a:extLst>
                  <a:ext uri="{0D108BD9-81ED-4DB2-BD59-A6C34878D82A}">
                    <a16:rowId xmlns:a16="http://schemas.microsoft.com/office/drawing/2014/main" val="10004"/>
                  </a:ext>
                </a:extLst>
              </a:tr>
            </a:tbl>
          </a:graphicData>
        </a:graphic>
      </p:graphicFrame>
      <p:sp>
        <p:nvSpPr>
          <p:cNvPr id="598" name="Google Shape;598;p19"/>
          <p:cNvSpPr txBox="1"/>
          <p:nvPr/>
        </p:nvSpPr>
        <p:spPr>
          <a:xfrm>
            <a:off x="484632" y="4005072"/>
            <a:ext cx="11219688" cy="32918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Illustrative market size (assumptions)</a:t>
            </a:r>
            <a:endParaRPr/>
          </a:p>
        </p:txBody>
      </p:sp>
      <p:graphicFrame>
        <p:nvGraphicFramePr>
          <p:cNvPr id="599" name="Google Shape;599;p19"/>
          <p:cNvGraphicFramePr/>
          <p:nvPr/>
        </p:nvGraphicFramePr>
        <p:xfrm>
          <a:off x="484632" y="4370832"/>
          <a:ext cx="3000000" cy="3000000"/>
        </p:xfrm>
        <a:graphic>
          <a:graphicData uri="http://schemas.openxmlformats.org/drawingml/2006/table">
            <a:tbl>
              <a:tblPr firstRow="1">
                <a:noFill/>
                <a:tableStyleId>{A42D2ACD-31DC-41B1-94D3-554865B21F35}</a:tableStyleId>
              </a:tblPr>
              <a:tblGrid>
                <a:gridCol w="2926075">
                  <a:extLst>
                    <a:ext uri="{9D8B030D-6E8A-4147-A177-3AD203B41FA5}">
                      <a16:colId xmlns:a16="http://schemas.microsoft.com/office/drawing/2014/main" val="20000"/>
                    </a:ext>
                  </a:extLst>
                </a:gridCol>
                <a:gridCol w="3108950">
                  <a:extLst>
                    <a:ext uri="{9D8B030D-6E8A-4147-A177-3AD203B41FA5}">
                      <a16:colId xmlns:a16="http://schemas.microsoft.com/office/drawing/2014/main" val="20001"/>
                    </a:ext>
                  </a:extLst>
                </a:gridCol>
                <a:gridCol w="5184650">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None/>
                      </a:pPr>
                      <a:r>
                        <a:rPr lang="en-US" sz="1400" b="1" i="0" u="none" strike="noStrike" cap="none">
                          <a:solidFill>
                            <a:srgbClr val="FFFFFF"/>
                          </a:solidFill>
                          <a:latin typeface="Calibri"/>
                          <a:ea typeface="Calibri"/>
                          <a:cs typeface="Calibri"/>
                          <a:sym typeface="Calibri"/>
                        </a:rPr>
                        <a:t>Scope</a:t>
                      </a:r>
                      <a:endParaRPr/>
                    </a:p>
                  </a:txBody>
                  <a:tcPr marL="73150" marR="73150" marT="27425" marB="27425" anchor="ctr">
                    <a:solidFill>
                      <a:srgbClr val="005686"/>
                    </a:solidFill>
                  </a:tcPr>
                </a:tc>
                <a:tc>
                  <a:txBody>
                    <a:bodyPr/>
                    <a:lstStyle/>
                    <a:p>
                      <a:pPr marL="0" marR="0" lvl="0" indent="0" algn="l" rtl="0">
                        <a:spcBef>
                          <a:spcPts val="0"/>
                        </a:spcBef>
                        <a:spcAft>
                          <a:spcPts val="0"/>
                        </a:spcAft>
                        <a:buNone/>
                      </a:pPr>
                      <a:r>
                        <a:rPr lang="en-US" sz="1400" b="1" i="0" u="none" strike="noStrike" cap="none">
                          <a:solidFill>
                            <a:srgbClr val="FFFFFF"/>
                          </a:solidFill>
                          <a:latin typeface="Calibri"/>
                          <a:ea typeface="Calibri"/>
                          <a:cs typeface="Calibri"/>
                          <a:sym typeface="Calibri"/>
                        </a:rPr>
                        <a:t>Floats (3 per counted site)</a:t>
                      </a:r>
                      <a:endParaRPr/>
                    </a:p>
                  </a:txBody>
                  <a:tcPr marL="73150" marR="73150" marT="27425" marB="27425" anchor="ctr">
                    <a:solidFill>
                      <a:srgbClr val="005686"/>
                    </a:solidFill>
                  </a:tcPr>
                </a:tc>
                <a:tc>
                  <a:txBody>
                    <a:bodyPr/>
                    <a:lstStyle/>
                    <a:p>
                      <a:pPr marL="0" marR="0" lvl="0" indent="0" algn="l" rtl="0">
                        <a:spcBef>
                          <a:spcPts val="0"/>
                        </a:spcBef>
                        <a:spcAft>
                          <a:spcPts val="0"/>
                        </a:spcAft>
                        <a:buNone/>
                      </a:pPr>
                      <a:r>
                        <a:rPr lang="en-US" sz="1400" b="1" i="0" u="none" strike="noStrike" cap="none">
                          <a:solidFill>
                            <a:srgbClr val="FFFFFF"/>
                          </a:solidFill>
                          <a:latin typeface="Calibri"/>
                          <a:ea typeface="Calibri"/>
                          <a:cs typeface="Calibri"/>
                          <a:sym typeface="Calibri"/>
                        </a:rPr>
                        <a:t>Revenue at ₹1.44 lakh per float-year</a:t>
                      </a:r>
                      <a:endParaRPr/>
                    </a:p>
                  </a:txBody>
                  <a:tcPr marL="73150" marR="73150" marT="27425" marB="27425" anchor="ctr">
                    <a:solidFill>
                      <a:srgbClr val="005686"/>
                    </a:solidFill>
                  </a:tcPr>
                </a:tc>
                <a:extLst>
                  <a:ext uri="{0D108BD9-81ED-4DB2-BD59-A6C34878D82A}">
                    <a16:rowId xmlns:a16="http://schemas.microsoft.com/office/drawing/2014/main" val="10000"/>
                  </a:ext>
                </a:extLst>
              </a:tr>
              <a:tr h="384050">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Maharashtra, 54 sites</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162</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 ₹2.33 crore a year</a:t>
                      </a:r>
                      <a:endParaRPr/>
                    </a:p>
                  </a:txBody>
                  <a:tcPr marL="73150" marR="73150" marT="27425" marB="27425" anchor="ctr">
                    <a:solidFill>
                      <a:srgbClr val="FFFFFF"/>
                    </a:solidFill>
                  </a:tcPr>
                </a:tc>
                <a:extLst>
                  <a:ext uri="{0D108BD9-81ED-4DB2-BD59-A6C34878D82A}">
                    <a16:rowId xmlns:a16="http://schemas.microsoft.com/office/drawing/2014/main" val="10001"/>
                  </a:ext>
                </a:extLst>
              </a:tr>
              <a:tr h="384050">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India, 296 sites</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888</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 ₹12.8 crore a year</a:t>
                      </a:r>
                      <a:endParaRPr/>
                    </a:p>
                  </a:txBody>
                  <a:tcPr marL="73150" marR="73150" marT="27425" marB="27425" anchor="ctr">
                    <a:solidFill>
                      <a:srgbClr val="EAF3F8"/>
                    </a:solidFill>
                  </a:tcPr>
                </a:tc>
                <a:extLst>
                  <a:ext uri="{0D108BD9-81ED-4DB2-BD59-A6C34878D82A}">
                    <a16:rowId xmlns:a16="http://schemas.microsoft.com/office/drawing/2014/main" val="10002"/>
                  </a:ext>
                </a:extLst>
              </a:tr>
            </a:tbl>
          </a:graphicData>
        </a:graphic>
      </p:graphicFrame>
      <p:sp>
        <p:nvSpPr>
          <p:cNvPr id="600" name="Google Shape;600;p19"/>
          <p:cNvSpPr txBox="1"/>
          <p:nvPr/>
        </p:nvSpPr>
        <p:spPr>
          <a:xfrm>
            <a:off x="484632" y="5596128"/>
            <a:ext cx="11219688" cy="27432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000" b="0" i="0">
                <a:solidFill>
                  <a:srgbClr val="5B6B78"/>
                </a:solidFill>
                <a:latin typeface="Calibri"/>
                <a:ea typeface="Calibri"/>
                <a:cs typeface="Calibri"/>
                <a:sym typeface="Calibri"/>
              </a:rPr>
              <a:t>Market size is illustrative: floats per stretch and the fee (₹12,000 a month) are assumptions to validate in the pilot.</a:t>
            </a:r>
            <a:endParaRPr/>
          </a:p>
        </p:txBody>
      </p:sp>
      <p:sp>
        <p:nvSpPr>
          <p:cNvPr id="601" name="Google Shape;601;p19">
            <a:hlinkClick r:id="rId3" action="ppaction://hlinksldjump"/>
          </p:cNvPr>
          <p:cNvSpPr/>
          <p:nvPr/>
        </p:nvSpPr>
        <p:spPr>
          <a:xfrm>
            <a:off x="9982200" y="254000"/>
            <a:ext cx="1727200" cy="330200"/>
          </a:xfrm>
          <a:prstGeom prst="roundRect">
            <a:avLst>
              <a:gd name="adj" fmla="val 18000"/>
            </a:avLst>
          </a:prstGeom>
          <a:solidFill>
            <a:srgbClr val="EAF3F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000" b="1">
                <a:solidFill>
                  <a:srgbClr val="125A88"/>
                </a:solidFill>
                <a:latin typeface="Calibri"/>
                <a:ea typeface="Calibri"/>
                <a:cs typeface="Calibri"/>
                <a:sym typeface="Calibri"/>
              </a:rPr>
              <a:t>↩  Back to questions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20"/>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A7 · Risks we know, and how we handle them</a:t>
            </a:r>
            <a:endParaRPr/>
          </a:p>
        </p:txBody>
      </p:sp>
      <p:graphicFrame>
        <p:nvGraphicFramePr>
          <p:cNvPr id="608" name="Google Shape;608;p20"/>
          <p:cNvGraphicFramePr/>
          <p:nvPr/>
        </p:nvGraphicFramePr>
        <p:xfrm>
          <a:off x="484632" y="1645920"/>
          <a:ext cx="3000000" cy="3000000"/>
        </p:xfrm>
        <a:graphic>
          <a:graphicData uri="http://schemas.openxmlformats.org/drawingml/2006/table">
            <a:tbl>
              <a:tblPr firstRow="1">
                <a:noFill/>
                <a:tableStyleId>{A42D2ACD-31DC-41B1-94D3-554865B21F35}</a:tableStyleId>
              </a:tblPr>
              <a:tblGrid>
                <a:gridCol w="2743200">
                  <a:extLst>
                    <a:ext uri="{9D8B030D-6E8A-4147-A177-3AD203B41FA5}">
                      <a16:colId xmlns:a16="http://schemas.microsoft.com/office/drawing/2014/main" val="20000"/>
                    </a:ext>
                  </a:extLst>
                </a:gridCol>
                <a:gridCol w="3566150">
                  <a:extLst>
                    <a:ext uri="{9D8B030D-6E8A-4147-A177-3AD203B41FA5}">
                      <a16:colId xmlns:a16="http://schemas.microsoft.com/office/drawing/2014/main" val="20001"/>
                    </a:ext>
                  </a:extLst>
                </a:gridCol>
                <a:gridCol w="4910325">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None/>
                      </a:pPr>
                      <a:r>
                        <a:rPr lang="en-US" sz="1400" b="1" i="0" u="none" strike="noStrike" cap="none">
                          <a:solidFill>
                            <a:srgbClr val="FFFFFF"/>
                          </a:solidFill>
                          <a:latin typeface="Calibri"/>
                          <a:ea typeface="Calibri"/>
                          <a:cs typeface="Calibri"/>
                          <a:sym typeface="Calibri"/>
                        </a:rPr>
                        <a:t>Risk</a:t>
                      </a:r>
                      <a:endParaRPr/>
                    </a:p>
                  </a:txBody>
                  <a:tcPr marL="73150" marR="73150" marT="27425" marB="27425" anchor="ctr">
                    <a:solidFill>
                      <a:srgbClr val="005686"/>
                    </a:solidFill>
                  </a:tcPr>
                </a:tc>
                <a:tc>
                  <a:txBody>
                    <a:bodyPr/>
                    <a:lstStyle/>
                    <a:p>
                      <a:pPr marL="0" marR="0" lvl="0" indent="0" algn="l" rtl="0">
                        <a:spcBef>
                          <a:spcPts val="0"/>
                        </a:spcBef>
                        <a:spcAft>
                          <a:spcPts val="0"/>
                        </a:spcAft>
                        <a:buNone/>
                      </a:pPr>
                      <a:r>
                        <a:rPr lang="en-US" sz="1400" b="1" i="0" u="none" strike="noStrike" cap="none">
                          <a:solidFill>
                            <a:srgbClr val="FFFFFF"/>
                          </a:solidFill>
                          <a:latin typeface="Calibri"/>
                          <a:ea typeface="Calibri"/>
                          <a:cs typeface="Calibri"/>
                          <a:sym typeface="Calibri"/>
                        </a:rPr>
                        <a:t>Why it matters</a:t>
                      </a:r>
                      <a:endParaRPr/>
                    </a:p>
                  </a:txBody>
                  <a:tcPr marL="73150" marR="73150" marT="27425" marB="27425" anchor="ctr">
                    <a:solidFill>
                      <a:srgbClr val="005686"/>
                    </a:solidFill>
                  </a:tcPr>
                </a:tc>
                <a:tc>
                  <a:txBody>
                    <a:bodyPr/>
                    <a:lstStyle/>
                    <a:p>
                      <a:pPr marL="0" marR="0" lvl="0" indent="0" algn="l" rtl="0">
                        <a:spcBef>
                          <a:spcPts val="0"/>
                        </a:spcBef>
                        <a:spcAft>
                          <a:spcPts val="0"/>
                        </a:spcAft>
                        <a:buNone/>
                      </a:pPr>
                      <a:r>
                        <a:rPr lang="en-US" sz="1400" b="1" i="0" u="none" strike="noStrike" cap="none">
                          <a:solidFill>
                            <a:srgbClr val="FFFFFF"/>
                          </a:solidFill>
                          <a:latin typeface="Calibri"/>
                          <a:ea typeface="Calibri"/>
                          <a:cs typeface="Calibri"/>
                          <a:sym typeface="Calibri"/>
                        </a:rPr>
                        <a:t>How we handle it</a:t>
                      </a:r>
                      <a:endParaRPr/>
                    </a:p>
                  </a:txBody>
                  <a:tcPr marL="73150" marR="73150" marT="27425" marB="27425" anchor="ctr">
                    <a:solidFill>
                      <a:srgbClr val="005686"/>
                    </a:solidFill>
                  </a:tcPr>
                </a:tc>
                <a:extLst>
                  <a:ext uri="{0D108BD9-81ED-4DB2-BD59-A6C34878D82A}">
                    <a16:rowId xmlns:a16="http://schemas.microsoft.com/office/drawing/2014/main" val="10000"/>
                  </a:ext>
                </a:extLst>
              </a:tr>
              <a:tr h="530350">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Flood above 2 m of travel</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the float is held under at the top stop</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get gauge data (CWC/WRD); longer travel or a breakaway link; lift out on flood warnings</a:t>
                      </a:r>
                      <a:endParaRPr/>
                    </a:p>
                  </a:txBody>
                  <a:tcPr marL="73150" marR="73150" marT="27425" marB="27425" anchor="ctr">
                    <a:solidFill>
                      <a:srgbClr val="FFFFFF"/>
                    </a:solidFill>
                  </a:tcPr>
                </a:tc>
                <a:extLst>
                  <a:ext uri="{0D108BD9-81ED-4DB2-BD59-A6C34878D82A}">
                    <a16:rowId xmlns:a16="http://schemas.microsoft.com/office/drawing/2014/main" val="10001"/>
                  </a:ext>
                </a:extLst>
              </a:tr>
              <a:tr h="530350">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Bridge-pier wake</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unsteady yaw and cyclic loads</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observe in the tank and on site; side-face mounting if needed</a:t>
                      </a:r>
                      <a:endParaRPr/>
                    </a:p>
                  </a:txBody>
                  <a:tcPr marL="73150" marR="73150" marT="27425" marB="27425" anchor="ctr">
                    <a:solidFill>
                      <a:srgbClr val="EAF3F8"/>
                    </a:solidFill>
                  </a:tcPr>
                </a:tc>
                <a:extLst>
                  <a:ext uri="{0D108BD9-81ED-4DB2-BD59-A6C34878D82A}">
                    <a16:rowId xmlns:a16="http://schemas.microsoft.com/office/drawing/2014/main" val="10002"/>
                  </a:ext>
                </a:extLst>
              </a:tr>
              <a:tr h="530350">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Probe fouling and drift</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false or missed alarms</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wiper; monthly service with before/after readings; lab comparison</a:t>
                      </a:r>
                      <a:endParaRPr/>
                    </a:p>
                  </a:txBody>
                  <a:tcPr marL="73150" marR="73150" marT="27425" marB="27425" anchor="ctr">
                    <a:solidFill>
                      <a:srgbClr val="FFFFFF"/>
                    </a:solidFill>
                  </a:tcPr>
                </a:tc>
                <a:extLst>
                  <a:ext uri="{0D108BD9-81ED-4DB2-BD59-A6C34878D82A}">
                    <a16:rowId xmlns:a16="http://schemas.microsoft.com/office/drawing/2014/main" val="10003"/>
                  </a:ext>
                </a:extLst>
              </a:tr>
              <a:tr h="530350">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Level sensor blind zone</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no river level near high water</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compare a pressure transducer and a downward radar</a:t>
                      </a:r>
                      <a:endParaRPr/>
                    </a:p>
                  </a:txBody>
                  <a:tcPr marL="73150" marR="73150" marT="27425" marB="27425" anchor="ctr">
                    <a:solidFill>
                      <a:srgbClr val="EAF3F8"/>
                    </a:solidFill>
                  </a:tcPr>
                </a:tc>
                <a:extLst>
                  <a:ext uri="{0D108BD9-81ED-4DB2-BD59-A6C34878D82A}">
                    <a16:rowId xmlns:a16="http://schemas.microsoft.com/office/drawing/2014/main" val="10004"/>
                  </a:ext>
                </a:extLst>
              </a:tr>
              <a:tr h="530350">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Sample is not legal evidence</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Water Act §21 needs the Board's procedure</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a triage sample that triggers the Board's formal sampling</a:t>
                      </a:r>
                      <a:endParaRPr/>
                    </a:p>
                  </a:txBody>
                  <a:tcPr marL="73150" marR="73150" marT="27425" marB="27425" anchor="ctr">
                    <a:solidFill>
                      <a:srgbClr val="FFFFFF"/>
                    </a:solidFill>
                  </a:tcPr>
                </a:tc>
                <a:extLst>
                  <a:ext uri="{0D108BD9-81ED-4DB2-BD59-A6C34878D82A}">
                    <a16:rowId xmlns:a16="http://schemas.microsoft.com/office/drawing/2014/main" val="10005"/>
                  </a:ext>
                </a:extLst>
              </a:tr>
              <a:tr h="530350">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Beacon colours</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red and green read as navigation marks</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ask the waterway authority; yellow or shielded light</a:t>
                      </a:r>
                      <a:endParaRPr/>
                    </a:p>
                  </a:txBody>
                  <a:tcPr marL="73150" marR="73150" marT="27425" marB="27425" anchor="ctr">
                    <a:solidFill>
                      <a:srgbClr val="EAF3F8"/>
                    </a:solidFill>
                  </a:tcPr>
                </a:tc>
                <a:extLst>
                  <a:ext uri="{0D108BD9-81ED-4DB2-BD59-A6C34878D82A}">
                    <a16:rowId xmlns:a16="http://schemas.microsoft.com/office/drawing/2014/main" val="10006"/>
                  </a:ext>
                </a:extLst>
              </a:tr>
              <a:tr h="530350">
                <a:tc>
                  <a:txBody>
                    <a:bodyPr/>
                    <a:lstStyle/>
                    <a:p>
                      <a:pPr marL="0" marR="0" lvl="0" indent="0" algn="l" rtl="0">
                        <a:spcBef>
                          <a:spcPts val="0"/>
                        </a:spcBef>
                        <a:spcAft>
                          <a:spcPts val="0"/>
                        </a:spcAft>
                        <a:buNone/>
                      </a:pPr>
                      <a:r>
                        <a:rPr lang="en-US" sz="1400" b="1" i="0" u="none" strike="noStrike" cap="none">
                          <a:solidFill>
                            <a:srgbClr val="1E2B36"/>
                          </a:solidFill>
                          <a:latin typeface="Calibri"/>
                          <a:ea typeface="Calibri"/>
                          <a:cs typeface="Calibri"/>
                          <a:sym typeface="Calibri"/>
                        </a:rPr>
                        <a:t>Permits</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no pilot without them</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400" b="0" i="0" u="none" strike="noStrike" cap="none">
                          <a:solidFill>
                            <a:srgbClr val="1E2B36"/>
                          </a:solidFill>
                          <a:latin typeface="Calibri"/>
                          <a:ea typeface="Calibri"/>
                          <a:cs typeface="Calibri"/>
                          <a:sym typeface="Calibri"/>
                        </a:rPr>
                        <a:t>bridge owner, river authority and MPCB: start now</a:t>
                      </a:r>
                      <a:endParaRPr/>
                    </a:p>
                  </a:txBody>
                  <a:tcPr marL="73150" marR="73150" marT="27425" marB="27425" anchor="ctr">
                    <a:solidFill>
                      <a:srgbClr val="FFFFFF"/>
                    </a:solidFill>
                  </a:tcPr>
                </a:tc>
                <a:extLst>
                  <a:ext uri="{0D108BD9-81ED-4DB2-BD59-A6C34878D82A}">
                    <a16:rowId xmlns:a16="http://schemas.microsoft.com/office/drawing/2014/main" val="10007"/>
                  </a:ext>
                </a:extLst>
              </a:tr>
            </a:tbl>
          </a:graphicData>
        </a:graphic>
      </p:graphicFrame>
      <p:sp>
        <p:nvSpPr>
          <p:cNvPr id="609" name="Google Shape;609;p20">
            <a:hlinkClick r:id="rId3" action="ppaction://hlinksldjump"/>
          </p:cNvPr>
          <p:cNvSpPr/>
          <p:nvPr/>
        </p:nvSpPr>
        <p:spPr>
          <a:xfrm>
            <a:off x="9982200" y="254000"/>
            <a:ext cx="1727200" cy="330200"/>
          </a:xfrm>
          <a:prstGeom prst="roundRect">
            <a:avLst>
              <a:gd name="adj" fmla="val 18000"/>
            </a:avLst>
          </a:prstGeom>
          <a:solidFill>
            <a:srgbClr val="EAF3F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000" b="1">
                <a:solidFill>
                  <a:srgbClr val="125A88"/>
                </a:solidFill>
                <a:latin typeface="Calibri"/>
                <a:ea typeface="Calibri"/>
                <a:cs typeface="Calibri"/>
                <a:sym typeface="Calibri"/>
              </a:rPr>
              <a:t>↩  Back to questions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21"/>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A8 · Roadmap to the finale and the pilot</a:t>
            </a:r>
            <a:endParaRPr/>
          </a:p>
        </p:txBody>
      </p:sp>
      <p:sp>
        <p:nvSpPr>
          <p:cNvPr id="616" name="Google Shape;616;p21"/>
          <p:cNvSpPr/>
          <p:nvPr/>
        </p:nvSpPr>
        <p:spPr>
          <a:xfrm>
            <a:off x="914400" y="2724912"/>
            <a:ext cx="10332720" cy="54864"/>
          </a:xfrm>
          <a:prstGeom prst="rect">
            <a:avLst/>
          </a:prstGeom>
          <a:solidFill>
            <a:srgbClr val="C9DBE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7" name="Google Shape;617;p21"/>
          <p:cNvSpPr/>
          <p:nvPr/>
        </p:nvSpPr>
        <p:spPr>
          <a:xfrm>
            <a:off x="731520" y="2569464"/>
            <a:ext cx="365760" cy="365760"/>
          </a:xfrm>
          <a:prstGeom prst="ellipse">
            <a:avLst/>
          </a:prstGeom>
          <a:solidFill>
            <a:srgbClr val="DA091C"/>
          </a:solidFill>
          <a:ln>
            <a:noFill/>
          </a:ln>
        </p:spPr>
        <p:txBody>
          <a:bodyPr spcFirstLastPara="1" wrap="square" lIns="0" tIns="18275" rIns="0" bIns="182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8" name="Google Shape;618;p21"/>
          <p:cNvSpPr txBox="1"/>
          <p:nvPr/>
        </p:nvSpPr>
        <p:spPr>
          <a:xfrm>
            <a:off x="-45720" y="2011680"/>
            <a:ext cx="1920240" cy="457200"/>
          </a:xfrm>
          <a:prstGeom prst="rect">
            <a:avLst/>
          </a:prstGeom>
          <a:noFill/>
          <a:ln>
            <a:noFill/>
          </a:ln>
        </p:spPr>
        <p:txBody>
          <a:bodyPr spcFirstLastPara="1" wrap="square" lIns="36575" tIns="18275" rIns="36575" bIns="18275" anchor="b" anchorCtr="0">
            <a:noAutofit/>
          </a:bodyPr>
          <a:lstStyle/>
          <a:p>
            <a:pPr marL="0" marR="0" lvl="0" indent="0" algn="ctr" rtl="0">
              <a:spcBef>
                <a:spcPts val="0"/>
              </a:spcBef>
              <a:spcAft>
                <a:spcPts val="0"/>
              </a:spcAft>
              <a:buNone/>
            </a:pPr>
            <a:r>
              <a:rPr lang="en-US" sz="1600" b="1" i="0">
                <a:solidFill>
                  <a:srgbClr val="005686"/>
                </a:solidFill>
                <a:latin typeface="Calibri"/>
                <a:ea typeface="Calibri"/>
                <a:cs typeface="Calibri"/>
                <a:sym typeface="Calibri"/>
              </a:rPr>
              <a:t>24–25 Oct</a:t>
            </a:r>
            <a:endParaRPr/>
          </a:p>
        </p:txBody>
      </p:sp>
      <p:sp>
        <p:nvSpPr>
          <p:cNvPr id="619" name="Google Shape;619;p21"/>
          <p:cNvSpPr txBox="1"/>
          <p:nvPr/>
        </p:nvSpPr>
        <p:spPr>
          <a:xfrm>
            <a:off x="-45720" y="3063240"/>
            <a:ext cx="1920240" cy="1005840"/>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400" b="0" i="0">
                <a:solidFill>
                  <a:srgbClr val="1E2B36"/>
                </a:solidFill>
                <a:latin typeface="Calibri"/>
                <a:ea typeface="Calibri"/>
                <a:cs typeface="Calibri"/>
                <a:sym typeface="Calibri"/>
              </a:rPr>
              <a:t>India Semi-Final (online)</a:t>
            </a:r>
            <a:endParaRPr/>
          </a:p>
        </p:txBody>
      </p:sp>
      <p:sp>
        <p:nvSpPr>
          <p:cNvPr id="620" name="Google Shape;620;p21"/>
          <p:cNvSpPr/>
          <p:nvPr/>
        </p:nvSpPr>
        <p:spPr>
          <a:xfrm>
            <a:off x="2798064" y="2569464"/>
            <a:ext cx="365760" cy="365760"/>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1" name="Google Shape;621;p21"/>
          <p:cNvSpPr txBox="1"/>
          <p:nvPr/>
        </p:nvSpPr>
        <p:spPr>
          <a:xfrm>
            <a:off x="2020824" y="2011680"/>
            <a:ext cx="1920240" cy="457200"/>
          </a:xfrm>
          <a:prstGeom prst="rect">
            <a:avLst/>
          </a:prstGeom>
          <a:noFill/>
          <a:ln>
            <a:noFill/>
          </a:ln>
        </p:spPr>
        <p:txBody>
          <a:bodyPr spcFirstLastPara="1" wrap="square" lIns="36575" tIns="18275" rIns="36575" bIns="18275" anchor="b" anchorCtr="0">
            <a:noAutofit/>
          </a:bodyPr>
          <a:lstStyle/>
          <a:p>
            <a:pPr marL="0" marR="0" lvl="0" indent="0" algn="ctr" rtl="0">
              <a:spcBef>
                <a:spcPts val="0"/>
              </a:spcBef>
              <a:spcAft>
                <a:spcPts val="0"/>
              </a:spcAft>
              <a:buNone/>
            </a:pPr>
            <a:r>
              <a:rPr lang="en-US" sz="1600" b="1" i="0">
                <a:solidFill>
                  <a:srgbClr val="005686"/>
                </a:solidFill>
                <a:latin typeface="Calibri"/>
                <a:ea typeface="Calibri"/>
                <a:cs typeface="Calibri"/>
                <a:sym typeface="Calibri"/>
              </a:rPr>
              <a:t>Before 19 Nov</a:t>
            </a:r>
            <a:endParaRPr/>
          </a:p>
        </p:txBody>
      </p:sp>
      <p:sp>
        <p:nvSpPr>
          <p:cNvPr id="622" name="Google Shape;622;p21"/>
          <p:cNvSpPr txBox="1"/>
          <p:nvPr/>
        </p:nvSpPr>
        <p:spPr>
          <a:xfrm>
            <a:off x="2020824" y="3063240"/>
            <a:ext cx="1920240" cy="1005840"/>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400" b="0" i="0">
                <a:solidFill>
                  <a:srgbClr val="1E2B36"/>
                </a:solidFill>
                <a:latin typeface="Calibri"/>
                <a:ea typeface="Calibri"/>
                <a:cs typeface="Calibri"/>
                <a:sym typeface="Calibri"/>
              </a:rPr>
              <a:t>1:5 model in water + electronics bench demo</a:t>
            </a:r>
            <a:endParaRPr/>
          </a:p>
        </p:txBody>
      </p:sp>
      <p:sp>
        <p:nvSpPr>
          <p:cNvPr id="623" name="Google Shape;623;p21"/>
          <p:cNvSpPr/>
          <p:nvPr/>
        </p:nvSpPr>
        <p:spPr>
          <a:xfrm>
            <a:off x="4864608" y="2569464"/>
            <a:ext cx="365760" cy="365760"/>
          </a:xfrm>
          <a:prstGeom prst="ellipse">
            <a:avLst/>
          </a:prstGeom>
          <a:solidFill>
            <a:srgbClr val="DA091C"/>
          </a:solidFill>
          <a:ln>
            <a:noFill/>
          </a:ln>
        </p:spPr>
        <p:txBody>
          <a:bodyPr spcFirstLastPara="1" wrap="square" lIns="0" tIns="18275" rIns="0" bIns="182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4" name="Google Shape;624;p21"/>
          <p:cNvSpPr txBox="1"/>
          <p:nvPr/>
        </p:nvSpPr>
        <p:spPr>
          <a:xfrm>
            <a:off x="4087368" y="2011680"/>
            <a:ext cx="1920240" cy="457200"/>
          </a:xfrm>
          <a:prstGeom prst="rect">
            <a:avLst/>
          </a:prstGeom>
          <a:noFill/>
          <a:ln>
            <a:noFill/>
          </a:ln>
        </p:spPr>
        <p:txBody>
          <a:bodyPr spcFirstLastPara="1" wrap="square" lIns="36575" tIns="18275" rIns="36575" bIns="18275" anchor="b" anchorCtr="0">
            <a:noAutofit/>
          </a:bodyPr>
          <a:lstStyle/>
          <a:p>
            <a:pPr marL="0" marR="0" lvl="0" indent="0" algn="ctr" rtl="0">
              <a:spcBef>
                <a:spcPts val="0"/>
              </a:spcBef>
              <a:spcAft>
                <a:spcPts val="0"/>
              </a:spcAft>
              <a:buNone/>
            </a:pPr>
            <a:r>
              <a:rPr lang="en-US" sz="1600" b="1" i="0">
                <a:solidFill>
                  <a:srgbClr val="005686"/>
                </a:solidFill>
                <a:latin typeface="Calibri"/>
                <a:ea typeface="Calibri"/>
                <a:cs typeface="Calibri"/>
                <a:sym typeface="Calibri"/>
              </a:rPr>
              <a:t>19–20 Nov</a:t>
            </a:r>
            <a:endParaRPr/>
          </a:p>
        </p:txBody>
      </p:sp>
      <p:sp>
        <p:nvSpPr>
          <p:cNvPr id="625" name="Google Shape;625;p21"/>
          <p:cNvSpPr txBox="1"/>
          <p:nvPr/>
        </p:nvSpPr>
        <p:spPr>
          <a:xfrm>
            <a:off x="4087368" y="3063240"/>
            <a:ext cx="1920240" cy="1005840"/>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400" b="0" i="0">
                <a:solidFill>
                  <a:srgbClr val="1E2B36"/>
                </a:solidFill>
                <a:latin typeface="Calibri"/>
                <a:ea typeface="Calibri"/>
                <a:cs typeface="Calibri"/>
                <a:sym typeface="Calibri"/>
              </a:rPr>
              <a:t>India Geo Finale (in person)</a:t>
            </a:r>
            <a:endParaRPr/>
          </a:p>
        </p:txBody>
      </p:sp>
      <p:sp>
        <p:nvSpPr>
          <p:cNvPr id="626" name="Google Shape;626;p21"/>
          <p:cNvSpPr/>
          <p:nvPr/>
        </p:nvSpPr>
        <p:spPr>
          <a:xfrm>
            <a:off x="6931152" y="2569464"/>
            <a:ext cx="365760" cy="365760"/>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7" name="Google Shape;627;p21"/>
          <p:cNvSpPr txBox="1"/>
          <p:nvPr/>
        </p:nvSpPr>
        <p:spPr>
          <a:xfrm>
            <a:off x="6153912" y="2011680"/>
            <a:ext cx="1920240" cy="457200"/>
          </a:xfrm>
          <a:prstGeom prst="rect">
            <a:avLst/>
          </a:prstGeom>
          <a:noFill/>
          <a:ln>
            <a:noFill/>
          </a:ln>
        </p:spPr>
        <p:txBody>
          <a:bodyPr spcFirstLastPara="1" wrap="square" lIns="36575" tIns="18275" rIns="36575" bIns="18275" anchor="b" anchorCtr="0">
            <a:noAutofit/>
          </a:bodyPr>
          <a:lstStyle/>
          <a:p>
            <a:pPr marL="0" marR="0" lvl="0" indent="0" algn="ctr" rtl="0">
              <a:spcBef>
                <a:spcPts val="0"/>
              </a:spcBef>
              <a:spcAft>
                <a:spcPts val="0"/>
              </a:spcAft>
              <a:buNone/>
            </a:pPr>
            <a:r>
              <a:rPr lang="en-US" sz="1600" b="1" i="0">
                <a:solidFill>
                  <a:srgbClr val="005686"/>
                </a:solidFill>
                <a:latin typeface="Calibri"/>
                <a:ea typeface="Calibri"/>
                <a:cs typeface="Calibri"/>
                <a:sym typeface="Calibri"/>
              </a:rPr>
              <a:t>After the finale</a:t>
            </a:r>
            <a:endParaRPr/>
          </a:p>
        </p:txBody>
      </p:sp>
      <p:sp>
        <p:nvSpPr>
          <p:cNvPr id="628" name="Google Shape;628;p21"/>
          <p:cNvSpPr txBox="1"/>
          <p:nvPr/>
        </p:nvSpPr>
        <p:spPr>
          <a:xfrm>
            <a:off x="6153912" y="3063240"/>
            <a:ext cx="1920240" cy="1005840"/>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400" b="0" i="0">
                <a:solidFill>
                  <a:srgbClr val="1E2B36"/>
                </a:solidFill>
                <a:latin typeface="Calibri"/>
                <a:ea typeface="Calibri"/>
                <a:cs typeface="Calibri"/>
                <a:sym typeface="Calibri"/>
              </a:rPr>
              <a:t>Full-size tank test: draft, 2 m travel, roller friction</a:t>
            </a:r>
            <a:endParaRPr/>
          </a:p>
        </p:txBody>
      </p:sp>
      <p:sp>
        <p:nvSpPr>
          <p:cNvPr id="629" name="Google Shape;629;p21"/>
          <p:cNvSpPr/>
          <p:nvPr/>
        </p:nvSpPr>
        <p:spPr>
          <a:xfrm>
            <a:off x="8997696" y="2569464"/>
            <a:ext cx="365760" cy="365760"/>
          </a:xfrm>
          <a:prstGeom prst="ellipse">
            <a:avLst/>
          </a:prstGeom>
          <a:solidFill>
            <a:srgbClr val="005686"/>
          </a:solidFill>
          <a:ln>
            <a:noFill/>
          </a:ln>
        </p:spPr>
        <p:txBody>
          <a:bodyPr spcFirstLastPara="1" wrap="square" lIns="0" tIns="18275" rIns="0" bIns="182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0" name="Google Shape;630;p21"/>
          <p:cNvSpPr txBox="1"/>
          <p:nvPr/>
        </p:nvSpPr>
        <p:spPr>
          <a:xfrm>
            <a:off x="8220456" y="2011680"/>
            <a:ext cx="1920240" cy="457200"/>
          </a:xfrm>
          <a:prstGeom prst="rect">
            <a:avLst/>
          </a:prstGeom>
          <a:noFill/>
          <a:ln>
            <a:noFill/>
          </a:ln>
        </p:spPr>
        <p:txBody>
          <a:bodyPr spcFirstLastPara="1" wrap="square" lIns="36575" tIns="18275" rIns="36575" bIns="18275" anchor="b" anchorCtr="0">
            <a:noAutofit/>
          </a:bodyPr>
          <a:lstStyle/>
          <a:p>
            <a:pPr marL="0" marR="0" lvl="0" indent="0" algn="ctr" rtl="0">
              <a:spcBef>
                <a:spcPts val="0"/>
              </a:spcBef>
              <a:spcAft>
                <a:spcPts val="0"/>
              </a:spcAft>
              <a:buNone/>
            </a:pPr>
            <a:r>
              <a:rPr lang="en-US" sz="1600" b="1" i="0">
                <a:solidFill>
                  <a:srgbClr val="005686"/>
                </a:solidFill>
                <a:latin typeface="Calibri"/>
                <a:ea typeface="Calibri"/>
                <a:cs typeface="Calibri"/>
                <a:sym typeface="Calibri"/>
              </a:rPr>
              <a:t>After permits</a:t>
            </a:r>
            <a:endParaRPr/>
          </a:p>
        </p:txBody>
      </p:sp>
      <p:sp>
        <p:nvSpPr>
          <p:cNvPr id="631" name="Google Shape;631;p21"/>
          <p:cNvSpPr txBox="1"/>
          <p:nvPr/>
        </p:nvSpPr>
        <p:spPr>
          <a:xfrm>
            <a:off x="8220456" y="3063240"/>
            <a:ext cx="1920240" cy="1005840"/>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400" b="0" i="0">
                <a:solidFill>
                  <a:srgbClr val="1E2B36"/>
                </a:solidFill>
                <a:latin typeface="Calibri"/>
                <a:ea typeface="Calibri"/>
                <a:cs typeface="Calibri"/>
                <a:sym typeface="Calibri"/>
              </a:rPr>
              <a:t>30-day Godavari pilot at Kopargaon</a:t>
            </a:r>
            <a:endParaRPr/>
          </a:p>
        </p:txBody>
      </p:sp>
      <p:sp>
        <p:nvSpPr>
          <p:cNvPr id="632" name="Google Shape;632;p21"/>
          <p:cNvSpPr/>
          <p:nvPr/>
        </p:nvSpPr>
        <p:spPr>
          <a:xfrm>
            <a:off x="11064240" y="2569464"/>
            <a:ext cx="365760" cy="365760"/>
          </a:xfrm>
          <a:prstGeom prst="ellipse">
            <a:avLst/>
          </a:prstGeom>
          <a:solidFill>
            <a:srgbClr val="DA091C"/>
          </a:solidFill>
          <a:ln>
            <a:noFill/>
          </a:ln>
        </p:spPr>
        <p:txBody>
          <a:bodyPr spcFirstLastPara="1" wrap="square" lIns="0" tIns="18275" rIns="0" bIns="182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3" name="Google Shape;633;p21"/>
          <p:cNvSpPr txBox="1"/>
          <p:nvPr/>
        </p:nvSpPr>
        <p:spPr>
          <a:xfrm>
            <a:off x="10287000" y="2011680"/>
            <a:ext cx="1920240" cy="457200"/>
          </a:xfrm>
          <a:prstGeom prst="rect">
            <a:avLst/>
          </a:prstGeom>
          <a:noFill/>
          <a:ln>
            <a:noFill/>
          </a:ln>
        </p:spPr>
        <p:txBody>
          <a:bodyPr spcFirstLastPara="1" wrap="square" lIns="36575" tIns="18275" rIns="36575" bIns="18275" anchor="b" anchorCtr="0">
            <a:noAutofit/>
          </a:bodyPr>
          <a:lstStyle/>
          <a:p>
            <a:pPr marL="0" marR="0" lvl="0" indent="0" algn="ctr" rtl="0">
              <a:spcBef>
                <a:spcPts val="0"/>
              </a:spcBef>
              <a:spcAft>
                <a:spcPts val="0"/>
              </a:spcAft>
              <a:buNone/>
            </a:pPr>
            <a:r>
              <a:rPr lang="en-US" sz="1600" b="1" i="0">
                <a:solidFill>
                  <a:srgbClr val="005686"/>
                </a:solidFill>
                <a:latin typeface="Calibri"/>
                <a:ea typeface="Calibri"/>
                <a:cs typeface="Calibri"/>
                <a:sym typeface="Calibri"/>
              </a:rPr>
              <a:t>14–17 Feb 2027</a:t>
            </a:r>
            <a:endParaRPr/>
          </a:p>
        </p:txBody>
      </p:sp>
      <p:sp>
        <p:nvSpPr>
          <p:cNvPr id="634" name="Google Shape;634;p21"/>
          <p:cNvSpPr txBox="1"/>
          <p:nvPr/>
        </p:nvSpPr>
        <p:spPr>
          <a:xfrm>
            <a:off x="10287000" y="3063240"/>
            <a:ext cx="1920240" cy="1005840"/>
          </a:xfrm>
          <a:prstGeom prst="rect">
            <a:avLst/>
          </a:prstGeom>
          <a:noFill/>
          <a:ln>
            <a:noFill/>
          </a:ln>
        </p:spPr>
        <p:txBody>
          <a:bodyPr spcFirstLastPara="1" wrap="square" lIns="36575" tIns="18275" rIns="36575" bIns="18275" anchor="t" anchorCtr="0">
            <a:noAutofit/>
          </a:bodyPr>
          <a:lstStyle/>
          <a:p>
            <a:pPr marL="0" marR="0" lvl="0" indent="0" algn="ctr" rtl="0">
              <a:spcBef>
                <a:spcPts val="0"/>
              </a:spcBef>
              <a:spcAft>
                <a:spcPts val="0"/>
              </a:spcAft>
              <a:buNone/>
            </a:pPr>
            <a:r>
              <a:rPr lang="en-US" sz="1400" b="0" i="0">
                <a:solidFill>
                  <a:srgbClr val="1E2B36"/>
                </a:solidFill>
                <a:latin typeface="Calibri"/>
                <a:ea typeface="Calibri"/>
                <a:cs typeface="Calibri"/>
                <a:sym typeface="Calibri"/>
              </a:rPr>
              <a:t>International AAKRUTI Finale, 3DEXPERIENCE World, Nashville</a:t>
            </a:r>
            <a:endParaRPr/>
          </a:p>
        </p:txBody>
      </p:sp>
      <p:sp>
        <p:nvSpPr>
          <p:cNvPr id="635" name="Google Shape;635;p21"/>
          <p:cNvSpPr txBox="1"/>
          <p:nvPr/>
        </p:nvSpPr>
        <p:spPr>
          <a:xfrm>
            <a:off x="484632" y="4114800"/>
            <a:ext cx="11219688" cy="329184"/>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300" b="0" i="0">
                <a:solidFill>
                  <a:srgbClr val="DA091C"/>
                </a:solidFill>
                <a:latin typeface="Quattrocento Sans"/>
                <a:ea typeface="Quattrocento Sans"/>
                <a:cs typeface="Quattrocento Sans"/>
                <a:sym typeface="Quattrocento Sans"/>
              </a:rPr>
              <a:t>● </a:t>
            </a:r>
            <a:r>
              <a:rPr lang="en-US" sz="1300" b="0" i="0">
                <a:solidFill>
                  <a:srgbClr val="1E2B36"/>
                </a:solidFill>
                <a:latin typeface="Calibri"/>
                <a:ea typeface="Calibri"/>
                <a:cs typeface="Calibri"/>
                <a:sym typeface="Calibri"/>
              </a:rPr>
              <a:t>competition dates (organisers)    </a:t>
            </a:r>
            <a:r>
              <a:rPr lang="en-US" sz="1300" b="0" i="0">
                <a:solidFill>
                  <a:srgbClr val="005686"/>
                </a:solidFill>
                <a:latin typeface="Quattrocento Sans"/>
                <a:ea typeface="Quattrocento Sans"/>
                <a:cs typeface="Quattrocento Sans"/>
                <a:sym typeface="Quattrocento Sans"/>
              </a:rPr>
              <a:t>● </a:t>
            </a:r>
            <a:r>
              <a:rPr lang="en-US" sz="1300" b="0" i="0">
                <a:solidFill>
                  <a:srgbClr val="1E2B36"/>
                </a:solidFill>
                <a:latin typeface="Calibri"/>
                <a:ea typeface="Calibri"/>
                <a:cs typeface="Calibri"/>
                <a:sym typeface="Calibri"/>
              </a:rPr>
              <a:t>our plan</a:t>
            </a:r>
            <a:endParaRPr/>
          </a:p>
        </p:txBody>
      </p:sp>
      <p:sp>
        <p:nvSpPr>
          <p:cNvPr id="636" name="Google Shape;636;p21"/>
          <p:cNvSpPr/>
          <p:nvPr/>
        </p:nvSpPr>
        <p:spPr>
          <a:xfrm>
            <a:off x="484632" y="4553712"/>
            <a:ext cx="11219688" cy="144475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7" name="Google Shape;637;p21"/>
          <p:cNvSpPr txBox="1"/>
          <p:nvPr/>
        </p:nvSpPr>
        <p:spPr>
          <a:xfrm>
            <a:off x="685800" y="4608576"/>
            <a:ext cx="10789920" cy="347472"/>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600" b="1" i="0">
                <a:solidFill>
                  <a:srgbClr val="005686"/>
                </a:solidFill>
                <a:latin typeface="Calibri"/>
                <a:ea typeface="Calibri"/>
                <a:cs typeface="Calibri"/>
                <a:sym typeface="Calibri"/>
              </a:rPr>
              <a:t>What we aim to show at the 19–20 Nov finale (our plan)</a:t>
            </a:r>
            <a:endParaRPr/>
          </a:p>
        </p:txBody>
      </p:sp>
      <p:sp>
        <p:nvSpPr>
          <p:cNvPr id="638" name="Google Shape;638;p21"/>
          <p:cNvSpPr txBox="1"/>
          <p:nvPr/>
        </p:nvSpPr>
        <p:spPr>
          <a:xfrm>
            <a:off x="685800" y="4974336"/>
            <a:ext cx="10789920" cy="1005840"/>
          </a:xfrm>
          <a:prstGeom prst="rect">
            <a:avLst/>
          </a:prstGeom>
          <a:noFill/>
          <a:ln>
            <a:noFill/>
          </a:ln>
        </p:spPr>
        <p:txBody>
          <a:bodyPr spcFirstLastPara="1" wrap="square" lIns="36575" tIns="18275" rIns="36575" bIns="18275" anchor="t" anchorCtr="0">
            <a:noAutofit/>
          </a:bodyPr>
          <a:lstStyle/>
          <a:p>
            <a:pPr marL="201168" marR="0" lvl="0" indent="-201168" algn="l" rtl="0">
              <a:spcBef>
                <a:spcPts val="0"/>
              </a:spcBef>
              <a:spcAft>
                <a:spcPts val="0"/>
              </a:spcAft>
              <a:buClr>
                <a:srgbClr val="005686"/>
              </a:buClr>
              <a:buSzPts val="1400"/>
              <a:buFont typeface="Arial"/>
              <a:buChar char="•"/>
            </a:pPr>
            <a:r>
              <a:rPr lang="en-US" sz="1400" b="0" i="0">
                <a:solidFill>
                  <a:srgbClr val="1E2B36"/>
                </a:solidFill>
                <a:latin typeface="Calibri"/>
                <a:ea typeface="Calibri"/>
                <a:cs typeface="Calibri"/>
                <a:sym typeface="Calibri"/>
              </a:rPr>
              <a:t>Our 1:5 scale model in water: measured draft, level trim, and the float riding up its pole</a:t>
            </a:r>
            <a:endParaRPr/>
          </a:p>
          <a:p>
            <a:pPr marL="201168" marR="0" lvl="0" indent="-201168" algn="l" rtl="0">
              <a:spcBef>
                <a:spcPts val="300"/>
              </a:spcBef>
              <a:spcAft>
                <a:spcPts val="0"/>
              </a:spcAft>
              <a:buClr>
                <a:srgbClr val="005686"/>
              </a:buClr>
              <a:buSzPts val="1400"/>
              <a:buFont typeface="Arial"/>
              <a:buChar char="•"/>
            </a:pPr>
            <a:r>
              <a:rPr lang="en-US" sz="1400" b="0" i="0">
                <a:solidFill>
                  <a:srgbClr val="1E2B36"/>
                </a:solidFill>
                <a:latin typeface="Calibri"/>
                <a:ea typeface="Calibri"/>
                <a:cs typeface="Calibri"/>
                <a:sym typeface="Calibri"/>
              </a:rPr>
              <a:t>The decision logic running on the ESP32 with a real probe, on the bench</a:t>
            </a:r>
            <a:endParaRPr/>
          </a:p>
          <a:p>
            <a:pPr marL="201168" marR="0" lvl="0" indent="-201168" algn="l" rtl="0">
              <a:spcBef>
                <a:spcPts val="300"/>
              </a:spcBef>
              <a:spcAft>
                <a:spcPts val="0"/>
              </a:spcAft>
              <a:buClr>
                <a:srgbClr val="005686"/>
              </a:buClr>
              <a:buSzPts val="1400"/>
              <a:buFont typeface="Arial"/>
              <a:buChar char="•"/>
            </a:pPr>
            <a:r>
              <a:rPr lang="en-US" sz="1400" b="0" i="0">
                <a:solidFill>
                  <a:srgbClr val="1E2B36"/>
                </a:solidFill>
                <a:latin typeface="Calibri"/>
                <a:ea typeface="Calibri"/>
                <a:cs typeface="Calibri"/>
                <a:sym typeface="Calibri"/>
              </a:rPr>
              <a:t>The fixes from our audit: sensor-fault state, saved baseline, one bottle per event</a:t>
            </a:r>
            <a:endParaRPr/>
          </a:p>
        </p:txBody>
      </p:sp>
      <p:sp>
        <p:nvSpPr>
          <p:cNvPr id="639" name="Google Shape;639;p21">
            <a:hlinkClick r:id="rId3" action="ppaction://hlinksldjump"/>
          </p:cNvPr>
          <p:cNvSpPr/>
          <p:nvPr/>
        </p:nvSpPr>
        <p:spPr>
          <a:xfrm>
            <a:off x="9982200" y="254000"/>
            <a:ext cx="1727200" cy="330200"/>
          </a:xfrm>
          <a:prstGeom prst="roundRect">
            <a:avLst>
              <a:gd name="adj" fmla="val 18000"/>
            </a:avLst>
          </a:prstGeom>
          <a:solidFill>
            <a:srgbClr val="EAF3F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000" b="1">
                <a:solidFill>
                  <a:srgbClr val="125A88"/>
                </a:solidFill>
                <a:latin typeface="Calibri"/>
                <a:ea typeface="Calibri"/>
                <a:cs typeface="Calibri"/>
                <a:sym typeface="Calibri"/>
              </a:rPr>
              <a:t>↩  Back to questions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22"/>
          <p:cNvSpPr txBox="1">
            <a:spLocks noGrp="1"/>
          </p:cNvSpPr>
          <p:nvPr>
            <p:ph type="title"/>
          </p:nvPr>
        </p:nvSpPr>
        <p:spPr>
          <a:xfrm>
            <a:off x="484632" y="768096"/>
            <a:ext cx="11219688" cy="768096"/>
          </a:xfrm>
          <a:prstGeom prst="rect">
            <a:avLst/>
          </a:prstGeom>
          <a:noFill/>
          <a:ln>
            <a:noFill/>
          </a:ln>
        </p:spPr>
        <p:txBody>
          <a:bodyPr spcFirstLastPara="1" wrap="square" lIns="0" tIns="18275" rIns="0" bIns="18275" anchor="ctr" anchorCtr="0">
            <a:noAutofit/>
          </a:bodyPr>
          <a:lstStyle/>
          <a:p>
            <a:pPr marL="0" lvl="0" indent="0" algn="l" rtl="0">
              <a:lnSpc>
                <a:spcPct val="90000"/>
              </a:lnSpc>
              <a:spcBef>
                <a:spcPts val="0"/>
              </a:spcBef>
              <a:spcAft>
                <a:spcPts val="0"/>
              </a:spcAft>
              <a:buClr>
                <a:srgbClr val="125A88"/>
              </a:buClr>
              <a:buSzPts val="3600"/>
              <a:buFont typeface="Calibri"/>
              <a:buNone/>
            </a:pPr>
            <a:r>
              <a:rPr lang="en-US" sz="3600" b="1" i="0">
                <a:solidFill>
                  <a:srgbClr val="125A88"/>
                </a:solidFill>
                <a:latin typeface="Calibri"/>
                <a:ea typeface="Calibri"/>
                <a:cs typeface="Calibri"/>
                <a:sym typeface="Calibri"/>
              </a:rPr>
              <a:t>A9 · Prototype levels: where the 1:5 model fits</a:t>
            </a:r>
            <a:endParaRPr/>
          </a:p>
        </p:txBody>
      </p:sp>
      <p:pic>
        <p:nvPicPr>
          <p:cNvPr id="646" name="Google Shape;646;p22" descr="08_slide_render.png"/>
          <p:cNvPicPr preferRelativeResize="0"/>
          <p:nvPr/>
        </p:nvPicPr>
        <p:blipFill rotWithShape="1">
          <a:blip r:embed="rId3">
            <a:alphaModFix/>
          </a:blip>
          <a:srcRect/>
          <a:stretch/>
        </p:blipFill>
        <p:spPr>
          <a:xfrm>
            <a:off x="484632" y="1645920"/>
            <a:ext cx="4800600" cy="3840480"/>
          </a:xfrm>
          <a:prstGeom prst="rect">
            <a:avLst/>
          </a:prstGeom>
          <a:noFill/>
          <a:ln w="12700" cap="flat" cmpd="sng">
            <a:solidFill>
              <a:srgbClr val="C9DBE7"/>
            </a:solidFill>
            <a:prstDash val="solid"/>
            <a:round/>
            <a:headEnd type="none" w="sm" len="sm"/>
            <a:tailEnd type="none" w="sm" len="sm"/>
          </a:ln>
        </p:spPr>
      </p:pic>
      <p:sp>
        <p:nvSpPr>
          <p:cNvPr id="647" name="Google Shape;647;p22"/>
          <p:cNvSpPr/>
          <p:nvPr/>
        </p:nvSpPr>
        <p:spPr>
          <a:xfrm>
            <a:off x="621792" y="1783080"/>
            <a:ext cx="2103120" cy="566928"/>
          </a:xfrm>
          <a:prstGeom prst="roundRect">
            <a:avLst>
              <a:gd name="adj" fmla="val 25000"/>
            </a:avLst>
          </a:prstGeom>
          <a:solidFill>
            <a:srgbClr val="FFFFFF"/>
          </a:solidFill>
          <a:ln w="12700" cap="flat" cmpd="sng">
            <a:solidFill>
              <a:srgbClr val="DA091C"/>
            </a:solidFill>
            <a:prstDash val="solid"/>
            <a:miter lim="8000"/>
            <a:headEnd type="none" w="sm" len="sm"/>
            <a:tailEnd type="none" w="sm" len="sm"/>
          </a:ln>
        </p:spPr>
        <p:txBody>
          <a:bodyPr spcFirstLastPara="1" wrap="square" lIns="54850" tIns="18275" rIns="54850" bIns="18275" anchor="ctr" anchorCtr="0">
            <a:noAutofit/>
          </a:bodyPr>
          <a:lstStyle/>
          <a:p>
            <a:pPr marL="0" marR="0" lvl="0" indent="0" algn="ctr" rtl="0">
              <a:spcBef>
                <a:spcPts val="0"/>
              </a:spcBef>
              <a:spcAft>
                <a:spcPts val="0"/>
              </a:spcAft>
              <a:buNone/>
            </a:pPr>
            <a:r>
              <a:rPr lang="en-US" sz="1300" b="1" i="0">
                <a:solidFill>
                  <a:srgbClr val="DA091C"/>
                </a:solidFill>
                <a:latin typeface="Calibri"/>
                <a:ea typeface="Calibri"/>
                <a:cs typeface="Calibri"/>
                <a:sym typeface="Calibri"/>
              </a:rPr>
              <a:t>Render, not a photo</a:t>
            </a:r>
            <a:endParaRPr/>
          </a:p>
          <a:p>
            <a:pPr marL="0" marR="0" lvl="0" indent="0" algn="ctr" rtl="0">
              <a:spcBef>
                <a:spcPts val="0"/>
              </a:spcBef>
              <a:spcAft>
                <a:spcPts val="0"/>
              </a:spcAft>
              <a:buNone/>
            </a:pPr>
            <a:r>
              <a:rPr lang="en-US" sz="1100" b="0" i="0">
                <a:solidFill>
                  <a:srgbClr val="DA091C"/>
                </a:solidFill>
                <a:latin typeface="Calibri"/>
                <a:ea typeface="Calibri"/>
                <a:cs typeface="Calibri"/>
                <a:sym typeface="Calibri"/>
              </a:rPr>
              <a:t>made from our print files</a:t>
            </a:r>
            <a:endParaRPr/>
          </a:p>
        </p:txBody>
      </p:sp>
      <p:sp>
        <p:nvSpPr>
          <p:cNvPr id="648" name="Google Shape;648;p22"/>
          <p:cNvSpPr txBox="1"/>
          <p:nvPr/>
        </p:nvSpPr>
        <p:spPr>
          <a:xfrm>
            <a:off x="484632" y="5559552"/>
            <a:ext cx="4800600" cy="274320"/>
          </a:xfrm>
          <a:prstGeom prst="rect">
            <a:avLst/>
          </a:prstGeom>
          <a:noFill/>
          <a:ln>
            <a:noFill/>
          </a:ln>
        </p:spPr>
        <p:txBody>
          <a:bodyPr spcFirstLastPara="1" wrap="square" lIns="36575" tIns="18275" rIns="36575" bIns="18275" anchor="t" anchorCtr="0">
            <a:noAutofit/>
          </a:bodyPr>
          <a:lstStyle/>
          <a:p>
            <a:pPr marL="0" marR="0" lvl="0" indent="0" algn="l" rtl="0">
              <a:spcBef>
                <a:spcPts val="0"/>
              </a:spcBef>
              <a:spcAft>
                <a:spcPts val="0"/>
              </a:spcAft>
              <a:buNone/>
            </a:pPr>
            <a:r>
              <a:rPr lang="en-US" sz="1200" b="0" i="0">
                <a:solidFill>
                  <a:srgbClr val="5B6B78"/>
                </a:solidFill>
                <a:latin typeface="Calibri"/>
                <a:ea typeface="Calibri"/>
                <a:cs typeface="Calibri"/>
                <a:sym typeface="Calibri"/>
              </a:rPr>
              <a:t>1:5 model of R3 on a pier-and-pole stand: hulls 200 mm, pole 12 mm, 65 mm travel (325 mm full scale)</a:t>
            </a:r>
            <a:endParaRPr/>
          </a:p>
        </p:txBody>
      </p:sp>
      <p:graphicFrame>
        <p:nvGraphicFramePr>
          <p:cNvPr id="649" name="Google Shape;649;p22"/>
          <p:cNvGraphicFramePr/>
          <p:nvPr/>
        </p:nvGraphicFramePr>
        <p:xfrm>
          <a:off x="5532120" y="1645920"/>
          <a:ext cx="3000000" cy="3000000"/>
        </p:xfrm>
        <a:graphic>
          <a:graphicData uri="http://schemas.openxmlformats.org/drawingml/2006/table">
            <a:tbl>
              <a:tblPr firstRow="1">
                <a:noFill/>
                <a:tableStyleId>{A42D2ACD-31DC-41B1-94D3-554865B21F35}</a:tableStyleId>
              </a:tblPr>
              <a:tblGrid>
                <a:gridCol w="1874525">
                  <a:extLst>
                    <a:ext uri="{9D8B030D-6E8A-4147-A177-3AD203B41FA5}">
                      <a16:colId xmlns:a16="http://schemas.microsoft.com/office/drawing/2014/main" val="20000"/>
                    </a:ext>
                  </a:extLst>
                </a:gridCol>
                <a:gridCol w="2926075">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None/>
                      </a:pPr>
                      <a:r>
                        <a:rPr lang="en-US" sz="1300" b="1" i="0" u="none" strike="noStrike" cap="none">
                          <a:solidFill>
                            <a:srgbClr val="FFFFFF"/>
                          </a:solidFill>
                          <a:latin typeface="Calibri"/>
                          <a:ea typeface="Calibri"/>
                          <a:cs typeface="Calibri"/>
                          <a:sym typeface="Calibri"/>
                        </a:rPr>
                        <a:t>Level</a:t>
                      </a:r>
                      <a:endParaRPr/>
                    </a:p>
                  </a:txBody>
                  <a:tcPr marL="73150" marR="73150" marT="27425" marB="27425" anchor="ctr">
                    <a:solidFill>
                      <a:srgbClr val="005686"/>
                    </a:solidFill>
                  </a:tcPr>
                </a:tc>
                <a:tc>
                  <a:txBody>
                    <a:bodyPr/>
                    <a:lstStyle/>
                    <a:p>
                      <a:pPr marL="0" marR="0" lvl="0" indent="0" algn="l" rtl="0">
                        <a:spcBef>
                          <a:spcPts val="0"/>
                        </a:spcBef>
                        <a:spcAft>
                          <a:spcPts val="0"/>
                        </a:spcAft>
                        <a:buNone/>
                      </a:pPr>
                      <a:r>
                        <a:rPr lang="en-US" sz="1300" b="1" i="0" u="none" strike="noStrike" cap="none">
                          <a:solidFill>
                            <a:srgbClr val="FFFFFF"/>
                          </a:solidFill>
                          <a:latin typeface="Calibri"/>
                          <a:ea typeface="Calibri"/>
                          <a:cs typeface="Calibri"/>
                          <a:sym typeface="Calibri"/>
                        </a:rPr>
                        <a:t>What it shows</a:t>
                      </a:r>
                      <a:endParaRPr/>
                    </a:p>
                  </a:txBody>
                  <a:tcPr marL="73150" marR="73150" marT="27425" marB="27425" anchor="ctr">
                    <a:solidFill>
                      <a:srgbClr val="005686"/>
                    </a:solidFill>
                  </a:tcPr>
                </a:tc>
                <a:tc>
                  <a:txBody>
                    <a:bodyPr/>
                    <a:lstStyle/>
                    <a:p>
                      <a:pPr marL="0" marR="0" lvl="0" indent="0" algn="l" rtl="0">
                        <a:spcBef>
                          <a:spcPts val="0"/>
                        </a:spcBef>
                        <a:spcAft>
                          <a:spcPts val="0"/>
                        </a:spcAft>
                        <a:buNone/>
                      </a:pPr>
                      <a:r>
                        <a:rPr lang="en-US" sz="1300" b="1" i="0" u="none" strike="noStrike" cap="none">
                          <a:solidFill>
                            <a:srgbClr val="FFFFFF"/>
                          </a:solidFill>
                          <a:latin typeface="Calibri"/>
                          <a:ea typeface="Calibri"/>
                          <a:cs typeface="Calibri"/>
                          <a:sym typeface="Calibri"/>
                        </a:rPr>
                        <a:t>Status</a:t>
                      </a:r>
                      <a:endParaRPr/>
                    </a:p>
                  </a:txBody>
                  <a:tcPr marL="73150" marR="73150" marT="27425" marB="27425" anchor="ctr">
                    <a:solidFill>
                      <a:srgbClr val="005686"/>
                    </a:solidFill>
                  </a:tcPr>
                </a:tc>
                <a:extLst>
                  <a:ext uri="{0D108BD9-81ED-4DB2-BD59-A6C34878D82A}">
                    <a16:rowId xmlns:a16="http://schemas.microsoft.com/office/drawing/2014/main" val="10000"/>
                  </a:ext>
                </a:extLst>
              </a:tr>
              <a:tr h="566925">
                <a:tc>
                  <a:txBody>
                    <a:bodyPr/>
                    <a:lstStyle/>
                    <a:p>
                      <a:pPr marL="0" marR="0" lvl="0" indent="0" algn="l" rtl="0">
                        <a:spcBef>
                          <a:spcPts val="0"/>
                        </a:spcBef>
                        <a:spcAft>
                          <a:spcPts val="0"/>
                        </a:spcAft>
                        <a:buNone/>
                      </a:pPr>
                      <a:r>
                        <a:rPr lang="en-US" sz="1300" b="1" i="0" u="none" strike="noStrike" cap="none">
                          <a:solidFill>
                            <a:srgbClr val="1E2B36"/>
                          </a:solidFill>
                          <a:latin typeface="Calibri"/>
                          <a:ea typeface="Calibri"/>
                          <a:cs typeface="Calibri"/>
                          <a:sym typeface="Calibri"/>
                        </a:rPr>
                        <a:t>0 · Digital design</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300" b="0" i="0" u="none" strike="noStrike" cap="none">
                          <a:solidFill>
                            <a:srgbClr val="1E2B36"/>
                          </a:solidFill>
                          <a:latin typeface="Calibri"/>
                          <a:ea typeface="Calibri"/>
                          <a:cs typeface="Calibri"/>
                          <a:sym typeface="Calibri"/>
                        </a:rPr>
                        <a:t>CAD, calculations and FEA; logic flags 4 of 4 simulated spills</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300" b="0" i="0" u="none" strike="noStrike" cap="none">
                          <a:solidFill>
                            <a:srgbClr val="1B7F3B"/>
                          </a:solidFill>
                          <a:latin typeface="Quattrocento Sans"/>
                          <a:ea typeface="Quattrocento Sans"/>
                          <a:cs typeface="Quattrocento Sans"/>
                          <a:sym typeface="Quattrocento Sans"/>
                        </a:rPr>
                        <a:t>● </a:t>
                      </a:r>
                      <a:r>
                        <a:rPr lang="en-US" sz="1300" b="0" i="0" u="none" strike="noStrike" cap="none">
                          <a:solidFill>
                            <a:srgbClr val="1E2B36"/>
                          </a:solidFill>
                          <a:latin typeface="Calibri"/>
                          <a:ea typeface="Calibri"/>
                          <a:cs typeface="Calibri"/>
                          <a:sym typeface="Calibri"/>
                        </a:rPr>
                        <a:t>Done</a:t>
                      </a:r>
                      <a:endParaRPr/>
                    </a:p>
                  </a:txBody>
                  <a:tcPr marL="73150" marR="73150" marT="27425" marB="27425" anchor="ctr">
                    <a:solidFill>
                      <a:srgbClr val="FFFFFF"/>
                    </a:solidFill>
                  </a:tcPr>
                </a:tc>
                <a:extLst>
                  <a:ext uri="{0D108BD9-81ED-4DB2-BD59-A6C34878D82A}">
                    <a16:rowId xmlns:a16="http://schemas.microsoft.com/office/drawing/2014/main" val="10001"/>
                  </a:ext>
                </a:extLst>
              </a:tr>
              <a:tr h="566925">
                <a:tc>
                  <a:txBody>
                    <a:bodyPr/>
                    <a:lstStyle/>
                    <a:p>
                      <a:pPr marL="0" marR="0" lvl="0" indent="0" algn="l" rtl="0">
                        <a:spcBef>
                          <a:spcPts val="0"/>
                        </a:spcBef>
                        <a:spcAft>
                          <a:spcPts val="0"/>
                        </a:spcAft>
                        <a:buNone/>
                      </a:pPr>
                      <a:r>
                        <a:rPr lang="en-US" sz="1300" b="1" i="0" u="none" strike="noStrike" cap="none">
                          <a:solidFill>
                            <a:srgbClr val="1E2B36"/>
                          </a:solidFill>
                          <a:latin typeface="Calibri"/>
                          <a:ea typeface="Calibri"/>
                          <a:cs typeface="Calibri"/>
                          <a:sym typeface="Calibri"/>
                        </a:rPr>
                        <a:t>1 · 1:5 scale model</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300" b="0" i="0" u="none" strike="noStrike" cap="none">
                          <a:solidFill>
                            <a:srgbClr val="1E2B36"/>
                          </a:solidFill>
                          <a:latin typeface="Calibri"/>
                          <a:ea typeface="Calibri"/>
                          <a:cs typeface="Calibri"/>
                          <a:sym typeface="Calibri"/>
                        </a:rPr>
                        <a:t>Layout and mechanism: float slides 65 mm up its pole (not the full 2 m); cartridge lifts out</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300" b="0" i="0" u="none" strike="noStrike" cap="none">
                          <a:solidFill>
                            <a:srgbClr val="A85C00"/>
                          </a:solidFill>
                          <a:latin typeface="Quattrocento Sans"/>
                          <a:ea typeface="Quattrocento Sans"/>
                          <a:cs typeface="Quattrocento Sans"/>
                          <a:sym typeface="Quattrocento Sans"/>
                        </a:rPr>
                        <a:t>● </a:t>
                      </a:r>
                      <a:r>
                        <a:rPr lang="en-US" sz="1300" b="0" i="0" u="none" strike="noStrike" cap="none">
                          <a:solidFill>
                            <a:srgbClr val="1E2B36"/>
                          </a:solidFill>
                          <a:latin typeface="Calibri"/>
                          <a:ea typeface="Calibri"/>
                          <a:cs typeface="Calibri"/>
                          <a:sym typeface="Calibri"/>
                        </a:rPr>
                        <a:t>In progress</a:t>
                      </a:r>
                      <a:endParaRPr/>
                    </a:p>
                  </a:txBody>
                  <a:tcPr marL="73150" marR="73150" marT="27425" marB="27425" anchor="ctr">
                    <a:solidFill>
                      <a:srgbClr val="EAF3F8"/>
                    </a:solidFill>
                  </a:tcPr>
                </a:tc>
                <a:extLst>
                  <a:ext uri="{0D108BD9-81ED-4DB2-BD59-A6C34878D82A}">
                    <a16:rowId xmlns:a16="http://schemas.microsoft.com/office/drawing/2014/main" val="10002"/>
                  </a:ext>
                </a:extLst>
              </a:tr>
              <a:tr h="566925">
                <a:tc>
                  <a:txBody>
                    <a:bodyPr/>
                    <a:lstStyle/>
                    <a:p>
                      <a:pPr marL="0" marR="0" lvl="0" indent="0" algn="l" rtl="0">
                        <a:spcBef>
                          <a:spcPts val="0"/>
                        </a:spcBef>
                        <a:spcAft>
                          <a:spcPts val="0"/>
                        </a:spcAft>
                        <a:buNone/>
                      </a:pPr>
                      <a:r>
                        <a:rPr lang="en-US" sz="1300" b="1" i="0" u="none" strike="noStrike" cap="none">
                          <a:solidFill>
                            <a:srgbClr val="1E2B36"/>
                          </a:solidFill>
                          <a:latin typeface="Calibri"/>
                          <a:ea typeface="Calibri"/>
                          <a:cs typeface="Calibri"/>
                          <a:sym typeface="Calibri"/>
                        </a:rPr>
                        <a:t>2 · Electronics bench demo</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300" b="0" i="0" u="none" strike="noStrike" cap="none">
                          <a:solidFill>
                            <a:srgbClr val="1E2B36"/>
                          </a:solidFill>
                          <a:latin typeface="Calibri"/>
                          <a:ea typeface="Calibri"/>
                          <a:cs typeface="Calibri"/>
                          <a:sym typeface="Calibri"/>
                        </a:rPr>
                        <a:t>ESP32 and a real probe: read, decide, act (light, pump, alert)</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300" b="0" i="0" u="none" strike="noStrike" cap="none">
                          <a:solidFill>
                            <a:srgbClr val="005686"/>
                          </a:solidFill>
                          <a:latin typeface="Quattrocento Sans"/>
                          <a:ea typeface="Quattrocento Sans"/>
                          <a:cs typeface="Quattrocento Sans"/>
                          <a:sym typeface="Quattrocento Sans"/>
                        </a:rPr>
                        <a:t>● </a:t>
                      </a:r>
                      <a:r>
                        <a:rPr lang="en-US" sz="1300" b="0" i="0" u="none" strike="noStrike" cap="none">
                          <a:solidFill>
                            <a:srgbClr val="1E2B36"/>
                          </a:solidFill>
                          <a:latin typeface="Calibri"/>
                          <a:ea typeface="Calibri"/>
                          <a:cs typeface="Calibri"/>
                          <a:sym typeface="Calibri"/>
                        </a:rPr>
                        <a:t>Next</a:t>
                      </a:r>
                      <a:endParaRPr/>
                    </a:p>
                  </a:txBody>
                  <a:tcPr marL="73150" marR="73150" marT="27425" marB="27425" anchor="ctr">
                    <a:solidFill>
                      <a:srgbClr val="FFFFFF"/>
                    </a:solidFill>
                  </a:tcPr>
                </a:tc>
                <a:extLst>
                  <a:ext uri="{0D108BD9-81ED-4DB2-BD59-A6C34878D82A}">
                    <a16:rowId xmlns:a16="http://schemas.microsoft.com/office/drawing/2014/main" val="10003"/>
                  </a:ext>
                </a:extLst>
              </a:tr>
              <a:tr h="566925">
                <a:tc>
                  <a:txBody>
                    <a:bodyPr/>
                    <a:lstStyle/>
                    <a:p>
                      <a:pPr marL="0" marR="0" lvl="0" indent="0" algn="l" rtl="0">
                        <a:spcBef>
                          <a:spcPts val="0"/>
                        </a:spcBef>
                        <a:spcAft>
                          <a:spcPts val="0"/>
                        </a:spcAft>
                        <a:buNone/>
                      </a:pPr>
                      <a:r>
                        <a:rPr lang="en-US" sz="1300" b="1" i="0" u="none" strike="noStrike" cap="none">
                          <a:solidFill>
                            <a:srgbClr val="1E2B36"/>
                          </a:solidFill>
                          <a:latin typeface="Calibri"/>
                          <a:ea typeface="Calibri"/>
                          <a:cs typeface="Calibri"/>
                          <a:sym typeface="Calibri"/>
                        </a:rPr>
                        <a:t>3 · Tank test</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300" b="0" i="0" u="none" strike="noStrike" cap="none">
                          <a:solidFill>
                            <a:srgbClr val="1E2B36"/>
                          </a:solidFill>
                          <a:latin typeface="Calibri"/>
                          <a:ea typeface="Calibri"/>
                          <a:cs typeface="Calibri"/>
                          <a:sym typeface="Calibri"/>
                        </a:rPr>
                        <a:t>Full-size float on a 2-inch pole: draft, 2 m travel, roller friction</a:t>
                      </a:r>
                      <a:endParaRPr/>
                    </a:p>
                  </a:txBody>
                  <a:tcPr marL="73150" marR="73150" marT="27425" marB="27425" anchor="ctr">
                    <a:solidFill>
                      <a:srgbClr val="EAF3F8"/>
                    </a:solidFill>
                  </a:tcPr>
                </a:tc>
                <a:tc>
                  <a:txBody>
                    <a:bodyPr/>
                    <a:lstStyle/>
                    <a:p>
                      <a:pPr marL="0" marR="0" lvl="0" indent="0" algn="l" rtl="0">
                        <a:spcBef>
                          <a:spcPts val="0"/>
                        </a:spcBef>
                        <a:spcAft>
                          <a:spcPts val="0"/>
                        </a:spcAft>
                        <a:buNone/>
                      </a:pPr>
                      <a:r>
                        <a:rPr lang="en-US" sz="1300" b="0" i="0" u="none" strike="noStrike" cap="none">
                          <a:solidFill>
                            <a:srgbClr val="5B6B78"/>
                          </a:solidFill>
                          <a:latin typeface="Quattrocento Sans"/>
                          <a:ea typeface="Quattrocento Sans"/>
                          <a:cs typeface="Quattrocento Sans"/>
                          <a:sym typeface="Quattrocento Sans"/>
                        </a:rPr>
                        <a:t>● </a:t>
                      </a:r>
                      <a:r>
                        <a:rPr lang="en-US" sz="1300" b="0" i="0" u="none" strike="noStrike" cap="none">
                          <a:solidFill>
                            <a:srgbClr val="1E2B36"/>
                          </a:solidFill>
                          <a:latin typeface="Calibri"/>
                          <a:ea typeface="Calibri"/>
                          <a:cs typeface="Calibri"/>
                          <a:sym typeface="Calibri"/>
                        </a:rPr>
                        <a:t>Planned</a:t>
                      </a:r>
                      <a:endParaRPr/>
                    </a:p>
                  </a:txBody>
                  <a:tcPr marL="73150" marR="73150" marT="27425" marB="27425" anchor="ctr">
                    <a:solidFill>
                      <a:srgbClr val="EAF3F8"/>
                    </a:solidFill>
                  </a:tcPr>
                </a:tc>
                <a:extLst>
                  <a:ext uri="{0D108BD9-81ED-4DB2-BD59-A6C34878D82A}">
                    <a16:rowId xmlns:a16="http://schemas.microsoft.com/office/drawing/2014/main" val="10004"/>
                  </a:ext>
                </a:extLst>
              </a:tr>
              <a:tr h="566925">
                <a:tc>
                  <a:txBody>
                    <a:bodyPr/>
                    <a:lstStyle/>
                    <a:p>
                      <a:pPr marL="0" marR="0" lvl="0" indent="0" algn="l" rtl="0">
                        <a:spcBef>
                          <a:spcPts val="0"/>
                        </a:spcBef>
                        <a:spcAft>
                          <a:spcPts val="0"/>
                        </a:spcAft>
                        <a:buNone/>
                      </a:pPr>
                      <a:r>
                        <a:rPr lang="en-US" sz="1300" b="1" i="0" u="none" strike="noStrike" cap="none">
                          <a:solidFill>
                            <a:srgbClr val="1E2B36"/>
                          </a:solidFill>
                          <a:latin typeface="Calibri"/>
                          <a:ea typeface="Calibri"/>
                          <a:cs typeface="Calibri"/>
                          <a:sym typeface="Calibri"/>
                        </a:rPr>
                        <a:t>4 · Godavari pilot</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300" b="0" i="0" u="none" strike="noStrike" cap="none">
                          <a:solidFill>
                            <a:srgbClr val="1E2B36"/>
                          </a:solidFill>
                          <a:latin typeface="Calibri"/>
                          <a:ea typeface="Calibri"/>
                          <a:cs typeface="Calibri"/>
                          <a:sym typeface="Calibri"/>
                        </a:rPr>
                        <a:t>30 days at Kopargaon; alerts checked against lab samples</a:t>
                      </a:r>
                      <a:endParaRPr/>
                    </a:p>
                  </a:txBody>
                  <a:tcPr marL="73150" marR="73150" marT="27425" marB="27425" anchor="ctr">
                    <a:solidFill>
                      <a:srgbClr val="FFFFFF"/>
                    </a:solidFill>
                  </a:tcPr>
                </a:tc>
                <a:tc>
                  <a:txBody>
                    <a:bodyPr/>
                    <a:lstStyle/>
                    <a:p>
                      <a:pPr marL="0" marR="0" lvl="0" indent="0" algn="l" rtl="0">
                        <a:spcBef>
                          <a:spcPts val="0"/>
                        </a:spcBef>
                        <a:spcAft>
                          <a:spcPts val="0"/>
                        </a:spcAft>
                        <a:buNone/>
                      </a:pPr>
                      <a:r>
                        <a:rPr lang="en-US" sz="1300" b="0" i="0" u="none" strike="noStrike" cap="none">
                          <a:solidFill>
                            <a:srgbClr val="5B6B78"/>
                          </a:solidFill>
                          <a:latin typeface="Quattrocento Sans"/>
                          <a:ea typeface="Quattrocento Sans"/>
                          <a:cs typeface="Quattrocento Sans"/>
                          <a:sym typeface="Quattrocento Sans"/>
                        </a:rPr>
                        <a:t>● </a:t>
                      </a:r>
                      <a:r>
                        <a:rPr lang="en-US" sz="1300" b="0" i="0" u="none" strike="noStrike" cap="none">
                          <a:solidFill>
                            <a:srgbClr val="1E2B36"/>
                          </a:solidFill>
                          <a:latin typeface="Calibri"/>
                          <a:ea typeface="Calibri"/>
                          <a:cs typeface="Calibri"/>
                          <a:sym typeface="Calibri"/>
                        </a:rPr>
                        <a:t>After permits</a:t>
                      </a:r>
                      <a:endParaRPr/>
                    </a:p>
                  </a:txBody>
                  <a:tcPr marL="73150" marR="73150" marT="27425" marB="27425" anchor="ctr">
                    <a:solidFill>
                      <a:srgbClr val="FFFFFF"/>
                    </a:solidFill>
                  </a:tcPr>
                </a:tc>
                <a:extLst>
                  <a:ext uri="{0D108BD9-81ED-4DB2-BD59-A6C34878D82A}">
                    <a16:rowId xmlns:a16="http://schemas.microsoft.com/office/drawing/2014/main" val="10005"/>
                  </a:ext>
                </a:extLst>
              </a:tr>
            </a:tbl>
          </a:graphicData>
        </a:graphic>
      </p:graphicFrame>
      <p:sp>
        <p:nvSpPr>
          <p:cNvPr id="650" name="Google Shape;650;p22"/>
          <p:cNvSpPr/>
          <p:nvPr/>
        </p:nvSpPr>
        <p:spPr>
          <a:xfrm>
            <a:off x="5532120" y="5074920"/>
            <a:ext cx="6172200" cy="896112"/>
          </a:xfrm>
          <a:prstGeom prst="roundRect">
            <a:avLst>
              <a:gd name="adj" fmla="val 7000"/>
            </a:avLst>
          </a:prstGeom>
          <a:solidFill>
            <a:srgbClr val="EAF3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1" name="Google Shape;651;p22"/>
          <p:cNvSpPr txBox="1"/>
          <p:nvPr/>
        </p:nvSpPr>
        <p:spPr>
          <a:xfrm>
            <a:off x="5715000" y="5120640"/>
            <a:ext cx="5806440" cy="804672"/>
          </a:xfrm>
          <a:prstGeom prst="rect">
            <a:avLst/>
          </a:prstGeom>
          <a:noFill/>
          <a:ln>
            <a:noFill/>
          </a:ln>
        </p:spPr>
        <p:txBody>
          <a:bodyPr spcFirstLastPara="1" wrap="square" lIns="36575" tIns="18275" rIns="36575" bIns="18275" anchor="ctr" anchorCtr="0">
            <a:noAutofit/>
          </a:bodyPr>
          <a:lstStyle/>
          <a:p>
            <a:pPr marL="0" marR="0" lvl="0" indent="0" algn="l" rtl="0">
              <a:spcBef>
                <a:spcPts val="0"/>
              </a:spcBef>
              <a:spcAft>
                <a:spcPts val="0"/>
              </a:spcAft>
              <a:buNone/>
            </a:pPr>
            <a:r>
              <a:rPr lang="en-US" sz="1500" b="1" i="0">
                <a:solidFill>
                  <a:srgbClr val="005686"/>
                </a:solidFill>
                <a:latin typeface="Calibri"/>
                <a:ea typeface="Calibri"/>
                <a:cs typeface="Calibri"/>
                <a:sym typeface="Calibri"/>
              </a:rPr>
              <a:t>A scale model shows form and mechanism.</a:t>
            </a:r>
            <a:endParaRPr/>
          </a:p>
          <a:p>
            <a:pPr marL="0" marR="0" lvl="0" indent="0" algn="l" rtl="0">
              <a:spcBef>
                <a:spcPts val="400"/>
              </a:spcBef>
              <a:spcAft>
                <a:spcPts val="0"/>
              </a:spcAft>
              <a:buNone/>
            </a:pPr>
            <a:r>
              <a:rPr lang="en-US" sz="1500" b="0" i="0">
                <a:solidFill>
                  <a:srgbClr val="1E2B36"/>
                </a:solidFill>
                <a:latin typeface="Calibri"/>
                <a:ea typeface="Calibri"/>
                <a:cs typeface="Calibri"/>
                <a:sym typeface="Calibri"/>
              </a:rPr>
              <a:t>It is not a working prototype: there are no electronics inside.</a:t>
            </a:r>
            <a:endParaRPr/>
          </a:p>
        </p:txBody>
      </p:sp>
      <p:sp>
        <p:nvSpPr>
          <p:cNvPr id="652" name="Google Shape;652;p22">
            <a:hlinkClick r:id="rId4" action="ppaction://hlinksldjump"/>
          </p:cNvPr>
          <p:cNvSpPr/>
          <p:nvPr/>
        </p:nvSpPr>
        <p:spPr>
          <a:xfrm>
            <a:off x="9982200" y="254000"/>
            <a:ext cx="1727200" cy="330200"/>
          </a:xfrm>
          <a:prstGeom prst="roundRect">
            <a:avLst>
              <a:gd name="adj" fmla="val 18000"/>
            </a:avLst>
          </a:prstGeom>
          <a:solidFill>
            <a:srgbClr val="EAF3F8"/>
          </a:solidFill>
          <a:ln>
            <a:noFill/>
          </a:ln>
        </p:spPr>
        <p:txBody>
          <a:bodyPr spcFirstLastPara="1" wrap="square" lIns="76200" tIns="25400" rIns="76200" bIns="25400" anchor="ctr" anchorCtr="0">
            <a:noAutofit/>
          </a:bodyPr>
          <a:lstStyle/>
          <a:p>
            <a:pPr marL="0" marR="0" lvl="0" indent="0" algn="ctr" rtl="0">
              <a:spcBef>
                <a:spcPts val="0"/>
              </a:spcBef>
              <a:spcAft>
                <a:spcPts val="0"/>
              </a:spcAft>
              <a:buNone/>
            </a:pPr>
            <a:r>
              <a:rPr lang="en-US" sz="1000" b="1">
                <a:solidFill>
                  <a:srgbClr val="125A88"/>
                </a:solidFill>
                <a:latin typeface="Calibri"/>
                <a:ea typeface="Calibri"/>
                <a:cs typeface="Calibri"/>
                <a:sym typeface="Calibri"/>
              </a:rPr>
              <a:t>↩  Back to questions</a:t>
            </a:r>
            <a:endParaRPr/>
          </a:p>
        </p:txBody>
      </p:sp>
    </p:spTree>
  </p:cSld>
  <p:clrMapOvr>
    <a:masterClrMapping/>
  </p:clrMapOvr>
</p:sld>
</file>

<file path=ppt/theme/theme1.xml><?xml version="1.0" encoding="utf-8"?>
<a:theme xmlns:a="http://schemas.openxmlformats.org/drawingml/2006/main" name="3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5423</Words>
  <Application>Microsoft Office PowerPoint</Application>
  <PresentationFormat>Widescreen</PresentationFormat>
  <Paragraphs>538</Paragraphs>
  <Slides>21</Slides>
  <Notes>21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21</vt:i4>
      </vt:variant>
    </vt:vector>
  </HeadingPairs>
  <TitlesOfParts>
    <vt:vector size="26" baseType="lpstr">
      <vt:lpstr>Calibri</vt:lpstr>
      <vt:lpstr>Arial</vt:lpstr>
      <vt:lpstr>Quattrocento Sans</vt:lpstr>
      <vt:lpstr>3_Office Theme</vt:lpstr>
      <vt:lpstr>2_Office Theme</vt:lpstr>
      <vt:lpstr>AquaSentinel</vt:lpstr>
      <vt:lpstr>A spill passes in hours; sampling is periodic</vt:lpstr>
      <vt:lpstr>An autonomous river robot: sense, think, act</vt:lpstr>
      <vt:lpstr>The river moves it; the robot decides</vt:lpstr>
      <vt:lpstr>Every requirement checked on the CAD model</vt:lpstr>
      <vt:lpstr>66 parts, one mould, off-the-shelf electronics</vt:lpstr>
      <vt:lpstr>A service for those who must act on spills</vt:lpstr>
      <vt:lpstr>Where we are, and what proves it next</vt:lpstr>
      <vt:lpstr>Prior art: what already exists, and what it does well</vt:lpstr>
      <vt:lpstr>Existing solutions vs AquaSentinel (design)</vt:lpstr>
      <vt:lpstr>Watching the river every 15 minutes</vt:lpstr>
      <vt:lpstr>Questions? Click a topic</vt:lpstr>
      <vt:lpstr>A1 · All 14 design checks pass</vt:lpstr>
      <vt:lpstr>A2 · Pole safety factor: we quote the lowest</vt:lpstr>
      <vt:lpstr>A3 · Power: about 12 days without sun (estimate)</vt:lpstr>
      <vt:lpstr>A4 · Decision engine, and the fixes we found</vt:lpstr>
      <vt:lpstr>A5 · Cost: ₹1.57 lakh a float, ₹1.24 lakh at 100</vt:lpstr>
      <vt:lpstr>A6 · Market: a large problem, sparse monitoring</vt:lpstr>
      <vt:lpstr>A7 · Risks we know, and how we handle them</vt:lpstr>
      <vt:lpstr>A8 · Roadmap to the finale and the pilot</vt:lpstr>
      <vt:lpstr>A9 · Prototype levels: where the 1:5 model fits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Team Sanjivani Hero's Journey</dc:creator>
  <cp:lastModifiedBy>soham kadu</cp:lastModifiedBy>
  <cp:revision>2</cp:revision>
  <dcterms:created xsi:type="dcterms:W3CDTF">2024-04-17T11:40:34Z</dcterms:created>
  <dcterms:modified xsi:type="dcterms:W3CDTF">2026-10-25T03:35:44Z</dcterms:modified>
</cp:coreProperties>
</file>